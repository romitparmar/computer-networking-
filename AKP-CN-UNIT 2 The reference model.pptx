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375" r:id="rId2"/>
    <p:sldId id="420" r:id="rId3"/>
    <p:sldId id="421" r:id="rId4"/>
    <p:sldId id="305" r:id="rId5"/>
    <p:sldId id="386" r:id="rId6"/>
    <p:sldId id="389" r:id="rId7"/>
    <p:sldId id="390" r:id="rId8"/>
    <p:sldId id="391" r:id="rId9"/>
    <p:sldId id="426" r:id="rId10"/>
    <p:sldId id="422" r:id="rId11"/>
    <p:sldId id="388" r:id="rId12"/>
    <p:sldId id="418" r:id="rId13"/>
    <p:sldId id="394" r:id="rId14"/>
    <p:sldId id="393" r:id="rId15"/>
    <p:sldId id="392" r:id="rId16"/>
    <p:sldId id="395" r:id="rId17"/>
    <p:sldId id="396" r:id="rId18"/>
    <p:sldId id="397" r:id="rId19"/>
    <p:sldId id="398" r:id="rId20"/>
    <p:sldId id="419" r:id="rId21"/>
    <p:sldId id="399" r:id="rId22"/>
    <p:sldId id="400" r:id="rId23"/>
    <p:sldId id="401" r:id="rId24"/>
    <p:sldId id="402" r:id="rId25"/>
    <p:sldId id="403" r:id="rId26"/>
    <p:sldId id="404" r:id="rId27"/>
    <p:sldId id="405" r:id="rId28"/>
    <p:sldId id="417" r:id="rId29"/>
    <p:sldId id="427" r:id="rId30"/>
    <p:sldId id="423" r:id="rId31"/>
    <p:sldId id="406" r:id="rId32"/>
    <p:sldId id="407" r:id="rId33"/>
    <p:sldId id="408" r:id="rId34"/>
    <p:sldId id="409" r:id="rId35"/>
    <p:sldId id="410" r:id="rId36"/>
    <p:sldId id="411" r:id="rId37"/>
    <p:sldId id="412" r:id="rId38"/>
    <p:sldId id="413" r:id="rId39"/>
    <p:sldId id="424" r:id="rId40"/>
    <p:sldId id="414" r:id="rId41"/>
    <p:sldId id="415" r:id="rId42"/>
    <p:sldId id="425" r:id="rId43"/>
    <p:sldId id="416" r:id="rId44"/>
    <p:sldId id="278" r:id="rId4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0099FF"/>
    <a:srgbClr val="008000"/>
    <a:srgbClr val="357F48"/>
    <a:srgbClr val="FEFED4"/>
    <a:srgbClr val="FF66FF"/>
    <a:srgbClr val="7FF84E"/>
    <a:srgbClr val="D5D9FD"/>
    <a:srgbClr val="ACF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73" autoAdjust="0"/>
    <p:restoredTop sz="94982" autoAdjust="0"/>
  </p:normalViewPr>
  <p:slideViewPr>
    <p:cSldViewPr>
      <p:cViewPr varScale="1">
        <p:scale>
          <a:sx n="63" d="100"/>
          <a:sy n="63" d="100"/>
        </p:scale>
        <p:origin x="1220" y="52"/>
      </p:cViewPr>
      <p:guideLst>
        <p:guide orient="horz" pos="2160"/>
        <p:guide pos="2880"/>
      </p:guideLst>
    </p:cSldViewPr>
  </p:slideViewPr>
  <p:outlineViewPr>
    <p:cViewPr>
      <p:scale>
        <a:sx n="33" d="100"/>
        <a:sy n="33" d="100"/>
      </p:scale>
      <p:origin x="240" y="23652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23CA00FA-5D31-4DE9-97BB-9A523ECBBE12}" type="datetimeFigureOut">
              <a:rPr lang="en-US" smtClean="0"/>
              <a:pPr/>
              <a:t>3/11/2024</a:t>
            </a:fld>
            <a:endParaRPr lang="en-US" dirty="0"/>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419E2BF3-CB2B-4DFC-803E-27C4F9FF6AB9}"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A5DEEB0-141D-4842-8491-D4D6CF86A14D}" type="datetimeFigureOut">
              <a:rPr lang="en-US" smtClean="0"/>
              <a:pPr/>
              <a:t>3/11/2024</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75666D00-04F4-4955-A468-CAC788ADF1F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OSI full</a:t>
            </a:r>
            <a:r>
              <a:rPr lang="en-US" baseline="0" dirty="0"/>
              <a:t> model from Net, F, Technical, </a:t>
            </a:r>
            <a:r>
              <a:rPr lang="en-US" baseline="0" dirty="0" err="1"/>
              <a:t>Atul</a:t>
            </a:r>
            <a:r>
              <a:rPr lang="en-US" baseline="0" dirty="0"/>
              <a:t> etc.</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6</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Frm</a:t>
            </a:r>
            <a:r>
              <a:rPr lang="en-US" dirty="0"/>
              <a:t>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7</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8</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11</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13</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14</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15</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16</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17</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18</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19</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21</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22</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23</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24</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25</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26</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27</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TC-IP</a:t>
            </a:r>
            <a:r>
              <a:rPr lang="en-US" baseline="0" dirty="0"/>
              <a:t> model </a:t>
            </a:r>
            <a:r>
              <a:rPr lang="en-US" baseline="0" dirty="0" err="1"/>
              <a:t>frm</a:t>
            </a:r>
            <a:r>
              <a:rPr lang="en-US" baseline="0" dirty="0"/>
              <a:t> Net, Technical, </a:t>
            </a:r>
            <a:r>
              <a:rPr lang="en-US" baseline="0" dirty="0" err="1"/>
              <a:t>Atul</a:t>
            </a:r>
            <a:r>
              <a:rPr lang="en-US" baseline="0" dirty="0"/>
              <a:t>, F etc</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Frm</a:t>
            </a:r>
            <a:r>
              <a:rPr lang="en-US" dirty="0"/>
              <a:t>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32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Frm</a:t>
            </a:r>
            <a:r>
              <a:rPr lang="en-US" dirty="0"/>
              <a:t>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33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38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From Net</a:t>
            </a:r>
          </a:p>
        </p:txBody>
      </p:sp>
      <p:sp>
        <p:nvSpPr>
          <p:cNvPr id="4" name="Slide Number Placeholder 3"/>
          <p:cNvSpPr>
            <a:spLocks noGrp="1"/>
          </p:cNvSpPr>
          <p:nvPr>
            <p:ph type="sldNum" sz="quarter" idx="10"/>
          </p:nvPr>
        </p:nvSpPr>
        <p:spPr/>
        <p:txBody>
          <a:bodyPr/>
          <a:lstStyle/>
          <a:p>
            <a:fld id="{75666D00-04F4-4955-A468-CAC788ADF1F7}" type="slidenum">
              <a:rPr lang="en-US" smtClean="0"/>
              <a:pPr/>
              <a:t>40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Frm</a:t>
            </a:r>
            <a:r>
              <a:rPr lang="en-US"/>
              <a:t> net</a:t>
            </a:r>
            <a:endParaRPr lang="en-US" dirty="0"/>
          </a:p>
        </p:txBody>
      </p:sp>
      <p:sp>
        <p:nvSpPr>
          <p:cNvPr id="4" name="Slide Number Placeholder 3"/>
          <p:cNvSpPr>
            <a:spLocks noGrp="1"/>
          </p:cNvSpPr>
          <p:nvPr>
            <p:ph type="sldNum" sz="quarter" idx="10"/>
          </p:nvPr>
        </p:nvSpPr>
        <p:spPr/>
        <p:txBody>
          <a:bodyPr/>
          <a:lstStyle/>
          <a:p>
            <a:fld id="{75666D00-04F4-4955-A468-CAC788ADF1F7}" type="slidenum">
              <a:rPr lang="en-US" smtClean="0"/>
              <a:pPr/>
              <a:t>43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0E54C08-B1DF-4D36-BC5A-9A772D188CA2}" type="datetime1">
              <a:rPr lang="en-US" smtClean="0"/>
              <a:pPr/>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FCB5E8-9A08-4D51-AF6A-1A92EE464FA3}" type="datetime1">
              <a:rPr lang="en-US" smtClean="0"/>
              <a:pPr/>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CADA46-ED6F-4D13-B5DA-77D11DC6257D}" type="datetime1">
              <a:rPr lang="en-US" smtClean="0"/>
              <a:pPr/>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0D98EBE-5BFB-4E0D-A769-551D918BFBF6}" type="datetime1">
              <a:rPr lang="en-US" smtClean="0"/>
              <a:pPr/>
              <a:t>3/11/2024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9F69B3-0E93-4BB1-9FED-FFB5164B78B4}" type="datetime1">
              <a:rPr lang="en-US" smtClean="0"/>
              <a:pPr/>
              <a:t>3/11/2024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800DAE-8687-443C-BC75-53EE46CCD3F6}" type="datetime1">
              <a:rPr lang="en-US" smtClean="0"/>
              <a:pPr/>
              <a:t>3/11/2024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68E5F4-D904-47F7-A078-CDF03115AD04}" type="datetime1">
              <a:rPr lang="en-US" smtClean="0"/>
              <a:pPr/>
              <a:t>3/11/2024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7168F7-A4F2-4835-AB1C-25291C278ACE}" type="datetime1">
              <a:rPr lang="en-US" smtClean="0"/>
              <a:pPr/>
              <a:t>3/11/2024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B36C0E-722A-4258-BCE2-2558341360DB}" type="datetime1">
              <a:rPr lang="en-US" smtClean="0"/>
              <a:pPr/>
              <a:t>3/11/2024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1ADC56-E096-47E9-98B0-6162F8AA79EB}" type="datetime1">
              <a:rPr lang="en-US" smtClean="0"/>
              <a:pPr/>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B2E7B9-325F-405E-8154-7B2AB641BBC3}" type="datetime1">
              <a:rPr lang="en-US" smtClean="0"/>
              <a:pPr/>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FE71B7-12C2-4E37-9607-6FAAB2424452}" type="datetime1">
              <a:rPr lang="en-US" smtClean="0"/>
              <a:pPr/>
              <a:t>3/11/2024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000">
              <a:schemeClr val="accent3">
                <a:lumMod val="75000"/>
                <a:alpha val="69000"/>
              </a:schemeClr>
            </a:gs>
            <a:gs pos="50000">
              <a:srgbClr val="008000">
                <a:alpha val="45000"/>
              </a:srgbClr>
            </a:gs>
            <a:gs pos="100000">
              <a:srgbClr val="FFC000">
                <a:alpha val="79000"/>
              </a:srgb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3600"/>
            <a:ext cx="7772400" cy="1470025"/>
          </a:xfrm>
        </p:spPr>
        <p:txBody>
          <a:bodyPr>
            <a:noAutofit/>
          </a:bodyPr>
          <a:lstStyle/>
          <a:p>
            <a:r>
              <a:rPr lang="en-US" sz="6600" b="1" dirty="0">
                <a:solidFill>
                  <a:srgbClr val="0070C0"/>
                </a:solidFill>
                <a:latin typeface="Baskerville Old Face" pitchFamily="18" charset="0"/>
              </a:rPr>
              <a:t>Unit : 2</a:t>
            </a:r>
            <a:br>
              <a:rPr lang="en-US" sz="6600" dirty="0">
                <a:solidFill>
                  <a:srgbClr val="FF0000"/>
                </a:solidFill>
                <a:latin typeface="Baskerville Old Face" pitchFamily="18" charset="0"/>
              </a:rPr>
            </a:br>
            <a:r>
              <a:rPr lang="en-US" sz="6600" dirty="0">
                <a:latin typeface="Baskerville Old Face" pitchFamily="18" charset="0"/>
              </a:rPr>
              <a:t> </a:t>
            </a:r>
            <a:r>
              <a:rPr lang="en-US" sz="4800" b="1" dirty="0">
                <a:solidFill>
                  <a:schemeClr val="tx2">
                    <a:lumMod val="75000"/>
                  </a:schemeClr>
                </a:solidFill>
                <a:latin typeface="Baskerville Old Face" pitchFamily="18" charset="0"/>
              </a:rPr>
              <a:t>The Reference Model for Network Communication</a:t>
            </a:r>
            <a:endParaRPr lang="en-US" sz="6600" b="1" dirty="0">
              <a:solidFill>
                <a:schemeClr val="tx2">
                  <a:lumMod val="75000"/>
                </a:schemeClr>
              </a:solidFill>
              <a:latin typeface="Baskerville Old Face" pitchFamily="18" charset="0"/>
            </a:endParaRPr>
          </a:p>
        </p:txBody>
      </p:sp>
      <p:sp>
        <p:nvSpPr>
          <p:cNvPr id="3" name="Subtitle 2"/>
          <p:cNvSpPr>
            <a:spLocks noGrp="1"/>
          </p:cNvSpPr>
          <p:nvPr>
            <p:ph type="subTitle" idx="1"/>
          </p:nvPr>
        </p:nvSpPr>
        <p:spPr>
          <a:xfrm>
            <a:off x="762000" y="4114800"/>
            <a:ext cx="7315200" cy="2133600"/>
          </a:xfrm>
        </p:spPr>
        <p:txBody>
          <a:bodyPr>
            <a:normAutofit fontScale="85000" lnSpcReduction="20000"/>
          </a:bodyPr>
          <a:lstStyle/>
          <a:p>
            <a:endParaRPr lang="en-US" dirty="0"/>
          </a:p>
          <a:p>
            <a:r>
              <a:rPr lang="en-US" sz="4000" dirty="0">
                <a:solidFill>
                  <a:schemeClr val="accent1">
                    <a:lumMod val="75000"/>
                  </a:schemeClr>
                </a:solidFill>
                <a:latin typeface="Brush Script MT" pitchFamily="66" charset="0"/>
                <a:cs typeface="David Transparent" pitchFamily="2" charset="-79"/>
              </a:rPr>
              <a:t>Prepared By</a:t>
            </a:r>
            <a:r>
              <a:rPr lang="en-US" sz="4000" dirty="0">
                <a:solidFill>
                  <a:schemeClr val="tx1"/>
                </a:solidFill>
                <a:latin typeface="Brush Script MT" pitchFamily="66" charset="0"/>
                <a:cs typeface="David Transparent" pitchFamily="2" charset="-79"/>
              </a:rPr>
              <a:t>:</a:t>
            </a:r>
            <a:endParaRPr lang="en-US" b="1" dirty="0">
              <a:solidFill>
                <a:srgbClr val="C00000"/>
              </a:solidFill>
              <a:latin typeface="Copperplate Gothic Light" pitchFamily="34" charset="0"/>
              <a:cs typeface="David Transparent" pitchFamily="2" charset="-79"/>
            </a:endParaRPr>
          </a:p>
          <a:p>
            <a:r>
              <a:rPr lang="en-US" b="1" dirty="0">
                <a:solidFill>
                  <a:srgbClr val="C00000"/>
                </a:solidFill>
                <a:latin typeface="Copperplate Gothic Light" pitchFamily="34" charset="0"/>
                <a:cs typeface="David Transparent" pitchFamily="2" charset="-79"/>
              </a:rPr>
              <a:t>		       Mr. A. K. </a:t>
            </a:r>
            <a:r>
              <a:rPr lang="en-US" b="1" dirty="0" err="1">
                <a:solidFill>
                  <a:srgbClr val="C00000"/>
                </a:solidFill>
                <a:latin typeface="Copperplate Gothic Light" pitchFamily="34" charset="0"/>
                <a:cs typeface="David Transparent" pitchFamily="2" charset="-79"/>
              </a:rPr>
              <a:t>Panchasara</a:t>
            </a:r>
            <a:endParaRPr lang="en-US" b="1" dirty="0">
              <a:solidFill>
                <a:srgbClr val="C00000"/>
              </a:solidFill>
              <a:latin typeface="Copperplate Gothic Light" pitchFamily="34" charset="0"/>
              <a:cs typeface="David Transparent" pitchFamily="2" charset="-79"/>
            </a:endParaRPr>
          </a:p>
          <a:p>
            <a:endParaRPr lang="en-US" sz="2400" dirty="0">
              <a:solidFill>
                <a:schemeClr val="tx2">
                  <a:lumMod val="75000"/>
                </a:schemeClr>
              </a:solidFill>
              <a:latin typeface="Calisto MT" pitchFamily="18" charset="0"/>
              <a:cs typeface="David Transparent" pitchFamily="2" charset="-79"/>
            </a:endParaRPr>
          </a:p>
          <a:p>
            <a:r>
              <a:rPr lang="en-US" sz="2400" dirty="0">
                <a:solidFill>
                  <a:schemeClr val="tx2">
                    <a:lumMod val="75000"/>
                  </a:schemeClr>
                </a:solidFill>
                <a:latin typeface="Calisto MT" pitchFamily="18" charset="0"/>
                <a:cs typeface="David Transparent" pitchFamily="2" charset="-79"/>
              </a:rPr>
              <a:t>Computer Engineering Department, AVPTI, RAJKOT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withEffect">
                                  <p:stCondLst>
                                    <p:cond delay="0"/>
                                  </p:stCondLst>
                                  <p:iterate type="lt">
                                    <p:tmPct val="50000"/>
                                  </p:iterate>
                                  <p:childTnLst>
                                    <p:set>
                                      <p:cBhvr>
                                        <p:cTn id="6" dur="1" fill="hold">
                                          <p:stCondLst>
                                            <p:cond delay="0"/>
                                          </p:stCondLst>
                                        </p:cTn>
                                        <p:tgtEl>
                                          <p:spTgt spid="3">
                                            <p:txEl>
                                              <p:pRg st="1" end="1"/>
                                            </p:txEl>
                                          </p:spTgt>
                                        </p:tgtEl>
                                        <p:attrNameLst>
                                          <p:attrName>style.visibility</p:attrName>
                                        </p:attrNameLst>
                                      </p:cBhvr>
                                      <p:to>
                                        <p:strVal val="visible"/>
                                      </p:to>
                                    </p:set>
                                    <p:anim calcmode="discrete" valueType="clr">
                                      <p:cBhvr override="childStyle">
                                        <p:cTn id="7" dur="80"/>
                                        <p:tgtEl>
                                          <p:spTgt spid="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1" end="1"/>
                                            </p:txEl>
                                          </p:spTgt>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3">
                                            <p:txEl>
                                              <p:pRg st="2" end="2"/>
                                            </p:txEl>
                                          </p:spTgt>
                                        </p:tgtEl>
                                        <p:attrNameLst>
                                          <p:attrName>style.visibility</p:attrName>
                                        </p:attrNameLst>
                                      </p:cBhvr>
                                      <p:to>
                                        <p:strVal val="visible"/>
                                      </p:to>
                                    </p:set>
                                    <p:anim calcmode="discrete" valueType="clr">
                                      <p:cBhvr override="childStyle">
                                        <p:cTn id="12" dur="80"/>
                                        <p:tgtEl>
                                          <p:spTgt spid="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3">
                                            <p:txEl>
                                              <p:pRg st="2" end="2"/>
                                            </p:txEl>
                                          </p:spTgt>
                                        </p:tgtEl>
                                        <p:attrNameLst>
                                          <p:attrName>fillcolor</p:attrName>
                                        </p:attrNameLst>
                                      </p:cBhvr>
                                      <p:tavLst>
                                        <p:tav tm="0">
                                          <p:val>
                                            <p:clrVal>
                                              <a:schemeClr val="accent2"/>
                                            </p:clrVal>
                                          </p:val>
                                        </p:tav>
                                        <p:tav tm="50000">
                                          <p:val>
                                            <p:clrVal>
                                              <a:schemeClr val="hlink"/>
                                            </p:clrVal>
                                          </p:val>
                                        </p:tav>
                                      </p:tavLst>
                                    </p:anim>
                                    <p:set>
                                      <p:cBhvr>
                                        <p:cTn id="14" dur="80"/>
                                        <p:tgtEl>
                                          <p:spTgt spid="3">
                                            <p:txEl>
                                              <p:pRg st="2" end="2"/>
                                            </p:txEl>
                                          </p:spTgt>
                                        </p:tgtEl>
                                        <p:attrNameLst>
                                          <p:attrName>fill.type</p:attrName>
                                        </p:attrNameLst>
                                      </p:cBhvr>
                                      <p:to>
                                        <p:strVal val="solid"/>
                                      </p:to>
                                    </p:set>
                                  </p:childTnLst>
                                </p:cTn>
                              </p:par>
                              <p:par>
                                <p:cTn id="15" presetID="27" presetClass="entr" presetSubtype="0" fill="hold" grpId="0" nodeType="withEffect">
                                  <p:stCondLst>
                                    <p:cond delay="0"/>
                                  </p:stCondLst>
                                  <p:iterate type="lt">
                                    <p:tmPct val="50000"/>
                                  </p:iterate>
                                  <p:childTnLst>
                                    <p:set>
                                      <p:cBhvr>
                                        <p:cTn id="16" dur="1" fill="hold">
                                          <p:stCondLst>
                                            <p:cond delay="0"/>
                                          </p:stCondLst>
                                        </p:cTn>
                                        <p:tgtEl>
                                          <p:spTgt spid="3">
                                            <p:txEl>
                                              <p:pRg st="4" end="4"/>
                                            </p:txEl>
                                          </p:spTgt>
                                        </p:tgtEl>
                                        <p:attrNameLst>
                                          <p:attrName>style.visibility</p:attrName>
                                        </p:attrNameLst>
                                      </p:cBhvr>
                                      <p:to>
                                        <p:strVal val="visible"/>
                                      </p:to>
                                    </p:set>
                                    <p:anim calcmode="discrete" valueType="clr">
                                      <p:cBhvr override="childStyle">
                                        <p:cTn id="17" dur="80"/>
                                        <p:tgtEl>
                                          <p:spTgt spid="3">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3">
                                            <p:txEl>
                                              <p:pRg st="4" end="4"/>
                                            </p:txEl>
                                          </p:spTgt>
                                        </p:tgtEl>
                                        <p:attrNameLst>
                                          <p:attrName>fillcolor</p:attrName>
                                        </p:attrNameLst>
                                      </p:cBhvr>
                                      <p:tavLst>
                                        <p:tav tm="0">
                                          <p:val>
                                            <p:clrVal>
                                              <a:schemeClr val="accent2"/>
                                            </p:clrVal>
                                          </p:val>
                                        </p:tav>
                                        <p:tav tm="50000">
                                          <p:val>
                                            <p:clrVal>
                                              <a:schemeClr val="hlink"/>
                                            </p:clrVal>
                                          </p:val>
                                        </p:tav>
                                      </p:tavLst>
                                    </p:anim>
                                    <p:set>
                                      <p:cBhvr>
                                        <p:cTn id="19" dur="80"/>
                                        <p:tgtEl>
                                          <p:spTgt spid="3">
                                            <p:txEl>
                                              <p:pRg st="4" end="4"/>
                                            </p:txEl>
                                          </p:spTgt>
                                        </p:tgtEl>
                                        <p:attrNameLst>
                                          <p:attrName>fill.type</p:attrName>
                                        </p:attrNameLst>
                                      </p:cBhvr>
                                      <p:to>
                                        <p:strVal val="solid"/>
                                      </p:to>
                                    </p:set>
                                  </p:childTnLst>
                                </p:cTn>
                              </p:par>
                              <p:par>
                                <p:cTn id="20" presetID="2" presetClass="entr" presetSubtype="4" fill="hold" grpId="0" nodeType="withEffect">
                                  <p:stCondLst>
                                    <p:cond delay="0"/>
                                  </p:stCondLst>
                                  <p:iterate type="wd">
                                    <p:tmPct val="20000"/>
                                  </p:iterate>
                                  <p:childTnLst>
                                    <p:set>
                                      <p:cBhvr>
                                        <p:cTn id="21" dur="1" fill="hold">
                                          <p:stCondLst>
                                            <p:cond delay="0"/>
                                          </p:stCondLst>
                                        </p:cTn>
                                        <p:tgtEl>
                                          <p:spTgt spid="2"/>
                                        </p:tgtEl>
                                        <p:attrNameLst>
                                          <p:attrName>style.visibility</p:attrName>
                                        </p:attrNameLst>
                                      </p:cBhvr>
                                      <p:to>
                                        <p:strVal val="visible"/>
                                      </p:to>
                                    </p:set>
                                    <p:anim calcmode="lin" valueType="num">
                                      <p:cBhvr additive="base">
                                        <p:cTn id="22" dur="2000" fill="hold"/>
                                        <p:tgtEl>
                                          <p:spTgt spid="2"/>
                                        </p:tgtEl>
                                        <p:attrNameLst>
                                          <p:attrName>ppt_x</p:attrName>
                                        </p:attrNameLst>
                                      </p:cBhvr>
                                      <p:tavLst>
                                        <p:tav tm="0">
                                          <p:val>
                                            <p:strVal val="#ppt_x"/>
                                          </p:val>
                                        </p:tav>
                                        <p:tav tm="100000">
                                          <p:val>
                                            <p:strVal val="#ppt_x"/>
                                          </p:val>
                                        </p:tav>
                                      </p:tavLst>
                                    </p:anim>
                                    <p:anim calcmode="lin" valueType="num">
                                      <p:cBhvr additive="base">
                                        <p:cTn id="23" dur="2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Outcome</a:t>
            </a:r>
          </a:p>
        </p:txBody>
      </p:sp>
      <p:sp>
        <p:nvSpPr>
          <p:cNvPr id="3" name="Content Placeholder 2"/>
          <p:cNvSpPr>
            <a:spLocks noGrp="1"/>
          </p:cNvSpPr>
          <p:nvPr>
            <p:ph idx="1"/>
          </p:nvPr>
        </p:nvSpPr>
        <p:spPr/>
        <p:txBody>
          <a:bodyPr>
            <a:normAutofit/>
          </a:bodyPr>
          <a:lstStyle/>
          <a:p>
            <a:pPr marL="0" indent="0">
              <a:buNone/>
            </a:pPr>
            <a:r>
              <a:rPr lang="en-US" sz="2800" dirty="0"/>
              <a:t>After completion of this unit, students will be able to…</a:t>
            </a:r>
          </a:p>
          <a:p>
            <a:pPr marL="0" indent="0" algn="just">
              <a:buNone/>
            </a:pPr>
            <a:r>
              <a:rPr lang="en-US" sz="4400" dirty="0">
                <a:solidFill>
                  <a:srgbClr val="FF0000"/>
                </a:solidFill>
                <a:effectLst/>
                <a:latin typeface="Times New Roman" panose="02020603050405020304" pitchFamily="18" charset="0"/>
                <a:ea typeface="Calibri" panose="020F0502020204030204" pitchFamily="34" charset="0"/>
              </a:rPr>
              <a:t>Differentiate OSI and TCP/IP  </a:t>
            </a:r>
            <a:r>
              <a:rPr lang="en-US" sz="4400" dirty="0">
                <a:solidFill>
                  <a:srgbClr val="FF0000"/>
                </a:solidFill>
                <a:latin typeface="Times New Roman" panose="02020603050405020304" pitchFamily="18" charset="0"/>
                <a:ea typeface="Calibri" panose="020F0502020204030204" pitchFamily="34" charset="0"/>
              </a:rPr>
              <a:t>M</a:t>
            </a:r>
            <a:r>
              <a:rPr lang="en-US" sz="4400" dirty="0">
                <a:solidFill>
                  <a:srgbClr val="FF0000"/>
                </a:solidFill>
                <a:effectLst/>
                <a:latin typeface="Times New Roman" panose="02020603050405020304" pitchFamily="18" charset="0"/>
                <a:ea typeface="Calibri" panose="020F0502020204030204" pitchFamily="34" charset="0"/>
              </a:rPr>
              <a:t>odels</a:t>
            </a:r>
          </a:p>
          <a:p>
            <a:pPr marL="0" indent="0" algn="just">
              <a:buNone/>
            </a:pPr>
            <a:endParaRPr lang="en-US" sz="6600" i="1" dirty="0">
              <a:solidFill>
                <a:srgbClr val="FF00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a:t>
            </a:r>
          </a:p>
        </p:txBody>
      </p:sp>
      <p:sp>
        <p:nvSpPr>
          <p:cNvPr id="3" name="Content Placeholder 2"/>
          <p:cNvSpPr>
            <a:spLocks noGrp="1"/>
          </p:cNvSpPr>
          <p:nvPr>
            <p:ph idx="1"/>
          </p:nvPr>
        </p:nvSpPr>
        <p:spPr/>
        <p:txBody>
          <a:bodyPr>
            <a:normAutofit/>
          </a:bodyPr>
          <a:lstStyle/>
          <a:p>
            <a:r>
              <a:rPr lang="en-US" sz="4000" dirty="0"/>
              <a:t>After completion of this session, students will be able </a:t>
            </a:r>
            <a:r>
              <a:rPr lang="en-US" sz="4000" i="1" dirty="0">
                <a:solidFill>
                  <a:srgbClr val="FF0000"/>
                </a:solidFill>
              </a:rPr>
              <a:t>to list all layers of OSI and TCP/IP model.</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534400" cy="5867400"/>
          </a:xfrm>
        </p:spPr>
        <p:txBody>
          <a:bodyPr>
            <a:normAutofit/>
          </a:bodyPr>
          <a:lstStyle/>
          <a:p>
            <a:pPr lvl="0" algn="just">
              <a:spcBef>
                <a:spcPts val="400"/>
              </a:spcBef>
              <a:spcAft>
                <a:spcPts val="200"/>
              </a:spcAft>
            </a:pPr>
            <a:r>
              <a:rPr lang="en-US" sz="2400" dirty="0"/>
              <a:t>OSI is an </a:t>
            </a:r>
            <a:r>
              <a:rPr lang="en-US" sz="2400" i="1" dirty="0">
                <a:solidFill>
                  <a:srgbClr val="0070C0"/>
                </a:solidFill>
              </a:rPr>
              <a:t>Open System Interconnection </a:t>
            </a:r>
            <a:r>
              <a:rPr lang="en-US" sz="2400" dirty="0"/>
              <a:t>model. The OSI model is developed by ISO.</a:t>
            </a:r>
          </a:p>
          <a:p>
            <a:pPr algn="just"/>
            <a:r>
              <a:rPr lang="en-US" sz="2400" dirty="0"/>
              <a:t>An open system is a set of protocols that allows any two different systems to communicate regardless of their underlying architecture.</a:t>
            </a:r>
          </a:p>
          <a:p>
            <a:pPr algn="just"/>
            <a:r>
              <a:rPr lang="en-US" sz="2400" dirty="0"/>
              <a:t>The purpose of the OSI model is to show how to facilitate communication between different systems without requiring changes to the logic of the underlying hardware and software.</a:t>
            </a:r>
          </a:p>
          <a:p>
            <a:pPr algn="just"/>
            <a:r>
              <a:rPr lang="en-US" sz="2400" dirty="0"/>
              <a:t>The OSI model is </a:t>
            </a:r>
            <a:r>
              <a:rPr lang="en-US" sz="2400" dirty="0">
                <a:solidFill>
                  <a:srgbClr val="FF0000"/>
                </a:solidFill>
              </a:rPr>
              <a:t>NOT</a:t>
            </a:r>
            <a:r>
              <a:rPr lang="en-US" sz="2400" dirty="0"/>
              <a:t> a protocol.</a:t>
            </a:r>
          </a:p>
          <a:p>
            <a:pPr algn="just"/>
            <a:r>
              <a:rPr lang="en-US" sz="2400" dirty="0"/>
              <a:t>It is a model for understanding and designing a network architecture that is flexible, robust, and interoperable.</a:t>
            </a:r>
          </a:p>
          <a:p>
            <a:pPr algn="just"/>
            <a:r>
              <a:rPr lang="en-US" sz="2400" dirty="0">
                <a:sym typeface="Wingdings" pitchFamily="2" charset="2"/>
              </a:rPr>
              <a:t>The OSI model has seven different separated layers each of which d</a:t>
            </a:r>
            <a:r>
              <a:rPr lang="en-US" sz="2400" dirty="0"/>
              <a:t>efines a part of the process of moving information across a network.</a:t>
            </a:r>
            <a:endParaRPr lang="en-US" sz="2400" dirty="0">
              <a:sym typeface="Wingdings" pitchFamily="2"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dirty="0"/>
          </a:p>
        </p:txBody>
      </p:sp>
      <p:sp>
        <p:nvSpPr>
          <p:cNvPr id="6" name="Rounded Rectangle 5"/>
          <p:cNvSpPr/>
          <p:nvPr/>
        </p:nvSpPr>
        <p:spPr>
          <a:xfrm>
            <a:off x="533400" y="152400"/>
            <a:ext cx="8153400" cy="533400"/>
          </a:xfrm>
          <a:prstGeom prst="roundRect">
            <a:avLst/>
          </a:prstGeom>
          <a:gradFill flip="none" rotWithShape="1">
            <a:gsLst>
              <a:gs pos="19000">
                <a:schemeClr val="accent5">
                  <a:lumMod val="40000"/>
                  <a:lumOff val="60000"/>
                </a:schemeClr>
              </a:gs>
              <a:gs pos="73000">
                <a:srgbClr val="7FF84E"/>
              </a:gs>
              <a:gs pos="45000">
                <a:srgbClr val="FF66FF"/>
              </a:gs>
              <a:gs pos="21001">
                <a:srgbClr val="83A7C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rgbClr val="C00000"/>
                </a:solidFill>
              </a:rPr>
              <a:t>2.1 OSI Model</a:t>
            </a:r>
            <a:endParaRPr lang="en-US" sz="2800" b="1" dirty="0">
              <a:solidFill>
                <a:srgbClr val="C00000"/>
              </a:solidFill>
            </a:endParaRP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pPr>
            <a:r>
              <a:rPr lang="en-US" sz="2400" dirty="0"/>
              <a:t>Each layer uses the services provided by below layer and provide an interface to the upper layer. </a:t>
            </a:r>
          </a:p>
          <a:p>
            <a:pPr lvl="0" algn="just">
              <a:spcBef>
                <a:spcPts val="400"/>
              </a:spcBef>
              <a:spcAft>
                <a:spcPts val="200"/>
              </a:spcAft>
            </a:pPr>
            <a:r>
              <a:rPr lang="en-US" sz="2400" b="1" dirty="0"/>
              <a:t>Physical, Data link, Network, Transport, Session, Presentation and Application </a:t>
            </a:r>
            <a:r>
              <a:rPr lang="en-US" sz="2400" dirty="0"/>
              <a:t>are the main seven layers of OSI model.</a:t>
            </a:r>
          </a:p>
          <a:p>
            <a:pPr lvl="0" algn="just">
              <a:spcBef>
                <a:spcPts val="400"/>
              </a:spcBef>
              <a:spcAft>
                <a:spcPts val="200"/>
              </a:spcAft>
            </a:pPr>
            <a:r>
              <a:rPr lang="en-US" sz="2400" dirty="0"/>
              <a:t>The seven layers can be thought of as belonging to three subgroups.</a:t>
            </a:r>
          </a:p>
          <a:p>
            <a:pPr algn="just"/>
            <a:r>
              <a:rPr lang="en-US" sz="2400" dirty="0"/>
              <a:t>Layers I, 2, and 3-physical, data link, and network - are the </a:t>
            </a:r>
            <a:r>
              <a:rPr lang="en-US" sz="2400" b="1" i="1" dirty="0"/>
              <a:t>network support layers.</a:t>
            </a:r>
            <a:endParaRPr lang="en-US" sz="2400" dirty="0"/>
          </a:p>
          <a:p>
            <a:pPr algn="just"/>
            <a:r>
              <a:rPr lang="en-US" sz="2400" dirty="0"/>
              <a:t>Layers 5, 6, and 7-session, presentation, and application – are the </a:t>
            </a:r>
            <a:r>
              <a:rPr lang="en-US" sz="2400" b="1" i="1" dirty="0"/>
              <a:t>user support layers.</a:t>
            </a:r>
          </a:p>
          <a:p>
            <a:pPr algn="just"/>
            <a:r>
              <a:rPr lang="en-US" sz="2400" dirty="0"/>
              <a:t>Transport layer links the both of above network support and user support layers.</a:t>
            </a:r>
          </a:p>
          <a:p>
            <a:pPr algn="just"/>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TextBox 5"/>
          <p:cNvSpPr txBox="1"/>
          <p:nvPr/>
        </p:nvSpPr>
        <p:spPr>
          <a:xfrm>
            <a:off x="2971800" y="6229290"/>
            <a:ext cx="3124200" cy="400110"/>
          </a:xfrm>
          <a:prstGeom prst="rect">
            <a:avLst/>
          </a:prstGeom>
          <a:noFill/>
          <a:ln>
            <a:solidFill>
              <a:schemeClr val="accent1"/>
            </a:solidFill>
          </a:ln>
        </p:spPr>
        <p:txBody>
          <a:bodyPr wrap="square" rtlCol="0">
            <a:spAutoFit/>
          </a:bodyPr>
          <a:lstStyle/>
          <a:p>
            <a:pPr algn="ctr"/>
            <a:r>
              <a:rPr lang="en-US" sz="2000" b="1" dirty="0"/>
              <a:t>OSI reference model</a:t>
            </a:r>
          </a:p>
        </p:txBody>
      </p:sp>
      <p:pic>
        <p:nvPicPr>
          <p:cNvPr id="134147" name="Picture 3" descr="D:\my CUSP\CN\OSI3.png"/>
          <p:cNvPicPr>
            <a:picLocks noChangeAspect="1" noChangeArrowheads="1"/>
          </p:cNvPicPr>
          <p:nvPr/>
        </p:nvPicPr>
        <p:blipFill>
          <a:blip r:embed="rId3"/>
          <a:srcRect/>
          <a:stretch>
            <a:fillRect/>
          </a:stretch>
        </p:blipFill>
        <p:spPr bwMode="auto">
          <a:xfrm>
            <a:off x="2063473" y="387292"/>
            <a:ext cx="5017056" cy="5327708"/>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34146" name="Picture 2" descr="D:\my CUSP\CN\OSI 1.jpg"/>
          <p:cNvPicPr>
            <a:picLocks noChangeAspect="1" noChangeArrowheads="1"/>
          </p:cNvPicPr>
          <p:nvPr/>
        </p:nvPicPr>
        <p:blipFill>
          <a:blip r:embed="rId3"/>
          <a:srcRect t="12329"/>
          <a:stretch>
            <a:fillRect/>
          </a:stretch>
        </p:blipFill>
        <p:spPr bwMode="auto">
          <a:xfrm>
            <a:off x="609600" y="533400"/>
            <a:ext cx="7924800" cy="5105400"/>
          </a:xfrm>
          <a:prstGeom prst="rect">
            <a:avLst/>
          </a:prstGeom>
          <a:noFill/>
        </p:spPr>
      </p:pic>
      <p:sp>
        <p:nvSpPr>
          <p:cNvPr id="6" name="TextBox 5"/>
          <p:cNvSpPr txBox="1"/>
          <p:nvPr/>
        </p:nvSpPr>
        <p:spPr>
          <a:xfrm>
            <a:off x="1219200" y="6000690"/>
            <a:ext cx="7315200" cy="400110"/>
          </a:xfrm>
          <a:prstGeom prst="rect">
            <a:avLst/>
          </a:prstGeom>
          <a:noFill/>
          <a:ln>
            <a:solidFill>
              <a:schemeClr val="accent1"/>
            </a:solidFill>
          </a:ln>
        </p:spPr>
        <p:txBody>
          <a:bodyPr wrap="square" rtlCol="0">
            <a:spAutoFit/>
          </a:bodyPr>
          <a:lstStyle/>
          <a:p>
            <a:pPr algn="ctr"/>
            <a:r>
              <a:rPr lang="en-US" sz="2000" b="1" dirty="0"/>
              <a:t>OSI reference model with host to host communication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TextBox 5"/>
          <p:cNvSpPr txBox="1"/>
          <p:nvPr/>
        </p:nvSpPr>
        <p:spPr>
          <a:xfrm>
            <a:off x="2133600" y="6076890"/>
            <a:ext cx="4800600" cy="400110"/>
          </a:xfrm>
          <a:prstGeom prst="rect">
            <a:avLst/>
          </a:prstGeom>
          <a:noFill/>
          <a:ln>
            <a:solidFill>
              <a:schemeClr val="accent1"/>
            </a:solidFill>
          </a:ln>
        </p:spPr>
        <p:txBody>
          <a:bodyPr wrap="square" rtlCol="0">
            <a:spAutoFit/>
          </a:bodyPr>
          <a:lstStyle/>
          <a:p>
            <a:pPr algn="ctr"/>
            <a:r>
              <a:rPr lang="en-US" sz="2000" b="1" dirty="0"/>
              <a:t>OSI reference model</a:t>
            </a:r>
          </a:p>
        </p:txBody>
      </p:sp>
      <p:pic>
        <p:nvPicPr>
          <p:cNvPr id="135170" name="Picture 2"/>
          <p:cNvPicPr>
            <a:picLocks noChangeAspect="1" noChangeArrowheads="1"/>
          </p:cNvPicPr>
          <p:nvPr/>
        </p:nvPicPr>
        <p:blipFill>
          <a:blip r:embed="rId3"/>
          <a:srcRect/>
          <a:stretch>
            <a:fillRect/>
          </a:stretch>
        </p:blipFill>
        <p:spPr bwMode="auto">
          <a:xfrm>
            <a:off x="1143000" y="304800"/>
            <a:ext cx="6839857" cy="5486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38F15B-48D4-4505-A0F6-F0642D1FB100}"/>
              </a:ext>
            </a:extLst>
          </p:cNvPr>
          <p:cNvSpPr>
            <a:spLocks noGrp="1"/>
          </p:cNvSpPr>
          <p:nvPr>
            <p:ph type="sldNum" sz="quarter" idx="12"/>
          </p:nvPr>
        </p:nvSpPr>
        <p:spPr/>
        <p:txBody>
          <a:bodyPr/>
          <a:lstStyle/>
          <a:p>
            <a:fld id="{B6F15528-21DE-4FAA-801E-634DDDAF4B2B}" type="slidenum">
              <a:rPr lang="en-US" smtClean="0"/>
              <a:pPr/>
              <a:t>9</a:t>
            </a:fld>
            <a:endParaRPr lang="en-US" dirty="0"/>
          </a:p>
        </p:txBody>
      </p:sp>
      <p:pic>
        <p:nvPicPr>
          <p:cNvPr id="5" name="Picture 6">
            <a:extLst>
              <a:ext uri="{FF2B5EF4-FFF2-40B4-BE49-F238E27FC236}">
                <a16:creationId xmlns:a16="http://schemas.microsoft.com/office/drawing/2014/main" id="{485952C4-3A33-4225-809C-0B747C77BAA8}"/>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990600"/>
            <a:ext cx="76200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194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a:t>
            </a:r>
          </a:p>
        </p:txBody>
      </p:sp>
      <p:sp>
        <p:nvSpPr>
          <p:cNvPr id="3" name="Content Placeholder 2"/>
          <p:cNvSpPr>
            <a:spLocks noGrp="1"/>
          </p:cNvSpPr>
          <p:nvPr>
            <p:ph idx="1"/>
          </p:nvPr>
        </p:nvSpPr>
        <p:spPr/>
        <p:txBody>
          <a:bodyPr/>
          <a:lstStyle/>
          <a:p>
            <a:r>
              <a:rPr lang="en-US" dirty="0"/>
              <a:t>After completion of this session, students will be able to </a:t>
            </a:r>
            <a:r>
              <a:rPr lang="en-US" i="1" dirty="0">
                <a:solidFill>
                  <a:srgbClr val="FF0000"/>
                </a:solidFill>
              </a:rPr>
              <a:t>Describe functions of each layer of OSI reference model.</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None/>
            </a:pPr>
            <a:r>
              <a:rPr lang="en-US" sz="2400" b="1" dirty="0"/>
              <a:t>Following are the functions of each layer</a:t>
            </a:r>
          </a:p>
          <a:p>
            <a:pPr lvl="0" algn="just">
              <a:spcBef>
                <a:spcPts val="400"/>
              </a:spcBef>
              <a:spcAft>
                <a:spcPts val="200"/>
              </a:spcAft>
              <a:buFont typeface="Wingdings" pitchFamily="2" charset="2"/>
              <a:buChar char="v"/>
            </a:pPr>
            <a:r>
              <a:rPr lang="en-US" sz="2800" b="1" dirty="0">
                <a:solidFill>
                  <a:srgbClr val="FF0000"/>
                </a:solidFill>
              </a:rPr>
              <a:t>Physical Layer</a:t>
            </a:r>
            <a:endParaRPr lang="en-US" sz="2400" b="1" dirty="0">
              <a:solidFill>
                <a:srgbClr val="FF0000"/>
              </a:solidFill>
            </a:endParaRPr>
          </a:p>
          <a:p>
            <a:pPr lvl="0" algn="just">
              <a:spcBef>
                <a:spcPts val="400"/>
              </a:spcBef>
              <a:spcAft>
                <a:spcPts val="200"/>
              </a:spcAft>
            </a:pPr>
            <a:r>
              <a:rPr lang="en-US" sz="2400" b="1" dirty="0">
                <a:solidFill>
                  <a:srgbClr val="CC00CC"/>
                </a:solidFill>
              </a:rPr>
              <a:t>The layer is responsible for movement of individual bits from one hop (node) to next hop. </a:t>
            </a:r>
          </a:p>
          <a:p>
            <a:pPr lvl="0" algn="just">
              <a:spcBef>
                <a:spcPts val="400"/>
              </a:spcBef>
              <a:spcAft>
                <a:spcPts val="200"/>
              </a:spcAft>
            </a:pPr>
            <a:r>
              <a:rPr lang="en-US" sz="2400" dirty="0"/>
              <a:t>It is the lowest layer or first layer of the OSI model.</a:t>
            </a:r>
          </a:p>
          <a:p>
            <a:pPr algn="just"/>
            <a:r>
              <a:rPr lang="en-US" sz="2400" dirty="0"/>
              <a:t>It is concerned with the transmission of raw bits over a communication channel.</a:t>
            </a:r>
          </a:p>
          <a:p>
            <a:pPr algn="just"/>
            <a:r>
              <a:rPr lang="en-US" sz="2400" dirty="0"/>
              <a:t>At receiver side, It accept incoming stream of data and passes to the upper layer and also accept frames from upper layer (data link) and converts into bits.</a:t>
            </a:r>
            <a:endParaRPr lang="en-US" sz="2400" b="1" dirty="0"/>
          </a:p>
          <a:p>
            <a:pPr algn="just"/>
            <a:r>
              <a:rPr lang="en-US" sz="2400" dirty="0"/>
              <a:t>Data unit at this layer is </a:t>
            </a:r>
            <a:r>
              <a:rPr lang="en-US" sz="2400" dirty="0">
                <a:sym typeface="Wingdings" pitchFamily="2" charset="2"/>
              </a:rPr>
              <a:t> ‘</a:t>
            </a:r>
            <a:r>
              <a:rPr lang="en-US" sz="2400" b="1" dirty="0">
                <a:sym typeface="Wingdings" pitchFamily="2" charset="2"/>
              </a:rPr>
              <a:t>bit’</a:t>
            </a:r>
            <a:r>
              <a:rPr lang="en-US" sz="2400" dirty="0">
                <a:sym typeface="Wingdings" pitchFamily="2" charset="2"/>
              </a:rPr>
              <a:t>.</a:t>
            </a: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US" b="1" dirty="0">
                <a:solidFill>
                  <a:srgbClr val="FF0000"/>
                </a:solidFill>
              </a:rPr>
            </a:br>
            <a:r>
              <a:rPr lang="en-US" b="1" dirty="0">
                <a:solidFill>
                  <a:srgbClr val="FF0000"/>
                </a:solidFill>
              </a:rPr>
              <a:t>Physical Layer</a:t>
            </a:r>
            <a:br>
              <a:rPr lang="en-US" sz="4000" b="1" dirty="0">
                <a:solidFill>
                  <a:srgbClr val="FF0000"/>
                </a:solidFill>
              </a:rPr>
            </a:b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dirty="0"/>
          </a:p>
        </p:txBody>
      </p:sp>
      <p:pic>
        <p:nvPicPr>
          <p:cNvPr id="5" name="Picture 2" descr="D:\my CUSP\CN\Figures frm Net\PhysicalLayer.jpg"/>
          <p:cNvPicPr>
            <a:picLocks noGrp="1" noChangeAspect="1" noChangeArrowheads="1"/>
          </p:cNvPicPr>
          <p:nvPr>
            <p:ph idx="1"/>
          </p:nvPr>
        </p:nvPicPr>
        <p:blipFill>
          <a:blip r:embed="rId2"/>
          <a:srcRect/>
          <a:stretch>
            <a:fillRect/>
          </a:stretch>
        </p:blipFill>
        <p:spPr bwMode="auto">
          <a:xfrm>
            <a:off x="1143000" y="1600200"/>
            <a:ext cx="6671049" cy="3282156"/>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algn="just">
              <a:buFont typeface="Wingdings 3" pitchFamily="18" charset="2"/>
              <a:buChar char="Ê"/>
            </a:pPr>
            <a:r>
              <a:rPr lang="en-US" sz="2400" b="1" dirty="0"/>
              <a:t>Functions of Physical layer</a:t>
            </a:r>
          </a:p>
          <a:p>
            <a:pPr marL="677863" algn="just">
              <a:buFont typeface="Courier New" pitchFamily="49" charset="0"/>
              <a:buChar char="o"/>
            </a:pPr>
            <a:r>
              <a:rPr lang="en-US" sz="2400" dirty="0">
                <a:sym typeface="Wingdings" pitchFamily="2" charset="2"/>
              </a:rPr>
              <a:t>It carries signals to higher layers</a:t>
            </a:r>
          </a:p>
          <a:p>
            <a:pPr marL="677863" algn="just">
              <a:buFont typeface="Courier New" pitchFamily="49" charset="0"/>
              <a:buChar char="o"/>
            </a:pPr>
            <a:r>
              <a:rPr lang="en-US" sz="2400" dirty="0">
                <a:sym typeface="Wingdings" pitchFamily="2" charset="2"/>
              </a:rPr>
              <a:t>It defines the physical topology of a network.</a:t>
            </a:r>
          </a:p>
          <a:p>
            <a:pPr marL="677863" algn="just">
              <a:buFont typeface="Courier New" pitchFamily="49" charset="0"/>
              <a:buChar char="o"/>
            </a:pPr>
            <a:r>
              <a:rPr lang="en-US" sz="2400" dirty="0">
                <a:sym typeface="Wingdings" pitchFamily="2" charset="2"/>
              </a:rPr>
              <a:t>It defines the direction of transmission between two devises: </a:t>
            </a:r>
            <a:r>
              <a:rPr lang="en-US" sz="2400" i="1" dirty="0">
                <a:solidFill>
                  <a:srgbClr val="FF0000"/>
                </a:solidFill>
                <a:sym typeface="Wingdings" pitchFamily="2" charset="2"/>
              </a:rPr>
              <a:t>Simplex, Half duplex and Full duplex.</a:t>
            </a:r>
          </a:p>
          <a:p>
            <a:pPr marL="677863" algn="just">
              <a:buFont typeface="Courier New" pitchFamily="49" charset="0"/>
              <a:buChar char="o"/>
            </a:pPr>
            <a:r>
              <a:rPr lang="en-US" sz="2400" dirty="0">
                <a:sym typeface="Wingdings" pitchFamily="2" charset="2"/>
              </a:rPr>
              <a:t>It encodes the bit streams into electric signals.</a:t>
            </a:r>
          </a:p>
          <a:p>
            <a:pPr marL="401638" algn="just"/>
            <a:r>
              <a:rPr lang="en-US" sz="2400" dirty="0">
                <a:sym typeface="Wingdings" pitchFamily="2" charset="2"/>
              </a:rPr>
              <a:t>Hardware used at this layer are: hub, NIC, modem etc.</a:t>
            </a:r>
          </a:p>
          <a:p>
            <a:pPr marL="401638" algn="just"/>
            <a:r>
              <a:rPr lang="en-US" sz="2400" dirty="0">
                <a:sym typeface="Wingdings" pitchFamily="2" charset="2"/>
              </a:rPr>
              <a:t>Protocols and standards of this layer are:</a:t>
            </a:r>
          </a:p>
          <a:p>
            <a:pPr marL="677863" algn="just">
              <a:buFont typeface="Courier New" pitchFamily="49" charset="0"/>
              <a:buChar char="o"/>
            </a:pPr>
            <a:r>
              <a:rPr lang="en-US" sz="2400" dirty="0">
                <a:sym typeface="Wingdings" pitchFamily="2" charset="2"/>
              </a:rPr>
              <a:t>IEEE 802.5 (token ring)</a:t>
            </a:r>
          </a:p>
          <a:p>
            <a:pPr marL="677863" algn="just">
              <a:buFont typeface="Courier New" pitchFamily="49" charset="0"/>
              <a:buChar char="o"/>
            </a:pPr>
            <a:r>
              <a:rPr lang="en-US" sz="2400" dirty="0">
                <a:sym typeface="Wingdings" pitchFamily="2" charset="2"/>
              </a:rPr>
              <a:t>IEEE 802.3 (Ethernet)</a:t>
            </a:r>
          </a:p>
          <a:p>
            <a:pPr marL="677863" algn="just">
              <a:buFont typeface="Courier New" pitchFamily="49" charset="0"/>
              <a:buChar char="o"/>
            </a:pPr>
            <a:r>
              <a:rPr lang="en-US" sz="2400" dirty="0">
                <a:sym typeface="Wingdings" pitchFamily="2" charset="2"/>
              </a:rPr>
              <a:t>IEEE 802.11 (Wi-Fi)</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pitchFamily="2" charset="2"/>
              <a:buChar char="v"/>
            </a:pPr>
            <a:r>
              <a:rPr lang="en-US" sz="2800" b="1" dirty="0">
                <a:solidFill>
                  <a:srgbClr val="FF0000"/>
                </a:solidFill>
              </a:rPr>
              <a:t>Data Link Layer</a:t>
            </a:r>
            <a:endParaRPr lang="en-US" sz="2400" b="1" dirty="0">
              <a:solidFill>
                <a:srgbClr val="FF0000"/>
              </a:solidFill>
            </a:endParaRPr>
          </a:p>
          <a:p>
            <a:pPr algn="just">
              <a:spcBef>
                <a:spcPts val="400"/>
              </a:spcBef>
              <a:spcAft>
                <a:spcPts val="200"/>
              </a:spcAft>
            </a:pPr>
            <a:r>
              <a:rPr lang="en-US" sz="2400" b="1" dirty="0">
                <a:solidFill>
                  <a:srgbClr val="CC00CC"/>
                </a:solidFill>
              </a:rPr>
              <a:t>The layer is responsible for moving frames from one hop (node) to next hop. </a:t>
            </a:r>
          </a:p>
          <a:p>
            <a:pPr lvl="0" algn="just">
              <a:spcBef>
                <a:spcPts val="400"/>
              </a:spcBef>
              <a:spcAft>
                <a:spcPts val="200"/>
              </a:spcAft>
            </a:pPr>
            <a:r>
              <a:rPr lang="en-US" sz="2400" dirty="0"/>
              <a:t>It is the second layer of the OSI model in which raw bits are grouped into frames.</a:t>
            </a:r>
          </a:p>
          <a:p>
            <a:pPr algn="just"/>
            <a:r>
              <a:rPr lang="en-US" sz="2400" dirty="0"/>
              <a:t>It makes the physical layer appear error free to upper layer (network).</a:t>
            </a:r>
          </a:p>
          <a:p>
            <a:pPr algn="just"/>
            <a:r>
              <a:rPr lang="en-US" sz="2400" dirty="0"/>
              <a:t>It uses CRC (Cyclic Redundancy Check) to detect errors.</a:t>
            </a:r>
          </a:p>
          <a:p>
            <a:pPr algn="just"/>
            <a:r>
              <a:rPr lang="en-US" sz="2400" dirty="0"/>
              <a:t>Data unit at this layer is </a:t>
            </a:r>
            <a:r>
              <a:rPr lang="en-US" sz="2400" dirty="0">
                <a:sym typeface="Wingdings" pitchFamily="2" charset="2"/>
              </a:rPr>
              <a:t> ‘</a:t>
            </a:r>
            <a:r>
              <a:rPr lang="en-US" sz="2400" b="1" dirty="0">
                <a:sym typeface="Wingdings" pitchFamily="2" charset="2"/>
              </a:rPr>
              <a:t>frame’</a:t>
            </a:r>
            <a:r>
              <a:rPr lang="en-US" sz="2400" dirty="0">
                <a:sym typeface="Wingdings" pitchFamily="2" charset="2"/>
              </a:rPr>
              <a:t>.</a:t>
            </a: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0" name="Picture 2" descr="D:\my CUSP\CN\Figures frm Net\DataLinkLayer.jpg"/>
          <p:cNvPicPr>
            <a:picLocks noChangeAspect="1" noChangeArrowheads="1"/>
          </p:cNvPicPr>
          <p:nvPr/>
        </p:nvPicPr>
        <p:blipFill>
          <a:blip r:embed="rId3"/>
          <a:srcRect t="23829" b="6481"/>
          <a:stretch>
            <a:fillRect/>
          </a:stretch>
        </p:blipFill>
        <p:spPr bwMode="auto">
          <a:xfrm>
            <a:off x="1828800" y="4191000"/>
            <a:ext cx="5181600" cy="24384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lnSpcReduction="10000"/>
          </a:bodyPr>
          <a:lstStyle/>
          <a:p>
            <a:pPr algn="just">
              <a:buFont typeface="Wingdings 3" pitchFamily="18" charset="2"/>
              <a:buChar char="Ê"/>
            </a:pPr>
            <a:r>
              <a:rPr lang="en-US" sz="2400" b="1" dirty="0"/>
              <a:t>Functions of Data Link layer</a:t>
            </a:r>
          </a:p>
          <a:p>
            <a:pPr marL="677863" algn="just">
              <a:buFont typeface="Courier New" pitchFamily="49" charset="0"/>
              <a:buChar char="o"/>
            </a:pPr>
            <a:r>
              <a:rPr lang="en-US" sz="2400" i="1" dirty="0">
                <a:solidFill>
                  <a:srgbClr val="FF0000"/>
                </a:solidFill>
                <a:sym typeface="Wingdings" pitchFamily="2" charset="2"/>
              </a:rPr>
              <a:t>Framing: </a:t>
            </a:r>
            <a:r>
              <a:rPr lang="en-US" sz="2400" dirty="0">
                <a:sym typeface="Wingdings" pitchFamily="2" charset="2"/>
              </a:rPr>
              <a:t>converts packets received from network layers into frames and also converts bits from physical layer into frames.</a:t>
            </a:r>
          </a:p>
          <a:p>
            <a:pPr marL="677863" algn="just">
              <a:buFont typeface="Courier New" pitchFamily="49" charset="0"/>
              <a:buChar char="o"/>
            </a:pPr>
            <a:r>
              <a:rPr lang="en-US" sz="2400" i="1" dirty="0">
                <a:solidFill>
                  <a:srgbClr val="FF0000"/>
                </a:solidFill>
                <a:sym typeface="Wingdings" pitchFamily="2" charset="2"/>
              </a:rPr>
              <a:t>Flow control: </a:t>
            </a:r>
            <a:r>
              <a:rPr lang="en-US" sz="2400" dirty="0">
                <a:sym typeface="Wingdings" pitchFamily="2" charset="2"/>
              </a:rPr>
              <a:t>it provides data flow control when sender and receiver have different data rates.</a:t>
            </a:r>
          </a:p>
          <a:p>
            <a:pPr marL="677863" algn="just">
              <a:buFont typeface="Courier New" pitchFamily="49" charset="0"/>
              <a:buChar char="o"/>
            </a:pPr>
            <a:r>
              <a:rPr lang="en-US" sz="2400" i="1" dirty="0">
                <a:solidFill>
                  <a:srgbClr val="FF0000"/>
                </a:solidFill>
                <a:sym typeface="Wingdings" pitchFamily="2" charset="2"/>
              </a:rPr>
              <a:t>Physical addressing: </a:t>
            </a:r>
            <a:r>
              <a:rPr lang="en-US" sz="2400" dirty="0">
                <a:sym typeface="Wingdings" pitchFamily="2" charset="2"/>
              </a:rPr>
              <a:t>when frames are sent to different LANs, this layer adds sender and receiver address into header.</a:t>
            </a:r>
          </a:p>
          <a:p>
            <a:pPr marL="677863" algn="just">
              <a:buFont typeface="Courier New" pitchFamily="49" charset="0"/>
              <a:buChar char="o"/>
            </a:pPr>
            <a:r>
              <a:rPr lang="en-US" sz="2400" i="1" dirty="0">
                <a:solidFill>
                  <a:srgbClr val="FF0000"/>
                </a:solidFill>
                <a:sym typeface="Wingdings" pitchFamily="2" charset="2"/>
              </a:rPr>
              <a:t>Error control: </a:t>
            </a:r>
            <a:r>
              <a:rPr lang="en-US" sz="2400" dirty="0">
                <a:sym typeface="Wingdings" pitchFamily="2" charset="2"/>
              </a:rPr>
              <a:t>it provides facility of error control to retransmit the damaged and lost frames.</a:t>
            </a:r>
          </a:p>
          <a:p>
            <a:pPr marL="677863" algn="just">
              <a:buFont typeface="Courier New" pitchFamily="49" charset="0"/>
              <a:buChar char="o"/>
            </a:pPr>
            <a:r>
              <a:rPr lang="en-US" sz="2400" i="1" dirty="0">
                <a:solidFill>
                  <a:srgbClr val="FF0000"/>
                </a:solidFill>
                <a:sym typeface="Wingdings" pitchFamily="2" charset="2"/>
              </a:rPr>
              <a:t>Access control: </a:t>
            </a:r>
            <a:r>
              <a:rPr lang="en-US" sz="2400" dirty="0">
                <a:sym typeface="Wingdings" pitchFamily="2" charset="2"/>
              </a:rPr>
              <a:t>provide access control when multiple devices are connected to same link</a:t>
            </a:r>
          </a:p>
          <a:p>
            <a:pPr algn="just">
              <a:buFont typeface="Wingdings 3" pitchFamily="18" charset="2"/>
              <a:buChar char="Ê"/>
            </a:pPr>
            <a:r>
              <a:rPr lang="en-US" sz="2400" b="1" dirty="0">
                <a:sym typeface="Wingdings" pitchFamily="2" charset="2"/>
              </a:rPr>
              <a:t>Data link layer has two sub layers</a:t>
            </a:r>
          </a:p>
          <a:p>
            <a:pPr marL="677863" algn="just">
              <a:buFont typeface="Courier New" pitchFamily="49" charset="0"/>
              <a:buChar char="o"/>
            </a:pPr>
            <a:r>
              <a:rPr lang="en-US" sz="2400" dirty="0">
                <a:sym typeface="Wingdings" pitchFamily="2" charset="2"/>
              </a:rPr>
              <a:t>Logical Link Control (LLC)  it deals with protocols, flow control and error control.</a:t>
            </a:r>
          </a:p>
          <a:p>
            <a:pPr marL="677863" algn="just">
              <a:buFont typeface="Courier New" pitchFamily="49" charset="0"/>
              <a:buChar char="o"/>
            </a:pPr>
            <a:r>
              <a:rPr lang="en-US" sz="2400" dirty="0">
                <a:sym typeface="Wingdings" pitchFamily="2" charset="2"/>
              </a:rPr>
              <a:t>Media Access Control (MAC)  it deals with the control of medium.</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pPr>
            <a:r>
              <a:rPr lang="en-US" sz="2400" dirty="0"/>
              <a:t>Hardware used at this layers are: switch, gateway, firewall, proxy servers etc.</a:t>
            </a:r>
          </a:p>
          <a:p>
            <a:pPr lvl="0" algn="just">
              <a:spcBef>
                <a:spcPts val="400"/>
              </a:spcBef>
              <a:spcAft>
                <a:spcPts val="200"/>
              </a:spcAft>
            </a:pPr>
            <a:r>
              <a:rPr lang="en-US" sz="2400" dirty="0"/>
              <a:t>Protocols and standards of this layer are: </a:t>
            </a:r>
          </a:p>
          <a:p>
            <a:pPr marL="677863" lvl="0" algn="just">
              <a:spcBef>
                <a:spcPts val="400"/>
              </a:spcBef>
              <a:spcAft>
                <a:spcPts val="200"/>
              </a:spcAft>
              <a:buFont typeface="Courier New" pitchFamily="49" charset="0"/>
              <a:buChar char="o"/>
            </a:pPr>
            <a:r>
              <a:rPr lang="en-US" sz="2400" dirty="0"/>
              <a:t>PPP (Point to point protocol)</a:t>
            </a:r>
          </a:p>
          <a:p>
            <a:pPr marL="677863" lvl="0" algn="just">
              <a:spcBef>
                <a:spcPts val="400"/>
              </a:spcBef>
              <a:spcAft>
                <a:spcPts val="200"/>
              </a:spcAft>
              <a:buFont typeface="Courier New" pitchFamily="49" charset="0"/>
              <a:buChar char="o"/>
            </a:pPr>
            <a:r>
              <a:rPr lang="en-US" sz="2400" dirty="0"/>
              <a:t>PPTP (Point to point tunneling protocol)</a:t>
            </a:r>
          </a:p>
          <a:p>
            <a:pPr marL="677863" lvl="0" algn="just">
              <a:spcBef>
                <a:spcPts val="400"/>
              </a:spcBef>
              <a:spcAft>
                <a:spcPts val="200"/>
              </a:spcAft>
              <a:buFont typeface="Courier New" pitchFamily="49" charset="0"/>
              <a:buChar char="o"/>
            </a:pPr>
            <a:r>
              <a:rPr lang="en-US" sz="2400" dirty="0"/>
              <a:t>L2TP (Layer2 Tunneling Protocol)</a:t>
            </a:r>
          </a:p>
          <a:p>
            <a:pPr marL="677863" lvl="0" algn="just">
              <a:spcBef>
                <a:spcPts val="400"/>
              </a:spcBef>
              <a:spcAft>
                <a:spcPts val="200"/>
              </a:spcAft>
              <a:buFont typeface="Courier New" pitchFamily="49" charset="0"/>
              <a:buChar char="o"/>
            </a:pPr>
            <a:r>
              <a:rPr lang="en-US" sz="2400" dirty="0"/>
              <a:t>SLIP (Serial Line Internet Protocol) etc.</a:t>
            </a:r>
          </a:p>
          <a:p>
            <a:pPr lvl="0" algn="just">
              <a:spcBef>
                <a:spcPts val="400"/>
              </a:spcBef>
              <a:spcAft>
                <a:spcPts val="200"/>
              </a:spcAft>
            </a:pP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pitchFamily="2" charset="2"/>
              <a:buChar char="v"/>
            </a:pPr>
            <a:r>
              <a:rPr lang="en-US" sz="2800" b="1" dirty="0">
                <a:solidFill>
                  <a:srgbClr val="FF0000"/>
                </a:solidFill>
              </a:rPr>
              <a:t>Network Layer</a:t>
            </a:r>
            <a:endParaRPr lang="en-US" sz="2400" b="1" dirty="0">
              <a:solidFill>
                <a:srgbClr val="FF0000"/>
              </a:solidFill>
            </a:endParaRPr>
          </a:p>
          <a:p>
            <a:pPr algn="just"/>
            <a:r>
              <a:rPr lang="en-US" sz="2400" b="1" dirty="0">
                <a:solidFill>
                  <a:srgbClr val="CC00CC"/>
                </a:solidFill>
              </a:rPr>
              <a:t>It is responsible for the delivery of packets from </a:t>
            </a:r>
            <a:r>
              <a:rPr lang="en-US" sz="2400" b="1" dirty="0">
                <a:solidFill>
                  <a:srgbClr val="FF0000"/>
                </a:solidFill>
              </a:rPr>
              <a:t>source host </a:t>
            </a:r>
            <a:r>
              <a:rPr lang="en-US" sz="2400" b="1" dirty="0">
                <a:solidFill>
                  <a:srgbClr val="CC00CC"/>
                </a:solidFill>
              </a:rPr>
              <a:t>to </a:t>
            </a:r>
            <a:r>
              <a:rPr lang="en-US" sz="2400" b="1" dirty="0">
                <a:solidFill>
                  <a:srgbClr val="FF0000"/>
                </a:solidFill>
              </a:rPr>
              <a:t>destination host</a:t>
            </a:r>
            <a:r>
              <a:rPr lang="en-US" sz="2400" b="1" dirty="0">
                <a:solidFill>
                  <a:srgbClr val="CC00CC"/>
                </a:solidFill>
              </a:rPr>
              <a:t>.</a:t>
            </a:r>
          </a:p>
          <a:p>
            <a:pPr algn="just"/>
            <a:r>
              <a:rPr lang="en-US" sz="2400" dirty="0"/>
              <a:t>The network layer is responsible for the source-to-destination delivery of a packet across </a:t>
            </a:r>
            <a:r>
              <a:rPr lang="en-US" sz="2400" i="1" dirty="0">
                <a:solidFill>
                  <a:srgbClr val="FF0000"/>
                </a:solidFill>
              </a:rPr>
              <a:t>multiple networks </a:t>
            </a:r>
            <a:r>
              <a:rPr lang="en-US" sz="2400" dirty="0"/>
              <a:t>(links). Whereas the data link layer oversees the delivery of the packet (frame) between two systems on the </a:t>
            </a:r>
            <a:r>
              <a:rPr lang="en-US" sz="2400" i="1" dirty="0">
                <a:solidFill>
                  <a:srgbClr val="FF0000"/>
                </a:solidFill>
              </a:rPr>
              <a:t>same network </a:t>
            </a:r>
            <a:r>
              <a:rPr lang="en-US" sz="2400" dirty="0"/>
              <a:t>(links).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descr="D:\my CUSP\CN\Figures frm Net\NetworkLayer.jpg"/>
          <p:cNvPicPr>
            <a:picLocks noChangeAspect="1" noChangeArrowheads="1"/>
          </p:cNvPicPr>
          <p:nvPr/>
        </p:nvPicPr>
        <p:blipFill>
          <a:blip r:embed="rId3"/>
          <a:srcRect l="2747" t="29487" r="2747" b="8974"/>
          <a:stretch>
            <a:fillRect/>
          </a:stretch>
        </p:blipFill>
        <p:spPr bwMode="auto">
          <a:xfrm>
            <a:off x="1295400" y="3124200"/>
            <a:ext cx="6553200" cy="32004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algn="just">
              <a:buFont typeface="Wingdings 3" pitchFamily="18" charset="2"/>
              <a:buChar char="Ê"/>
            </a:pPr>
            <a:r>
              <a:rPr lang="en-US" sz="2400" b="1" dirty="0"/>
              <a:t>Functions of Network layer</a:t>
            </a:r>
          </a:p>
          <a:p>
            <a:pPr marL="677863" algn="just">
              <a:buFont typeface="Courier New" pitchFamily="49" charset="0"/>
              <a:buChar char="o"/>
            </a:pPr>
            <a:r>
              <a:rPr lang="en-US" sz="2400" i="1" dirty="0">
                <a:solidFill>
                  <a:srgbClr val="FF0000"/>
                </a:solidFill>
                <a:sym typeface="Wingdings" pitchFamily="2" charset="2"/>
              </a:rPr>
              <a:t>Logical addressing: </a:t>
            </a:r>
            <a:r>
              <a:rPr lang="en-US" sz="2400" dirty="0">
                <a:sym typeface="Wingdings" pitchFamily="2" charset="2"/>
              </a:rPr>
              <a:t>this layer adds a header into the packet includes logical address of sender and receiver.</a:t>
            </a:r>
          </a:p>
          <a:p>
            <a:pPr marL="677863" algn="just">
              <a:buFont typeface="Courier New" pitchFamily="49" charset="0"/>
              <a:buChar char="o"/>
            </a:pPr>
            <a:r>
              <a:rPr lang="en-US" sz="2400" i="1" dirty="0">
                <a:solidFill>
                  <a:srgbClr val="FF0000"/>
                </a:solidFill>
                <a:sym typeface="Wingdings" pitchFamily="2" charset="2"/>
              </a:rPr>
              <a:t>Routing: </a:t>
            </a:r>
            <a:r>
              <a:rPr lang="en-US" sz="2400" dirty="0">
                <a:sym typeface="Wingdings" pitchFamily="2" charset="2"/>
              </a:rPr>
              <a:t>this layer route the packets to its final destination in internetwork.</a:t>
            </a:r>
          </a:p>
          <a:p>
            <a:pPr marL="677863" algn="just">
              <a:buFont typeface="Courier New" pitchFamily="49" charset="0"/>
              <a:buChar char="o"/>
            </a:pPr>
            <a:r>
              <a:rPr lang="en-US" sz="2400" dirty="0">
                <a:sym typeface="Wingdings" pitchFamily="2" charset="2"/>
              </a:rPr>
              <a:t>It provides quality of service management.</a:t>
            </a:r>
          </a:p>
          <a:p>
            <a:pPr marL="677863" algn="just">
              <a:buFont typeface="Courier New" pitchFamily="49" charset="0"/>
              <a:buChar char="o"/>
            </a:pPr>
            <a:r>
              <a:rPr lang="en-US" sz="2400" dirty="0">
                <a:sym typeface="Wingdings" pitchFamily="2" charset="2"/>
              </a:rPr>
              <a:t>It provides security, load balancing and link management.</a:t>
            </a:r>
          </a:p>
          <a:p>
            <a:pPr marL="677863" algn="just">
              <a:buFont typeface="Courier New" pitchFamily="49" charset="0"/>
              <a:buChar char="o"/>
            </a:pPr>
            <a:r>
              <a:rPr lang="en-US" sz="2400" dirty="0">
                <a:sym typeface="Wingdings" pitchFamily="2" charset="2"/>
              </a:rPr>
              <a:t>It provides connection oriented and connection less services to its upper layer (transport).</a:t>
            </a:r>
          </a:p>
          <a:p>
            <a:pPr marL="401638" algn="just"/>
            <a:r>
              <a:rPr lang="en-US" sz="2400" dirty="0">
                <a:sym typeface="Wingdings" pitchFamily="2" charset="2"/>
              </a:rPr>
              <a:t>Hardware used at this layer are: router, layer3 switch, firewall, proxy server, gateway etc.</a:t>
            </a:r>
          </a:p>
          <a:p>
            <a:pPr marL="401638" algn="just"/>
            <a:r>
              <a:rPr lang="en-US" sz="2400" dirty="0">
                <a:sym typeface="Wingdings" pitchFamily="2" charset="2"/>
              </a:rPr>
              <a:t>Protocols and standards of this layer are: ICMP, ARP, RARP, IPSec, IPv4/IPv6.</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pitchFamily="2" charset="2"/>
              <a:buChar char="v"/>
            </a:pPr>
            <a:r>
              <a:rPr lang="en-US" sz="2800" b="1" dirty="0">
                <a:solidFill>
                  <a:srgbClr val="FF0000"/>
                </a:solidFill>
              </a:rPr>
              <a:t>Transport Layer</a:t>
            </a:r>
            <a:endParaRPr lang="en-US" sz="2400" b="1" dirty="0">
              <a:solidFill>
                <a:srgbClr val="FF0000"/>
              </a:solidFill>
            </a:endParaRPr>
          </a:p>
          <a:p>
            <a:pPr algn="just"/>
            <a:r>
              <a:rPr lang="en-US" sz="2400" b="1" dirty="0">
                <a:solidFill>
                  <a:srgbClr val="CC00CC"/>
                </a:solidFill>
              </a:rPr>
              <a:t>The transport layer is responsible for the delivery of a message from one </a:t>
            </a:r>
            <a:r>
              <a:rPr lang="en-US" sz="2400" b="1" dirty="0">
                <a:solidFill>
                  <a:srgbClr val="FF0000"/>
                </a:solidFill>
              </a:rPr>
              <a:t>process to another</a:t>
            </a:r>
            <a:r>
              <a:rPr lang="en-US" sz="2400" b="1" dirty="0">
                <a:solidFill>
                  <a:srgbClr val="CC00CC"/>
                </a:solidFill>
              </a:rPr>
              <a:t>.</a:t>
            </a:r>
          </a:p>
          <a:p>
            <a:pPr algn="just"/>
            <a:r>
              <a:rPr lang="en-US" sz="2400" i="1" dirty="0">
                <a:solidFill>
                  <a:srgbClr val="FF0000"/>
                </a:solidFill>
              </a:rPr>
              <a:t>It is responsible for source to destination delivery of a entire message, while network layer is responsible for source to destination delivery of individual packets.</a:t>
            </a:r>
          </a:p>
          <a:p>
            <a:pPr algn="just"/>
            <a:r>
              <a:rPr lang="en-US" sz="2400" dirty="0"/>
              <a:t>Network layer doesn’t recognize any relationship between packets, while in case of transport layer, it ensures that whole message arrives in order and it also checks error control and flow control.</a:t>
            </a:r>
          </a:p>
          <a:p>
            <a:pPr algn="just"/>
            <a:r>
              <a:rPr lang="en-US" sz="2400" dirty="0"/>
              <a:t>The data unit at this layer is </a:t>
            </a:r>
            <a:r>
              <a:rPr lang="en-US" sz="2400" dirty="0">
                <a:sym typeface="Wingdings" pitchFamily="2" charset="2"/>
              </a:rPr>
              <a:t> ‘</a:t>
            </a:r>
            <a:r>
              <a:rPr lang="en-US" sz="2400" b="1" dirty="0">
                <a:sym typeface="Wingdings" pitchFamily="2" charset="2"/>
              </a:rPr>
              <a:t>segment’.</a:t>
            </a: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solidFill>
                  <a:srgbClr val="FF0000"/>
                </a:solidFill>
              </a:rPr>
              <a:t>Transport Layer</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dirty="0"/>
          </a:p>
        </p:txBody>
      </p:sp>
      <p:pic>
        <p:nvPicPr>
          <p:cNvPr id="5" name="Picture 2" descr="D:\my CUSP\CN\Figures frm Net\TransportLayer.jpg"/>
          <p:cNvPicPr>
            <a:picLocks noGrp="1" noChangeAspect="1" noChangeArrowheads="1"/>
          </p:cNvPicPr>
          <p:nvPr>
            <p:ph idx="1"/>
          </p:nvPr>
        </p:nvPicPr>
        <p:blipFill>
          <a:blip r:embed="rId2"/>
          <a:srcRect l="-548" t="17766" r="549" b="38278"/>
          <a:stretch>
            <a:fillRect/>
          </a:stretch>
        </p:blipFill>
        <p:spPr bwMode="auto">
          <a:xfrm>
            <a:off x="457200" y="2362200"/>
            <a:ext cx="8320958" cy="2743198"/>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lnSpcReduction="10000"/>
          </a:bodyPr>
          <a:lstStyle/>
          <a:p>
            <a:pPr algn="just">
              <a:buFont typeface="Wingdings 3" pitchFamily="18" charset="2"/>
              <a:buChar char="Ê"/>
            </a:pPr>
            <a:r>
              <a:rPr lang="en-US" sz="2400" b="1" dirty="0"/>
              <a:t>Functions of Transport layer</a:t>
            </a:r>
          </a:p>
          <a:p>
            <a:pPr marL="677863" algn="just">
              <a:buFont typeface="Courier New" pitchFamily="49" charset="0"/>
              <a:buChar char="o"/>
            </a:pPr>
            <a:r>
              <a:rPr lang="en-US" sz="2400" i="1" dirty="0">
                <a:solidFill>
                  <a:srgbClr val="FF0000"/>
                </a:solidFill>
                <a:sym typeface="Wingdings" pitchFamily="2" charset="2"/>
              </a:rPr>
              <a:t>Segmentation and reassembly: </a:t>
            </a:r>
            <a:r>
              <a:rPr lang="en-US" sz="2400" dirty="0">
                <a:sym typeface="Wingdings" pitchFamily="2" charset="2"/>
              </a:rPr>
              <a:t>a message divided into segments, each segment contains  a sequence number which enables transport layer to reassemble at destination.</a:t>
            </a:r>
          </a:p>
          <a:p>
            <a:pPr marL="677863" algn="just">
              <a:buFont typeface="Courier New" pitchFamily="49" charset="0"/>
              <a:buChar char="o"/>
            </a:pPr>
            <a:r>
              <a:rPr lang="en-US" sz="2400" i="1" dirty="0">
                <a:solidFill>
                  <a:srgbClr val="FF0000"/>
                </a:solidFill>
                <a:sym typeface="Wingdings" pitchFamily="2" charset="2"/>
              </a:rPr>
              <a:t>Synchronization of data: </a:t>
            </a:r>
            <a:r>
              <a:rPr lang="en-US" sz="2400" dirty="0">
                <a:sym typeface="Wingdings" pitchFamily="2" charset="2"/>
              </a:rPr>
              <a:t>this layer ensures that data must be received in the sequence in which it was sent.</a:t>
            </a:r>
          </a:p>
          <a:p>
            <a:pPr marL="677863" algn="just">
              <a:buFont typeface="Courier New" pitchFamily="49" charset="0"/>
              <a:buChar char="o"/>
            </a:pPr>
            <a:r>
              <a:rPr lang="en-US" sz="2400" dirty="0">
                <a:sym typeface="Wingdings" pitchFamily="2" charset="2"/>
              </a:rPr>
              <a:t>This layer provides error correction of data and ensures error free transmission.</a:t>
            </a:r>
          </a:p>
          <a:p>
            <a:pPr marL="677863" algn="just">
              <a:buFont typeface="Courier New" pitchFamily="49" charset="0"/>
              <a:buChar char="o"/>
            </a:pPr>
            <a:r>
              <a:rPr lang="en-US" sz="2400" i="1" dirty="0">
                <a:solidFill>
                  <a:srgbClr val="FF0000"/>
                </a:solidFill>
                <a:sym typeface="Wingdings" pitchFamily="2" charset="2"/>
              </a:rPr>
              <a:t>Flow control: </a:t>
            </a:r>
            <a:r>
              <a:rPr lang="en-US" sz="2400" dirty="0">
                <a:sym typeface="Wingdings" pitchFamily="2" charset="2"/>
              </a:rPr>
              <a:t>this layer performs end-to-end flow control while data link layer do it across the link.</a:t>
            </a:r>
          </a:p>
          <a:p>
            <a:pPr marL="677863" algn="just">
              <a:buFont typeface="Courier New" pitchFamily="49" charset="0"/>
              <a:buChar char="o"/>
            </a:pPr>
            <a:r>
              <a:rPr lang="en-US" sz="2400" i="1" dirty="0">
                <a:solidFill>
                  <a:srgbClr val="FF0000"/>
                </a:solidFill>
                <a:sym typeface="Wingdings" pitchFamily="2" charset="2"/>
              </a:rPr>
              <a:t>Connection control: </a:t>
            </a:r>
            <a:r>
              <a:rPr lang="en-US" sz="2400" dirty="0">
                <a:sym typeface="Wingdings" pitchFamily="2" charset="2"/>
              </a:rPr>
              <a:t>this layer performs connection less or connection oriented with the destination machine.</a:t>
            </a:r>
          </a:p>
          <a:p>
            <a:pPr marL="401638" algn="just"/>
            <a:r>
              <a:rPr lang="en-US" sz="2400" dirty="0">
                <a:sym typeface="Wingdings" pitchFamily="2" charset="2"/>
              </a:rPr>
              <a:t>Hardware used at this layer are: gateway, proxy server, content filtering firewall, etc.</a:t>
            </a:r>
          </a:p>
          <a:p>
            <a:pPr marL="401638" algn="just"/>
            <a:r>
              <a:rPr lang="en-US" sz="2400" dirty="0">
                <a:sym typeface="Wingdings" pitchFamily="2" charset="2"/>
              </a:rPr>
              <a:t>Protocols and standards of this layer are: TCP (Transmission Control Protocol) and UDP (User Datagram Protocol).</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pitchFamily="2" charset="2"/>
              <a:buChar char="v"/>
            </a:pPr>
            <a:r>
              <a:rPr lang="en-US" sz="2800" b="1" dirty="0">
                <a:solidFill>
                  <a:srgbClr val="FF0000"/>
                </a:solidFill>
              </a:rPr>
              <a:t>Session Layer</a:t>
            </a:r>
            <a:endParaRPr lang="en-US" sz="2400" b="1" dirty="0">
              <a:solidFill>
                <a:srgbClr val="FF0000"/>
              </a:solidFill>
            </a:endParaRPr>
          </a:p>
          <a:p>
            <a:pPr algn="just"/>
            <a:r>
              <a:rPr lang="en-US" sz="2400" b="1" dirty="0">
                <a:solidFill>
                  <a:srgbClr val="CC00CC"/>
                </a:solidFill>
              </a:rPr>
              <a:t>The session layer is responsible for dialog control and synchronization.</a:t>
            </a:r>
          </a:p>
          <a:p>
            <a:pPr algn="just"/>
            <a:r>
              <a:rPr lang="en-US" sz="2400" i="1" dirty="0">
                <a:solidFill>
                  <a:srgbClr val="FF0000"/>
                </a:solidFill>
              </a:rPr>
              <a:t>It is responsible for establishing, maintaining and terminating the connection between two communicating devices.</a:t>
            </a:r>
          </a:p>
          <a:p>
            <a:pPr algn="just"/>
            <a:r>
              <a:rPr lang="en-US" sz="2400" dirty="0"/>
              <a:t>It also provides dialog control between devices.</a:t>
            </a:r>
          </a:p>
          <a:p>
            <a:pPr algn="just"/>
            <a:r>
              <a:rPr lang="en-US" sz="2400" dirty="0"/>
              <a:t>It offers different communication modes like: simplex, half duplex and full duplex.</a:t>
            </a:r>
          </a:p>
          <a:p>
            <a:pPr algn="just"/>
            <a:r>
              <a:rPr lang="en-US" sz="2400" dirty="0"/>
              <a:t>The data unit at this layer is </a:t>
            </a:r>
            <a:r>
              <a:rPr lang="en-US" sz="2400" dirty="0">
                <a:sym typeface="Wingdings" pitchFamily="2" charset="2"/>
              </a:rPr>
              <a:t> ‘</a:t>
            </a:r>
            <a:r>
              <a:rPr lang="en-US" sz="2400" b="1" dirty="0">
                <a:sym typeface="Wingdings" pitchFamily="2" charset="2"/>
              </a:rPr>
              <a:t>data’.</a:t>
            </a: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075" name="Picture 3" descr="D:\my CUSP\CN\Figures frm Net\SeesionLayer.jpg"/>
          <p:cNvPicPr>
            <a:picLocks noChangeAspect="1" noChangeArrowheads="1"/>
          </p:cNvPicPr>
          <p:nvPr/>
        </p:nvPicPr>
        <p:blipFill>
          <a:blip r:embed="rId3"/>
          <a:srcRect l="4945" t="29487" r="2747" b="7509"/>
          <a:stretch>
            <a:fillRect/>
          </a:stretch>
        </p:blipFill>
        <p:spPr bwMode="auto">
          <a:xfrm>
            <a:off x="1513114" y="4114800"/>
            <a:ext cx="6030686" cy="2754078"/>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algn="just">
              <a:buFont typeface="Wingdings 3" pitchFamily="18" charset="2"/>
              <a:buChar char="Ê"/>
            </a:pPr>
            <a:r>
              <a:rPr lang="en-US" sz="2400" b="1" dirty="0"/>
              <a:t>Functions of Session layer</a:t>
            </a:r>
          </a:p>
          <a:p>
            <a:pPr marL="677863" algn="just">
              <a:buFont typeface="Courier New" pitchFamily="49" charset="0"/>
              <a:buChar char="o"/>
            </a:pPr>
            <a:r>
              <a:rPr lang="en-US" sz="2400" i="1" dirty="0">
                <a:solidFill>
                  <a:srgbClr val="FF0000"/>
                </a:solidFill>
                <a:sym typeface="Wingdings" pitchFamily="2" charset="2"/>
              </a:rPr>
              <a:t>Dialog control: </a:t>
            </a:r>
            <a:r>
              <a:rPr lang="en-US" sz="2400" dirty="0">
                <a:sym typeface="Wingdings" pitchFamily="2" charset="2"/>
              </a:rPr>
              <a:t>the session layer manages dialog control while communication take place.</a:t>
            </a:r>
          </a:p>
          <a:p>
            <a:pPr marL="677863" algn="just">
              <a:buFont typeface="Courier New" pitchFamily="49" charset="0"/>
              <a:buChar char="o"/>
            </a:pPr>
            <a:r>
              <a:rPr lang="en-US" sz="2400" i="1" dirty="0">
                <a:solidFill>
                  <a:srgbClr val="FF0000"/>
                </a:solidFill>
                <a:sym typeface="Wingdings" pitchFamily="2" charset="2"/>
              </a:rPr>
              <a:t>Synchronization: </a:t>
            </a:r>
            <a:r>
              <a:rPr lang="en-US" sz="2400" dirty="0">
                <a:sym typeface="Wingdings" pitchFamily="2" charset="2"/>
              </a:rPr>
              <a:t>this layer adds synchronization points (check points) into streams of data.</a:t>
            </a:r>
          </a:p>
          <a:p>
            <a:pPr marL="401638" algn="just"/>
            <a:r>
              <a:rPr lang="en-US" sz="2400" dirty="0">
                <a:sym typeface="Wingdings" pitchFamily="2" charset="2"/>
              </a:rPr>
              <a:t>Hardware used at this layer are: gateway, proxy server, content filtering firewall, etc.</a:t>
            </a:r>
          </a:p>
          <a:p>
            <a:pPr marL="401638" algn="just"/>
            <a:r>
              <a:rPr lang="en-US" sz="2400" dirty="0">
                <a:sym typeface="Wingdings" pitchFamily="2" charset="2"/>
              </a:rPr>
              <a:t>Protocols and standards of this layer are: SIP (Session Initiation Protocol) and RTP (Real time Transport Protocol).</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pitchFamily="2" charset="2"/>
              <a:buChar char="v"/>
            </a:pPr>
            <a:r>
              <a:rPr lang="en-US" sz="2800" b="1" dirty="0">
                <a:solidFill>
                  <a:srgbClr val="FF0000"/>
                </a:solidFill>
              </a:rPr>
              <a:t>Presentation Layer</a:t>
            </a:r>
            <a:endParaRPr lang="en-US" sz="2400" b="1" dirty="0">
              <a:solidFill>
                <a:srgbClr val="FF0000"/>
              </a:solidFill>
            </a:endParaRPr>
          </a:p>
          <a:p>
            <a:pPr algn="just"/>
            <a:r>
              <a:rPr lang="en-US" sz="2400" b="1" dirty="0">
                <a:solidFill>
                  <a:srgbClr val="CC00CC"/>
                </a:solidFill>
              </a:rPr>
              <a:t>The presentation layer is responsible for translation, compression, and encryption</a:t>
            </a:r>
            <a:r>
              <a:rPr lang="en-US" sz="2400" dirty="0"/>
              <a:t>.</a:t>
            </a:r>
          </a:p>
          <a:p>
            <a:pPr algn="just"/>
            <a:r>
              <a:rPr lang="en-US" sz="2400" dirty="0"/>
              <a:t>The presentation layer is concerned with the syntax (format of data) and semantics (meaning of each section of bits) of the information exchanged between two systems.</a:t>
            </a:r>
          </a:p>
          <a:p>
            <a:pPr algn="just"/>
            <a:r>
              <a:rPr lang="en-US" sz="2400" dirty="0"/>
              <a:t>This layer structures the data passed down from the application layer into a format suitable for network layer.</a:t>
            </a:r>
          </a:p>
          <a:p>
            <a:pPr algn="just"/>
            <a:r>
              <a:rPr lang="en-US" sz="2400" dirty="0"/>
              <a:t>The data unit at this layer is </a:t>
            </a:r>
            <a:r>
              <a:rPr lang="en-US" sz="2400" dirty="0">
                <a:sym typeface="Wingdings" pitchFamily="2" charset="2"/>
              </a:rPr>
              <a:t> ‘</a:t>
            </a:r>
            <a:r>
              <a:rPr lang="en-US" sz="2400" b="1" dirty="0">
                <a:sym typeface="Wingdings" pitchFamily="2" charset="2"/>
              </a:rPr>
              <a:t>data’.</a:t>
            </a: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098" name="Picture 2" descr="D:\my CUSP\CN\Figures frm Net\PresentationLayer.png"/>
          <p:cNvPicPr>
            <a:picLocks noChangeAspect="1" noChangeArrowheads="1"/>
          </p:cNvPicPr>
          <p:nvPr/>
        </p:nvPicPr>
        <p:blipFill>
          <a:blip r:embed="rId3"/>
          <a:srcRect/>
          <a:stretch>
            <a:fillRect/>
          </a:stretch>
        </p:blipFill>
        <p:spPr bwMode="auto">
          <a:xfrm>
            <a:off x="747713" y="3969648"/>
            <a:ext cx="7648575" cy="28956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algn="just">
              <a:buFont typeface="Wingdings 3" pitchFamily="18" charset="2"/>
              <a:buChar char="Ê"/>
            </a:pPr>
            <a:r>
              <a:rPr lang="en-US" sz="2400" b="1" dirty="0"/>
              <a:t>Functions of Presentation layer</a:t>
            </a:r>
          </a:p>
          <a:p>
            <a:pPr marL="677863" algn="just">
              <a:buFont typeface="Courier New" pitchFamily="49" charset="0"/>
              <a:buChar char="o"/>
            </a:pPr>
            <a:r>
              <a:rPr lang="en-US" sz="2400" dirty="0">
                <a:sym typeface="Wingdings" pitchFamily="2" charset="2"/>
              </a:rPr>
              <a:t>Translation: this layer maintains interoperability between two encoding systems.</a:t>
            </a:r>
          </a:p>
          <a:p>
            <a:pPr marL="677863" algn="just">
              <a:buFont typeface="Courier New" pitchFamily="49" charset="0"/>
              <a:buChar char="o"/>
            </a:pPr>
            <a:r>
              <a:rPr lang="en-US" sz="2400" dirty="0">
                <a:sym typeface="Wingdings" pitchFamily="2" charset="2"/>
              </a:rPr>
              <a:t>Encryption and decryption: for security purpose, this layer transforms sender information into non readable form while sending data. Also doing decryption (reverse process of encryption).</a:t>
            </a:r>
          </a:p>
          <a:p>
            <a:pPr marL="677863" algn="just">
              <a:buFont typeface="Courier New" pitchFamily="49" charset="0"/>
              <a:buChar char="o"/>
            </a:pPr>
            <a:r>
              <a:rPr lang="en-US" sz="2400" dirty="0">
                <a:sym typeface="Wingdings" pitchFamily="2" charset="2"/>
              </a:rPr>
              <a:t>Data compression: reducing number of bits required to represent data.</a:t>
            </a:r>
          </a:p>
          <a:p>
            <a:pPr marL="401638" algn="just"/>
            <a:r>
              <a:rPr lang="en-US" sz="2400" dirty="0">
                <a:sym typeface="Wingdings" pitchFamily="2" charset="2"/>
              </a:rPr>
              <a:t>Hardware used at this layer are: gateway, application switch, proxy server, content filtering firewall, etc.</a:t>
            </a:r>
          </a:p>
          <a:p>
            <a:pPr marL="401638" algn="just"/>
            <a:r>
              <a:rPr lang="en-US" sz="2400" dirty="0">
                <a:sym typeface="Wingdings" pitchFamily="2" charset="2"/>
              </a:rPr>
              <a:t>Protocols and standards of this layer are: SSL (Secure Socket Layer), MIME (Multipurpose Internet Mail Extension), TLS (Transport Layer Security) etc.</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pitchFamily="2" charset="2"/>
              <a:buChar char="v"/>
            </a:pPr>
            <a:r>
              <a:rPr lang="en-US" sz="2800" b="1" dirty="0">
                <a:solidFill>
                  <a:srgbClr val="FF0000"/>
                </a:solidFill>
              </a:rPr>
              <a:t>Application Layer</a:t>
            </a:r>
            <a:endParaRPr lang="en-US" sz="2400" b="1" dirty="0">
              <a:solidFill>
                <a:srgbClr val="FF0000"/>
              </a:solidFill>
            </a:endParaRPr>
          </a:p>
          <a:p>
            <a:pPr algn="just"/>
            <a:r>
              <a:rPr lang="en-US" sz="2400" b="1" dirty="0">
                <a:solidFill>
                  <a:srgbClr val="CC00CC"/>
                </a:solidFill>
              </a:rPr>
              <a:t>The application layer is responsible for providing services to the user.</a:t>
            </a:r>
            <a:endParaRPr lang="en-US" sz="2400" dirty="0"/>
          </a:p>
          <a:p>
            <a:pPr algn="just"/>
            <a:r>
              <a:rPr lang="en-US" sz="2400" dirty="0"/>
              <a:t>It is the final and highest layer of the OSI model</a:t>
            </a:r>
          </a:p>
          <a:p>
            <a:pPr algn="just"/>
            <a:r>
              <a:rPr lang="en-US" sz="2400" dirty="0"/>
              <a:t>This layer allows access for network resources to users.</a:t>
            </a:r>
          </a:p>
          <a:p>
            <a:pPr algn="just"/>
            <a:r>
              <a:rPr lang="en-US" sz="2400" dirty="0"/>
              <a:t>It provides user interface and supports services like E-mail, remote file access, database management and other distributed information services.</a:t>
            </a:r>
          </a:p>
          <a:p>
            <a:pPr algn="just"/>
            <a:r>
              <a:rPr lang="en-US" sz="2400" dirty="0"/>
              <a:t>This layer taking care of availability of resources.</a:t>
            </a:r>
          </a:p>
          <a:p>
            <a:pPr algn="just"/>
            <a:r>
              <a:rPr lang="en-US" sz="2400" dirty="0"/>
              <a:t>The data unit at this layer is </a:t>
            </a:r>
            <a:r>
              <a:rPr lang="en-US" sz="2400" dirty="0">
                <a:sym typeface="Wingdings" pitchFamily="2" charset="2"/>
              </a:rPr>
              <a:t> ‘</a:t>
            </a:r>
            <a:r>
              <a:rPr lang="en-US" sz="2400" b="1" dirty="0">
                <a:sym typeface="Wingdings" pitchFamily="2" charset="2"/>
              </a:rPr>
              <a:t>data’.</a:t>
            </a: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122" name="Picture 2" descr="D:\my CUSP\CN\Figures frm Net\ApplicationLayer.png"/>
          <p:cNvPicPr>
            <a:picLocks noChangeAspect="1" noChangeArrowheads="1"/>
          </p:cNvPicPr>
          <p:nvPr/>
        </p:nvPicPr>
        <p:blipFill>
          <a:blip r:embed="rId3"/>
          <a:srcRect/>
          <a:stretch>
            <a:fillRect/>
          </a:stretch>
        </p:blipFill>
        <p:spPr bwMode="auto">
          <a:xfrm>
            <a:off x="533400" y="4572000"/>
            <a:ext cx="7779658" cy="22098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algn="just">
              <a:buFont typeface="Wingdings 3" pitchFamily="18" charset="2"/>
              <a:buChar char="Ê"/>
            </a:pPr>
            <a:r>
              <a:rPr lang="en-US" sz="2400" b="1" dirty="0"/>
              <a:t>Functions of Application layer</a:t>
            </a:r>
          </a:p>
          <a:p>
            <a:pPr marL="677863" algn="just">
              <a:buFont typeface="Courier New" pitchFamily="49" charset="0"/>
              <a:buChar char="o"/>
            </a:pPr>
            <a:r>
              <a:rPr lang="en-US" sz="2400" dirty="0">
                <a:sym typeface="Wingdings" pitchFamily="2" charset="2"/>
              </a:rPr>
              <a:t>Network Virtual Terminal: allows a user to log on to a remote host.</a:t>
            </a:r>
          </a:p>
          <a:p>
            <a:pPr marL="677863" algn="just">
              <a:buFont typeface="Courier New" pitchFamily="49" charset="0"/>
              <a:buChar char="o"/>
            </a:pPr>
            <a:r>
              <a:rPr lang="en-US" sz="2400" dirty="0">
                <a:sym typeface="Wingdings" pitchFamily="2" charset="2"/>
              </a:rPr>
              <a:t>Mail services: provides services like email storage and forwarding.</a:t>
            </a:r>
          </a:p>
          <a:p>
            <a:pPr marL="677863" algn="just">
              <a:buFont typeface="Courier New" pitchFamily="49" charset="0"/>
              <a:buChar char="o"/>
            </a:pPr>
            <a:r>
              <a:rPr lang="en-US" sz="2400" dirty="0">
                <a:sym typeface="Wingdings" pitchFamily="2" charset="2"/>
              </a:rPr>
              <a:t>Directory services: access of global information and distributed database.</a:t>
            </a:r>
          </a:p>
          <a:p>
            <a:pPr marL="401638" algn="just"/>
            <a:r>
              <a:rPr lang="en-US" sz="2400" dirty="0">
                <a:sym typeface="Wingdings" pitchFamily="2" charset="2"/>
              </a:rPr>
              <a:t>Hardware used at this layer are: gateway, application switch, proxy server, content filtering firewall, etc.</a:t>
            </a:r>
          </a:p>
          <a:p>
            <a:pPr marL="401638" algn="just"/>
            <a:r>
              <a:rPr lang="en-US" sz="2400" dirty="0">
                <a:sym typeface="Wingdings" pitchFamily="2" charset="2"/>
              </a:rPr>
              <a:t>Protocols and standards of this layer are: HTTP, FTP, DNS, SMTP, POP3, SNMP, TFTP, PING, DHCP etc.</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63DE8"/>
                </a:solidFill>
              </a:rPr>
              <a:t>Summary of Layer Functions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dirty="0"/>
          </a:p>
        </p:txBody>
      </p:sp>
      <p:pic>
        <p:nvPicPr>
          <p:cNvPr id="5" name="Picture 6"/>
          <p:cNvPicPr>
            <a:picLocks noGrp="1" noChangeArrowheads="1"/>
          </p:cNvPicPr>
          <p:nvPr>
            <p:ph idx="1"/>
          </p:nvPr>
        </p:nvPicPr>
        <p:blipFill>
          <a:blip r:embed="rId2"/>
          <a:srcRect/>
          <a:stretch>
            <a:fillRect/>
          </a:stretch>
        </p:blipFill>
        <p:spPr bwMode="auto">
          <a:xfrm>
            <a:off x="457200" y="1995675"/>
            <a:ext cx="8229600" cy="3735013"/>
          </a:xfrm>
          <a:prstGeom prst="rect">
            <a:avLst/>
          </a:prstGeom>
          <a:noFill/>
          <a:ln w="12700">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45322-6138-3B51-C2AE-718AFF7E209D}"/>
              </a:ext>
            </a:extLst>
          </p:cNvPr>
          <p:cNvSpPr>
            <a:spLocks noGrp="1"/>
          </p:cNvSpPr>
          <p:nvPr>
            <p:ph type="title"/>
          </p:nvPr>
        </p:nvSpPr>
        <p:spPr>
          <a:xfrm>
            <a:off x="431800" y="304800"/>
            <a:ext cx="8229600" cy="792162"/>
          </a:xfrm>
        </p:spPr>
        <p:txBody>
          <a:bodyPr>
            <a:noAutofit/>
          </a:bodyPr>
          <a:lstStyle/>
          <a:p>
            <a:r>
              <a:rPr lang="en-US" sz="3200" dirty="0">
                <a:solidFill>
                  <a:srgbClr val="0070C0"/>
                </a:solidFill>
              </a:rPr>
              <a:t>Comparison Physical, Logical and Port Addresses</a:t>
            </a:r>
            <a:endParaRPr lang="en-IN" sz="3200" dirty="0">
              <a:solidFill>
                <a:srgbClr val="0070C0"/>
              </a:solidFill>
            </a:endParaRPr>
          </a:p>
        </p:txBody>
      </p:sp>
      <p:graphicFrame>
        <p:nvGraphicFramePr>
          <p:cNvPr id="5" name="Content Placeholder 4">
            <a:extLst>
              <a:ext uri="{FF2B5EF4-FFF2-40B4-BE49-F238E27FC236}">
                <a16:creationId xmlns:a16="http://schemas.microsoft.com/office/drawing/2014/main" id="{B1CEB8FB-E209-6A7D-A397-646AC61D58AF}"/>
              </a:ext>
            </a:extLst>
          </p:cNvPr>
          <p:cNvGraphicFramePr>
            <a:graphicFrameLocks noGrp="1"/>
          </p:cNvGraphicFramePr>
          <p:nvPr>
            <p:ph idx="1"/>
            <p:extLst>
              <p:ext uri="{D42A27DB-BD31-4B8C-83A1-F6EECF244321}">
                <p14:modId xmlns:p14="http://schemas.microsoft.com/office/powerpoint/2010/main" val="825884664"/>
              </p:ext>
            </p:extLst>
          </p:nvPr>
        </p:nvGraphicFramePr>
        <p:xfrm>
          <a:off x="457200" y="1076642"/>
          <a:ext cx="8229600" cy="5611834"/>
        </p:xfrm>
        <a:graphic>
          <a:graphicData uri="http://schemas.openxmlformats.org/drawingml/2006/table">
            <a:tbl>
              <a:tblPr firstRow="1" firstCol="1" bandRow="1">
                <a:tableStyleId>{5C22544A-7EE6-4342-B048-85BDC9FD1C3A}</a:tableStyleId>
              </a:tblPr>
              <a:tblGrid>
                <a:gridCol w="2057400">
                  <a:extLst>
                    <a:ext uri="{9D8B030D-6E8A-4147-A177-3AD203B41FA5}">
                      <a16:colId xmlns:a16="http://schemas.microsoft.com/office/drawing/2014/main" val="1150066255"/>
                    </a:ext>
                  </a:extLst>
                </a:gridCol>
                <a:gridCol w="2057400">
                  <a:extLst>
                    <a:ext uri="{9D8B030D-6E8A-4147-A177-3AD203B41FA5}">
                      <a16:colId xmlns:a16="http://schemas.microsoft.com/office/drawing/2014/main" val="2641692109"/>
                    </a:ext>
                  </a:extLst>
                </a:gridCol>
                <a:gridCol w="2057400">
                  <a:extLst>
                    <a:ext uri="{9D8B030D-6E8A-4147-A177-3AD203B41FA5}">
                      <a16:colId xmlns:a16="http://schemas.microsoft.com/office/drawing/2014/main" val="3892452411"/>
                    </a:ext>
                  </a:extLst>
                </a:gridCol>
                <a:gridCol w="2057400">
                  <a:extLst>
                    <a:ext uri="{9D8B030D-6E8A-4147-A177-3AD203B41FA5}">
                      <a16:colId xmlns:a16="http://schemas.microsoft.com/office/drawing/2014/main" val="3247253178"/>
                    </a:ext>
                  </a:extLst>
                </a:gridCol>
              </a:tblGrid>
              <a:tr h="784483">
                <a:tc>
                  <a:txBody>
                    <a:bodyPr/>
                    <a:lstStyle/>
                    <a:p>
                      <a:pPr algn="ctr">
                        <a:lnSpc>
                          <a:spcPct val="107000"/>
                        </a:lnSpc>
                        <a:spcAft>
                          <a:spcPts val="800"/>
                        </a:spcAft>
                      </a:pPr>
                      <a:r>
                        <a:rPr lang="en-IN" sz="1600" kern="0" dirty="0">
                          <a:effectLst/>
                        </a:rPr>
                        <a:t>Features</a:t>
                      </a:r>
                    </a:p>
                    <a:p>
                      <a:pPr algn="ctr">
                        <a:lnSpc>
                          <a:spcPct val="107000"/>
                        </a:lnSpc>
                        <a:spcAft>
                          <a:spcPts val="800"/>
                        </a:spcAft>
                      </a:pPr>
                      <a:r>
                        <a:rPr lang="en-IN" sz="1600" kern="0" dirty="0">
                          <a:effectLst/>
                          <a:latin typeface="Calibri" panose="020F0502020204030204" pitchFamily="34" charset="0"/>
                          <a:ea typeface="Calibri" panose="020F0502020204030204" pitchFamily="34" charset="0"/>
                          <a:cs typeface="Shruti" panose="020B0502040204020203" pitchFamily="34" charset="0"/>
                        </a:rPr>
                        <a:t>(Criteria)</a:t>
                      </a: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dirty="0">
                          <a:effectLst/>
                        </a:rPr>
                        <a:t>Physical Address (MAC Address)</a:t>
                      </a: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Logical IPv4 Address</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Port Address</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extLst>
                  <a:ext uri="{0D108BD9-81ED-4DB2-BD59-A6C34878D82A}">
                    <a16:rowId xmlns:a16="http://schemas.microsoft.com/office/drawing/2014/main" val="533144650"/>
                  </a:ext>
                </a:extLst>
              </a:tr>
              <a:tr h="404912">
                <a:tc>
                  <a:txBody>
                    <a:bodyPr/>
                    <a:lstStyle/>
                    <a:p>
                      <a:pPr algn="ctr">
                        <a:lnSpc>
                          <a:spcPct val="107000"/>
                        </a:lnSpc>
                        <a:spcAft>
                          <a:spcPts val="800"/>
                        </a:spcAft>
                      </a:pPr>
                      <a:r>
                        <a:rPr lang="en-IN" sz="1600" kern="0">
                          <a:effectLst/>
                        </a:rPr>
                        <a:t>Layer in OSI Model</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dirty="0">
                          <a:effectLst/>
                        </a:rPr>
                        <a:t>Data Link Layer</a:t>
                      </a:r>
                    </a:p>
                    <a:p>
                      <a:pPr algn="ctr">
                        <a:lnSpc>
                          <a:spcPct val="107000"/>
                        </a:lnSpc>
                        <a:spcAft>
                          <a:spcPts val="800"/>
                        </a:spcAft>
                      </a:pPr>
                      <a:r>
                        <a:rPr lang="en-IN" sz="1600" kern="0" dirty="0">
                          <a:effectLst/>
                        </a:rPr>
                        <a:t> (Layer 2)</a:t>
                      </a: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dirty="0">
                          <a:effectLst/>
                        </a:rPr>
                        <a:t>Network Layer </a:t>
                      </a:r>
                    </a:p>
                    <a:p>
                      <a:pPr algn="ctr">
                        <a:lnSpc>
                          <a:spcPct val="107000"/>
                        </a:lnSpc>
                        <a:spcAft>
                          <a:spcPts val="800"/>
                        </a:spcAft>
                      </a:pPr>
                      <a:r>
                        <a:rPr lang="en-IN" sz="1600" kern="0" dirty="0">
                          <a:effectLst/>
                        </a:rPr>
                        <a:t>(Layer 3)</a:t>
                      </a: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dirty="0">
                          <a:effectLst/>
                        </a:rPr>
                        <a:t>Transport Layer </a:t>
                      </a:r>
                    </a:p>
                    <a:p>
                      <a:pPr algn="ctr">
                        <a:lnSpc>
                          <a:spcPct val="107000"/>
                        </a:lnSpc>
                        <a:spcAft>
                          <a:spcPts val="800"/>
                        </a:spcAft>
                      </a:pPr>
                      <a:r>
                        <a:rPr lang="en-IN" sz="1600" kern="0" dirty="0">
                          <a:effectLst/>
                        </a:rPr>
                        <a:t>(Layer 4)</a:t>
                      </a: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extLst>
                  <a:ext uri="{0D108BD9-81ED-4DB2-BD59-A6C34878D82A}">
                    <a16:rowId xmlns:a16="http://schemas.microsoft.com/office/drawing/2014/main" val="2144078582"/>
                  </a:ext>
                </a:extLst>
              </a:tr>
              <a:tr h="404912">
                <a:tc>
                  <a:txBody>
                    <a:bodyPr/>
                    <a:lstStyle/>
                    <a:p>
                      <a:pPr algn="ctr">
                        <a:lnSpc>
                          <a:spcPct val="107000"/>
                        </a:lnSpc>
                        <a:spcAft>
                          <a:spcPts val="800"/>
                        </a:spcAft>
                      </a:pPr>
                      <a:r>
                        <a:rPr lang="en-IN" sz="1600" kern="0">
                          <a:effectLst/>
                        </a:rPr>
                        <a:t>Scope</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Local network segment</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Across networks and internet</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Within device and network</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extLst>
                  <a:ext uri="{0D108BD9-81ED-4DB2-BD59-A6C34878D82A}">
                    <a16:rowId xmlns:a16="http://schemas.microsoft.com/office/drawing/2014/main" val="3439563474"/>
                  </a:ext>
                </a:extLst>
              </a:tr>
              <a:tr h="784483">
                <a:tc>
                  <a:txBody>
                    <a:bodyPr/>
                    <a:lstStyle/>
                    <a:p>
                      <a:pPr algn="ctr">
                        <a:lnSpc>
                          <a:spcPct val="107000"/>
                        </a:lnSpc>
                        <a:spcAft>
                          <a:spcPts val="800"/>
                        </a:spcAft>
                      </a:pPr>
                      <a:r>
                        <a:rPr lang="en-IN" sz="1600" kern="0">
                          <a:effectLst/>
                        </a:rPr>
                        <a:t>Format</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Hexadecimal separated by colons or hyphens</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dirty="0">
                          <a:effectLst/>
                        </a:rPr>
                        <a:t>Decimal separated by periods</a:t>
                      </a: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16-bit unsigned integer</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extLst>
                  <a:ext uri="{0D108BD9-81ED-4DB2-BD59-A6C34878D82A}">
                    <a16:rowId xmlns:a16="http://schemas.microsoft.com/office/drawing/2014/main" val="1336727391"/>
                  </a:ext>
                </a:extLst>
              </a:tr>
              <a:tr h="784483">
                <a:tc>
                  <a:txBody>
                    <a:bodyPr/>
                    <a:lstStyle/>
                    <a:p>
                      <a:pPr algn="ctr">
                        <a:lnSpc>
                          <a:spcPct val="107000"/>
                        </a:lnSpc>
                        <a:spcAft>
                          <a:spcPts val="800"/>
                        </a:spcAft>
                      </a:pPr>
                      <a:r>
                        <a:rPr lang="en-IN" sz="1600" kern="0">
                          <a:effectLst/>
                        </a:rPr>
                        <a:t>Uniqueness</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Globally unique</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Unique within a network</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Unique within a device and network</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extLst>
                  <a:ext uri="{0D108BD9-81ED-4DB2-BD59-A6C34878D82A}">
                    <a16:rowId xmlns:a16="http://schemas.microsoft.com/office/drawing/2014/main" val="2421249281"/>
                  </a:ext>
                </a:extLst>
              </a:tr>
              <a:tr h="784483">
                <a:tc>
                  <a:txBody>
                    <a:bodyPr/>
                    <a:lstStyle/>
                    <a:p>
                      <a:pPr algn="ctr">
                        <a:lnSpc>
                          <a:spcPct val="107000"/>
                        </a:lnSpc>
                        <a:spcAft>
                          <a:spcPts val="800"/>
                        </a:spcAft>
                      </a:pPr>
                      <a:r>
                        <a:rPr lang="en-IN" sz="1600" kern="0">
                          <a:effectLst/>
                        </a:rPr>
                        <a:t>Assignment</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Hardcoded into hardware</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Dynamically assigned</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Not hardcoded, assigned dynamically</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extLst>
                  <a:ext uri="{0D108BD9-81ED-4DB2-BD59-A6C34878D82A}">
                    <a16:rowId xmlns:a16="http://schemas.microsoft.com/office/drawing/2014/main" val="2128314352"/>
                  </a:ext>
                </a:extLst>
              </a:tr>
              <a:tr h="784483">
                <a:tc>
                  <a:txBody>
                    <a:bodyPr/>
                    <a:lstStyle/>
                    <a:p>
                      <a:pPr algn="ctr">
                        <a:lnSpc>
                          <a:spcPct val="107000"/>
                        </a:lnSpc>
                        <a:spcAft>
                          <a:spcPts val="800"/>
                        </a:spcAft>
                      </a:pPr>
                      <a:r>
                        <a:rPr lang="en-IN" sz="1600" kern="0">
                          <a:effectLst/>
                        </a:rPr>
                        <a:t>Purpose</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Identifies network interface</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Identifies device on a network</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Identifies service or application</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extLst>
                  <a:ext uri="{0D108BD9-81ED-4DB2-BD59-A6C34878D82A}">
                    <a16:rowId xmlns:a16="http://schemas.microsoft.com/office/drawing/2014/main" val="1464867958"/>
                  </a:ext>
                </a:extLst>
              </a:tr>
              <a:tr h="404912">
                <a:tc>
                  <a:txBody>
                    <a:bodyPr/>
                    <a:lstStyle/>
                    <a:p>
                      <a:pPr algn="ctr">
                        <a:lnSpc>
                          <a:spcPct val="107000"/>
                        </a:lnSpc>
                        <a:spcAft>
                          <a:spcPts val="800"/>
                        </a:spcAft>
                      </a:pPr>
                      <a:r>
                        <a:rPr lang="en-IN" sz="1600" kern="0">
                          <a:effectLst/>
                        </a:rPr>
                        <a:t>Examples</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00:1A:2B:3C:4D:5E</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a:effectLst/>
                        </a:rPr>
                        <a:t>192.168.1.1</a:t>
                      </a:r>
                      <a:endParaRPr lang="en-IN" sz="1800" kern="10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tc>
                  <a:txBody>
                    <a:bodyPr/>
                    <a:lstStyle/>
                    <a:p>
                      <a:pPr algn="ctr">
                        <a:lnSpc>
                          <a:spcPct val="107000"/>
                        </a:lnSpc>
                        <a:spcAft>
                          <a:spcPts val="800"/>
                        </a:spcAft>
                      </a:pPr>
                      <a:r>
                        <a:rPr lang="en-IN" sz="1600" kern="0" dirty="0">
                          <a:effectLst/>
                        </a:rPr>
                        <a:t>80 (HTTP), 443 (HTTPS), etc.</a:t>
                      </a:r>
                      <a:endParaRPr lang="en-IN" sz="1800" kern="100" dirty="0">
                        <a:effectLst/>
                        <a:latin typeface="Calibri" panose="020F0502020204030204" pitchFamily="34" charset="0"/>
                        <a:ea typeface="Calibri" panose="020F0502020204030204" pitchFamily="34" charset="0"/>
                        <a:cs typeface="Shruti" panose="020B0502040204020203" pitchFamily="34" charset="0"/>
                      </a:endParaRPr>
                    </a:p>
                  </a:txBody>
                  <a:tcPr marL="9525" marR="9525" marT="9525" marB="9525" anchor="ctr"/>
                </a:tc>
                <a:extLst>
                  <a:ext uri="{0D108BD9-81ED-4DB2-BD59-A6C34878D82A}">
                    <a16:rowId xmlns:a16="http://schemas.microsoft.com/office/drawing/2014/main" val="3687518097"/>
                  </a:ext>
                </a:extLst>
              </a:tr>
            </a:tbl>
          </a:graphicData>
        </a:graphic>
      </p:graphicFrame>
      <p:sp>
        <p:nvSpPr>
          <p:cNvPr id="4" name="Slide Number Placeholder 3">
            <a:extLst>
              <a:ext uri="{FF2B5EF4-FFF2-40B4-BE49-F238E27FC236}">
                <a16:creationId xmlns:a16="http://schemas.microsoft.com/office/drawing/2014/main" id="{B49288A9-0F77-2FB3-4674-19CBD1AA4542}"/>
              </a:ext>
            </a:extLst>
          </p:cNvPr>
          <p:cNvSpPr>
            <a:spLocks noGrp="1"/>
          </p:cNvSpPr>
          <p:nvPr>
            <p:ph type="sldNum" sz="quarter" idx="12"/>
          </p:nvPr>
        </p:nvSpPr>
        <p:spPr/>
        <p:txBody>
          <a:bodyPr/>
          <a:lstStyle/>
          <a:p>
            <a:fld id="{B6F15528-21DE-4FAA-801E-634DDDAF4B2B}" type="slidenum">
              <a:rPr lang="en-US" smtClean="0"/>
              <a:pPr/>
              <a:t>29</a:t>
            </a:fld>
            <a:endParaRPr lang="en-US" dirty="0"/>
          </a:p>
        </p:txBody>
      </p:sp>
    </p:spTree>
    <p:extLst>
      <p:ext uri="{BB962C8B-B14F-4D97-AF65-F5344CB8AC3E}">
        <p14:creationId xmlns:p14="http://schemas.microsoft.com/office/powerpoint/2010/main" val="2245038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a:t>
            </a:r>
          </a:p>
        </p:txBody>
      </p:sp>
      <p:sp>
        <p:nvSpPr>
          <p:cNvPr id="3" name="Content Placeholder 2"/>
          <p:cNvSpPr>
            <a:spLocks noGrp="1"/>
          </p:cNvSpPr>
          <p:nvPr>
            <p:ph idx="1"/>
          </p:nvPr>
        </p:nvSpPr>
        <p:spPr/>
        <p:txBody>
          <a:bodyPr/>
          <a:lstStyle/>
          <a:p>
            <a:r>
              <a:rPr lang="en-US" dirty="0"/>
              <a:t>After completion of this session, students will be able to </a:t>
            </a:r>
            <a:r>
              <a:rPr lang="en-US" i="1" dirty="0">
                <a:solidFill>
                  <a:srgbClr val="FF0000"/>
                </a:solidFill>
              </a:rPr>
              <a:t>Compare OSI and TCP/IP model</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534400" cy="5867400"/>
          </a:xfrm>
        </p:spPr>
        <p:txBody>
          <a:bodyPr>
            <a:normAutofit/>
          </a:bodyPr>
          <a:lstStyle/>
          <a:p>
            <a:pPr lvl="0" algn="just">
              <a:spcBef>
                <a:spcPts val="400"/>
              </a:spcBef>
              <a:spcAft>
                <a:spcPts val="200"/>
              </a:spcAft>
            </a:pPr>
            <a:r>
              <a:rPr lang="en-US" sz="2400" dirty="0">
                <a:sym typeface="Wingdings" pitchFamily="2" charset="2"/>
              </a:rPr>
              <a:t>TCP/IP stands for Transmission Control Protocol / Internet Protocol.</a:t>
            </a:r>
          </a:p>
          <a:p>
            <a:pPr lvl="0" algn="just">
              <a:spcBef>
                <a:spcPts val="400"/>
              </a:spcBef>
              <a:spcAft>
                <a:spcPts val="200"/>
              </a:spcAft>
            </a:pPr>
            <a:r>
              <a:rPr lang="en-US" sz="2400" dirty="0">
                <a:sym typeface="Wingdings" pitchFamily="2" charset="2"/>
              </a:rPr>
              <a:t>TCP/IP model </a:t>
            </a:r>
            <a:r>
              <a:rPr lang="en-US" sz="2400" dirty="0"/>
              <a:t>was developed before to the OSI model.</a:t>
            </a:r>
          </a:p>
          <a:p>
            <a:pPr algn="just"/>
            <a:r>
              <a:rPr lang="en-US" sz="2400" dirty="0"/>
              <a:t>Therefore, the layers in the TCP/IP protocol suite do not exactly match those in the OSI model.</a:t>
            </a:r>
          </a:p>
          <a:p>
            <a:pPr algn="just"/>
            <a:r>
              <a:rPr lang="en-US" sz="2400" dirty="0"/>
              <a:t>This model consist of set of protocols that allow communication across multiple different networks.</a:t>
            </a:r>
          </a:p>
          <a:p>
            <a:pPr algn="just"/>
            <a:r>
              <a:rPr lang="en-US" sz="2400" dirty="0">
                <a:sym typeface="Wingdings" pitchFamily="2" charset="2"/>
              </a:rPr>
              <a:t>There are mainly four layers in this model  Host-to-network layer (Link layer), Internet layer , Transport layer and Application layer.</a:t>
            </a:r>
          </a:p>
          <a:p>
            <a:pPr algn="just"/>
            <a:r>
              <a:rPr lang="en-US" sz="2400" dirty="0">
                <a:sym typeface="Wingdings" pitchFamily="2" charset="2"/>
              </a:rPr>
              <a:t>The first two layers (physical and data link) of OSI model are represented as host-to-network (link) layer in TCP/IP model and last three layers (session, presentation, application) of OSI model  are represented as application layer in TCP/IP model.</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dirty="0"/>
          </a:p>
        </p:txBody>
      </p:sp>
      <p:sp>
        <p:nvSpPr>
          <p:cNvPr id="6" name="Rounded Rectangle 5"/>
          <p:cNvSpPr/>
          <p:nvPr/>
        </p:nvSpPr>
        <p:spPr>
          <a:xfrm>
            <a:off x="533400" y="152400"/>
            <a:ext cx="8153400" cy="533400"/>
          </a:xfrm>
          <a:prstGeom prst="roundRect">
            <a:avLst/>
          </a:prstGeom>
          <a:gradFill flip="none" rotWithShape="1">
            <a:gsLst>
              <a:gs pos="19000">
                <a:schemeClr val="accent5">
                  <a:lumMod val="40000"/>
                  <a:lumOff val="60000"/>
                </a:schemeClr>
              </a:gs>
              <a:gs pos="73000">
                <a:srgbClr val="7FF84E"/>
              </a:gs>
              <a:gs pos="45000">
                <a:srgbClr val="FF66FF"/>
              </a:gs>
              <a:gs pos="21001">
                <a:srgbClr val="83A7C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rgbClr val="C00000"/>
                </a:solidFill>
              </a:rPr>
              <a:t>2.2 TCP/IP Model (Internet Model)</a:t>
            </a:r>
            <a:endParaRPr lang="en-US" sz="2800" b="1" dirty="0">
              <a:solidFill>
                <a:srgbClr val="C00000"/>
              </a:solidFill>
            </a:endParaRP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TextBox 5"/>
          <p:cNvSpPr txBox="1"/>
          <p:nvPr/>
        </p:nvSpPr>
        <p:spPr>
          <a:xfrm>
            <a:off x="2971800" y="6229290"/>
            <a:ext cx="3124200" cy="400110"/>
          </a:xfrm>
          <a:prstGeom prst="rect">
            <a:avLst/>
          </a:prstGeom>
          <a:noFill/>
          <a:ln>
            <a:solidFill>
              <a:schemeClr val="accent1"/>
            </a:solidFill>
          </a:ln>
        </p:spPr>
        <p:txBody>
          <a:bodyPr wrap="square" rtlCol="0">
            <a:spAutoFit/>
          </a:bodyPr>
          <a:lstStyle/>
          <a:p>
            <a:pPr algn="ctr"/>
            <a:r>
              <a:rPr lang="en-US" sz="2000" b="1" dirty="0"/>
              <a:t>TCP  / IP model</a:t>
            </a:r>
          </a:p>
        </p:txBody>
      </p:sp>
      <p:pic>
        <p:nvPicPr>
          <p:cNvPr id="1026" name="Picture 2" descr="D:\my CUSP\CN\Figures frm Net\tcp-ip good.jpg"/>
          <p:cNvPicPr>
            <a:picLocks noChangeAspect="1" noChangeArrowheads="1"/>
          </p:cNvPicPr>
          <p:nvPr/>
        </p:nvPicPr>
        <p:blipFill>
          <a:blip r:embed="rId3"/>
          <a:srcRect/>
          <a:stretch>
            <a:fillRect/>
          </a:stretch>
        </p:blipFill>
        <p:spPr bwMode="auto">
          <a:xfrm>
            <a:off x="859972" y="228600"/>
            <a:ext cx="7424056" cy="5823857"/>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TextBox 5"/>
          <p:cNvSpPr txBox="1"/>
          <p:nvPr/>
        </p:nvSpPr>
        <p:spPr>
          <a:xfrm>
            <a:off x="2971800" y="6229290"/>
            <a:ext cx="3124200" cy="400110"/>
          </a:xfrm>
          <a:prstGeom prst="rect">
            <a:avLst/>
          </a:prstGeom>
          <a:noFill/>
          <a:ln>
            <a:solidFill>
              <a:schemeClr val="accent1"/>
            </a:solidFill>
          </a:ln>
        </p:spPr>
        <p:txBody>
          <a:bodyPr wrap="square" rtlCol="0">
            <a:spAutoFit/>
          </a:bodyPr>
          <a:lstStyle/>
          <a:p>
            <a:pPr algn="ctr"/>
            <a:r>
              <a:rPr lang="en-US" sz="2000" b="1" dirty="0"/>
              <a:t>TCP  / IP model (2)</a:t>
            </a:r>
          </a:p>
        </p:txBody>
      </p:sp>
      <p:pic>
        <p:nvPicPr>
          <p:cNvPr id="2050" name="Picture 2" descr="D:\my CUSP\CN\Figures frm Net\tcp-ip2.gif"/>
          <p:cNvPicPr>
            <a:picLocks noChangeAspect="1" noChangeArrowheads="1"/>
          </p:cNvPicPr>
          <p:nvPr/>
        </p:nvPicPr>
        <p:blipFill>
          <a:blip r:embed="rId3"/>
          <a:srcRect/>
          <a:stretch>
            <a:fillRect/>
          </a:stretch>
        </p:blipFill>
        <p:spPr bwMode="auto">
          <a:xfrm>
            <a:off x="1524000" y="878114"/>
            <a:ext cx="5867400" cy="4989286"/>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lnSpcReduction="10000"/>
          </a:bodyPr>
          <a:lstStyle/>
          <a:p>
            <a:pPr lvl="0" algn="just">
              <a:spcBef>
                <a:spcPts val="400"/>
              </a:spcBef>
              <a:spcAft>
                <a:spcPts val="200"/>
              </a:spcAft>
              <a:buNone/>
            </a:pPr>
            <a:r>
              <a:rPr lang="en-US" sz="2400" b="1" dirty="0"/>
              <a:t>Following are the functions of each layer</a:t>
            </a:r>
          </a:p>
          <a:p>
            <a:pPr lvl="0" algn="just">
              <a:spcBef>
                <a:spcPts val="400"/>
              </a:spcBef>
              <a:spcAft>
                <a:spcPts val="200"/>
              </a:spcAft>
              <a:buFont typeface="Wingdings" pitchFamily="2" charset="2"/>
              <a:buChar char="v"/>
            </a:pPr>
            <a:r>
              <a:rPr lang="en-US" sz="2400" b="1" dirty="0">
                <a:solidFill>
                  <a:srgbClr val="FF0000"/>
                </a:solidFill>
              </a:rPr>
              <a:t>Link layer (host-to-network) layer</a:t>
            </a:r>
          </a:p>
          <a:p>
            <a:pPr lvl="0" algn="just">
              <a:spcBef>
                <a:spcPts val="400"/>
              </a:spcBef>
              <a:spcAft>
                <a:spcPts val="200"/>
              </a:spcAft>
            </a:pPr>
            <a:r>
              <a:rPr lang="en-US" sz="2400" dirty="0"/>
              <a:t>It is also called ‘network interface layer’.</a:t>
            </a:r>
          </a:p>
          <a:p>
            <a:pPr lvl="0" algn="just">
              <a:spcBef>
                <a:spcPts val="400"/>
              </a:spcBef>
              <a:spcAft>
                <a:spcPts val="200"/>
              </a:spcAft>
            </a:pPr>
            <a:r>
              <a:rPr lang="en-US" sz="2400" dirty="0"/>
              <a:t>This layer provides mechanism of sending and receiving actual data.</a:t>
            </a:r>
          </a:p>
          <a:p>
            <a:pPr lvl="0" algn="just">
              <a:spcBef>
                <a:spcPts val="400"/>
              </a:spcBef>
              <a:spcAft>
                <a:spcPts val="200"/>
              </a:spcAft>
            </a:pPr>
            <a:r>
              <a:rPr lang="en-US" sz="2400" dirty="0"/>
              <a:t>This layer is independent of network architecture and hardware.</a:t>
            </a:r>
          </a:p>
          <a:p>
            <a:pPr lvl="0" algn="just">
              <a:spcBef>
                <a:spcPts val="400"/>
              </a:spcBef>
              <a:spcAft>
                <a:spcPts val="200"/>
              </a:spcAft>
            </a:pPr>
            <a:r>
              <a:rPr lang="en-US" sz="2400" dirty="0"/>
              <a:t>It controls hardware and media communication in the network.</a:t>
            </a:r>
          </a:p>
          <a:p>
            <a:pPr lvl="0" algn="just">
              <a:spcBef>
                <a:spcPts val="400"/>
              </a:spcBef>
              <a:spcAft>
                <a:spcPts val="200"/>
              </a:spcAft>
              <a:buFont typeface="Wingdings" pitchFamily="2" charset="2"/>
              <a:buChar char="v"/>
            </a:pPr>
            <a:r>
              <a:rPr lang="en-US" sz="2400" b="1" dirty="0">
                <a:solidFill>
                  <a:srgbClr val="FF0000"/>
                </a:solidFill>
              </a:rPr>
              <a:t>Network layer (IP layer)</a:t>
            </a:r>
          </a:p>
          <a:p>
            <a:pPr lvl="0" algn="just">
              <a:spcBef>
                <a:spcPts val="400"/>
              </a:spcBef>
              <a:spcAft>
                <a:spcPts val="200"/>
              </a:spcAft>
            </a:pPr>
            <a:r>
              <a:rPr lang="en-US" sz="2400" dirty="0"/>
              <a:t>This layer defines the host addressing and routing.</a:t>
            </a:r>
          </a:p>
          <a:p>
            <a:pPr lvl="0" algn="just">
              <a:spcBef>
                <a:spcPts val="400"/>
              </a:spcBef>
              <a:spcAft>
                <a:spcPts val="200"/>
              </a:spcAft>
            </a:pPr>
            <a:r>
              <a:rPr lang="en-US" sz="2400" dirty="0"/>
              <a:t>It finds best path across networks.</a:t>
            </a:r>
          </a:p>
          <a:p>
            <a:pPr lvl="0" algn="just">
              <a:spcBef>
                <a:spcPts val="400"/>
              </a:spcBef>
              <a:spcAft>
                <a:spcPts val="200"/>
              </a:spcAft>
            </a:pPr>
            <a:r>
              <a:rPr lang="en-US" sz="2400" dirty="0"/>
              <a:t>IP (internet protocol) works on this layer. Including IP, this layer functioning with four supportive layers: ARP, RARP, ICMP and IGMP.</a:t>
            </a:r>
          </a:p>
          <a:p>
            <a:pPr lvl="0" algn="just">
              <a:spcBef>
                <a:spcPts val="400"/>
              </a:spcBef>
              <a:spcAft>
                <a:spcPts val="200"/>
              </a:spcAft>
            </a:pPr>
            <a:r>
              <a:rPr lang="en-US" sz="2400" dirty="0"/>
              <a:t>Packets in the IP layer called ‘</a:t>
            </a:r>
            <a:r>
              <a:rPr lang="en-US" sz="2400" b="1" i="1" dirty="0">
                <a:solidFill>
                  <a:srgbClr val="FF0000"/>
                </a:solidFill>
              </a:rPr>
              <a:t>datagram</a:t>
            </a:r>
            <a:r>
              <a:rPr lang="en-US" sz="2400" dirty="0"/>
              <a:t>’.</a:t>
            </a:r>
          </a:p>
          <a:p>
            <a:pPr lvl="0" algn="just">
              <a:spcBef>
                <a:spcPts val="400"/>
              </a:spcBef>
              <a:spcAft>
                <a:spcPts val="200"/>
              </a:spcAft>
            </a:pPr>
            <a:r>
              <a:rPr lang="en-US" sz="2400" dirty="0"/>
              <a:t>The function of network layer is explained by following protocols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3" pitchFamily="18" charset="2"/>
              <a:buChar char="Ê"/>
            </a:pPr>
            <a:r>
              <a:rPr lang="en-US" sz="2400" b="1" dirty="0"/>
              <a:t>IP (Internetwork protocol)</a:t>
            </a:r>
          </a:p>
          <a:p>
            <a:pPr lvl="0" algn="just">
              <a:spcBef>
                <a:spcPts val="400"/>
              </a:spcBef>
              <a:spcAft>
                <a:spcPts val="200"/>
              </a:spcAft>
            </a:pPr>
            <a:r>
              <a:rPr lang="en-US" sz="2400" dirty="0"/>
              <a:t>It is connection less and unreliable protocol.</a:t>
            </a:r>
          </a:p>
          <a:p>
            <a:pPr lvl="0" algn="just">
              <a:spcBef>
                <a:spcPts val="400"/>
              </a:spcBef>
              <a:spcAft>
                <a:spcPts val="200"/>
              </a:spcAft>
            </a:pPr>
            <a:r>
              <a:rPr lang="en-US" sz="2400" dirty="0"/>
              <a:t>It doesn’t provide error checking and packet tracing.</a:t>
            </a:r>
          </a:p>
          <a:p>
            <a:pPr lvl="0" algn="just">
              <a:spcBef>
                <a:spcPts val="400"/>
              </a:spcBef>
              <a:spcAft>
                <a:spcPts val="200"/>
              </a:spcAft>
              <a:buFont typeface="Wingdings 3" pitchFamily="18" charset="2"/>
              <a:buChar char="Ê"/>
            </a:pPr>
            <a:r>
              <a:rPr lang="en-US" sz="2400" b="1" dirty="0"/>
              <a:t>ARP (Address Resolution Protocol)</a:t>
            </a:r>
          </a:p>
          <a:p>
            <a:pPr lvl="0" algn="just">
              <a:spcBef>
                <a:spcPts val="400"/>
              </a:spcBef>
              <a:spcAft>
                <a:spcPts val="200"/>
              </a:spcAft>
            </a:pPr>
            <a:r>
              <a:rPr lang="en-US" sz="2400" dirty="0"/>
              <a:t>ARP is used to find the physical address of the node when the logical address (IP address) is known.</a:t>
            </a:r>
          </a:p>
          <a:p>
            <a:pPr lvl="0" algn="just">
              <a:spcBef>
                <a:spcPts val="400"/>
              </a:spcBef>
              <a:spcAft>
                <a:spcPts val="200"/>
              </a:spcAft>
              <a:buFont typeface="Wingdings 3" pitchFamily="18" charset="2"/>
              <a:buChar char="Ê"/>
            </a:pPr>
            <a:r>
              <a:rPr lang="en-US" sz="2400" b="1" dirty="0"/>
              <a:t>RARP (Reverse</a:t>
            </a:r>
            <a:r>
              <a:rPr lang="en-US" sz="2400" dirty="0"/>
              <a:t> </a:t>
            </a:r>
            <a:r>
              <a:rPr lang="en-US" sz="2400" b="1" dirty="0"/>
              <a:t>Address Resolution Protocol)</a:t>
            </a:r>
          </a:p>
          <a:p>
            <a:pPr lvl="0" algn="just">
              <a:spcBef>
                <a:spcPts val="400"/>
              </a:spcBef>
              <a:spcAft>
                <a:spcPts val="200"/>
              </a:spcAft>
            </a:pPr>
            <a:r>
              <a:rPr lang="en-US" sz="2400" dirty="0"/>
              <a:t>It is used to find the logical address of the node when its physical address is known.</a:t>
            </a:r>
          </a:p>
          <a:p>
            <a:pPr lvl="0" algn="just">
              <a:spcBef>
                <a:spcPts val="400"/>
              </a:spcBef>
              <a:spcAft>
                <a:spcPts val="200"/>
              </a:spcAft>
              <a:buFont typeface="Wingdings 3" pitchFamily="18" charset="2"/>
              <a:buChar char="Ê"/>
            </a:pPr>
            <a:r>
              <a:rPr lang="en-US" sz="2400" b="1" dirty="0"/>
              <a:t>ICMP (Internet Control Message Protocol)</a:t>
            </a:r>
          </a:p>
          <a:p>
            <a:pPr lvl="0" algn="just">
              <a:spcBef>
                <a:spcPts val="400"/>
              </a:spcBef>
              <a:spcAft>
                <a:spcPts val="200"/>
              </a:spcAft>
            </a:pPr>
            <a:r>
              <a:rPr lang="en-US" sz="2400" dirty="0"/>
              <a:t>It is network diagnostic and error reporting protocol.</a:t>
            </a:r>
          </a:p>
          <a:p>
            <a:pPr lvl="0" algn="just">
              <a:spcBef>
                <a:spcPts val="400"/>
              </a:spcBef>
              <a:spcAft>
                <a:spcPts val="200"/>
              </a:spcAft>
              <a:buFont typeface="Wingdings 3" pitchFamily="18" charset="2"/>
              <a:buChar char="Ê"/>
            </a:pPr>
            <a:r>
              <a:rPr lang="en-US" sz="2400" b="1" dirty="0"/>
              <a:t>IGMP (Internet Group Message Protocol)</a:t>
            </a:r>
          </a:p>
          <a:p>
            <a:pPr lvl="0" algn="just">
              <a:spcBef>
                <a:spcPts val="400"/>
              </a:spcBef>
              <a:spcAft>
                <a:spcPts val="200"/>
              </a:spcAft>
            </a:pPr>
            <a:r>
              <a:rPr lang="en-US" sz="2400" dirty="0"/>
              <a:t>It is used provide facility for multicast transmission.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35</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pitchFamily="2" charset="2"/>
              <a:buChar char="v"/>
            </a:pPr>
            <a:r>
              <a:rPr lang="en-US" sz="2400" b="1" dirty="0">
                <a:solidFill>
                  <a:srgbClr val="FF0000"/>
                </a:solidFill>
              </a:rPr>
              <a:t>Transport layer</a:t>
            </a:r>
          </a:p>
          <a:p>
            <a:pPr lvl="0" algn="just">
              <a:spcBef>
                <a:spcPts val="400"/>
              </a:spcBef>
              <a:spcAft>
                <a:spcPts val="200"/>
              </a:spcAft>
            </a:pPr>
            <a:r>
              <a:rPr lang="en-US" sz="2400" i="1" dirty="0">
                <a:solidFill>
                  <a:srgbClr val="0070C0"/>
                </a:solidFill>
              </a:rPr>
              <a:t>It supports communication of multiple devices across different networks.</a:t>
            </a:r>
          </a:p>
          <a:p>
            <a:pPr lvl="0" algn="just">
              <a:spcBef>
                <a:spcPts val="400"/>
              </a:spcBef>
              <a:spcAft>
                <a:spcPts val="200"/>
              </a:spcAft>
            </a:pPr>
            <a:r>
              <a:rPr lang="en-US" sz="2400" dirty="0"/>
              <a:t>It also defines how data should flow between different hosts.</a:t>
            </a:r>
          </a:p>
          <a:p>
            <a:pPr lvl="0" algn="just">
              <a:spcBef>
                <a:spcPts val="400"/>
              </a:spcBef>
              <a:spcAft>
                <a:spcPts val="200"/>
              </a:spcAft>
            </a:pPr>
            <a:r>
              <a:rPr lang="en-US" sz="2400" dirty="0"/>
              <a:t>This layer ensures data delivery between hosts is in order or not and also it is responsible for end-to-end delivery.</a:t>
            </a:r>
          </a:p>
          <a:p>
            <a:pPr lvl="0" algn="just">
              <a:spcBef>
                <a:spcPts val="400"/>
              </a:spcBef>
              <a:spcAft>
                <a:spcPts val="200"/>
              </a:spcAft>
            </a:pPr>
            <a:r>
              <a:rPr lang="en-US" sz="2400" dirty="0"/>
              <a:t>Major protocols of this layer are: TCP and UDP. Both these protocols are used for port-to-port communication.</a:t>
            </a:r>
          </a:p>
          <a:p>
            <a:pPr lvl="0" algn="just">
              <a:spcBef>
                <a:spcPts val="400"/>
              </a:spcBef>
              <a:spcAft>
                <a:spcPts val="200"/>
              </a:spcAft>
              <a:buFont typeface="Wingdings 3" pitchFamily="18" charset="2"/>
              <a:buChar char="Ê"/>
            </a:pPr>
            <a:r>
              <a:rPr lang="en-US" sz="2400" b="1" dirty="0"/>
              <a:t>TCP (Transmission Control Protocol)</a:t>
            </a:r>
          </a:p>
          <a:p>
            <a:pPr lvl="0" algn="just">
              <a:spcBef>
                <a:spcPts val="400"/>
              </a:spcBef>
              <a:spcAft>
                <a:spcPts val="200"/>
              </a:spcAft>
            </a:pPr>
            <a:r>
              <a:rPr lang="en-US" sz="2400" dirty="0"/>
              <a:t>It provides full transport layer services to application.</a:t>
            </a:r>
          </a:p>
          <a:p>
            <a:pPr lvl="0" algn="just">
              <a:spcBef>
                <a:spcPts val="400"/>
              </a:spcBef>
              <a:spcAft>
                <a:spcPts val="200"/>
              </a:spcAft>
            </a:pPr>
            <a:r>
              <a:rPr lang="en-US" sz="2400" dirty="0"/>
              <a:t>It is </a:t>
            </a:r>
            <a:r>
              <a:rPr lang="en-US" sz="2400" b="1" i="1" dirty="0">
                <a:solidFill>
                  <a:srgbClr val="0070C0"/>
                </a:solidFill>
              </a:rPr>
              <a:t>connection oriented and reliable </a:t>
            </a:r>
            <a:r>
              <a:rPr lang="en-US" sz="2400" dirty="0"/>
              <a:t>protocol. Means a connection must be established between both ends before transmission.</a:t>
            </a:r>
          </a:p>
          <a:p>
            <a:pPr lvl="0" algn="just">
              <a:spcBef>
                <a:spcPts val="400"/>
              </a:spcBef>
              <a:spcAft>
                <a:spcPts val="200"/>
              </a:spcAft>
            </a:pPr>
            <a:r>
              <a:rPr lang="en-US" sz="2400" dirty="0"/>
              <a:t>The packet produced by TCP is called </a:t>
            </a:r>
            <a:r>
              <a:rPr lang="en-US" sz="2400" b="1" dirty="0"/>
              <a:t>‘segment’</a:t>
            </a:r>
            <a:r>
              <a:rPr lang="en-US" sz="2400" dirty="0"/>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36</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lvl="0" algn="just">
              <a:spcBef>
                <a:spcPts val="400"/>
              </a:spcBef>
              <a:spcAft>
                <a:spcPts val="200"/>
              </a:spcAft>
              <a:buFont typeface="Wingdings 3" pitchFamily="18" charset="2"/>
              <a:buChar char="Ê"/>
            </a:pPr>
            <a:r>
              <a:rPr lang="en-US" sz="2400" b="1" dirty="0"/>
              <a:t>UDP (User Datagram Protocol)</a:t>
            </a:r>
          </a:p>
          <a:p>
            <a:pPr lvl="0" algn="just">
              <a:spcBef>
                <a:spcPts val="400"/>
              </a:spcBef>
              <a:spcAft>
                <a:spcPts val="200"/>
              </a:spcAft>
            </a:pPr>
            <a:r>
              <a:rPr lang="en-US" sz="2400" dirty="0"/>
              <a:t>It is simple, </a:t>
            </a:r>
            <a:r>
              <a:rPr lang="en-US" sz="2400" b="1" i="1" dirty="0">
                <a:solidFill>
                  <a:srgbClr val="0070C0"/>
                </a:solidFill>
              </a:rPr>
              <a:t>connection less and unrel</a:t>
            </a:r>
            <a:r>
              <a:rPr lang="en-US" sz="2400" dirty="0"/>
              <a:t>iable protocol.</a:t>
            </a:r>
          </a:p>
          <a:p>
            <a:pPr lvl="0" algn="just">
              <a:spcBef>
                <a:spcPts val="400"/>
              </a:spcBef>
              <a:spcAft>
                <a:spcPts val="200"/>
              </a:spcAft>
            </a:pPr>
            <a:r>
              <a:rPr lang="en-US" sz="2400" dirty="0"/>
              <a:t>The packet produced by UDP is called </a:t>
            </a:r>
            <a:r>
              <a:rPr lang="en-US" sz="2400" b="1" dirty="0"/>
              <a:t>‘datagram’</a:t>
            </a:r>
            <a:r>
              <a:rPr lang="en-US" sz="2400" dirty="0"/>
              <a:t>.</a:t>
            </a:r>
          </a:p>
          <a:p>
            <a:pPr lvl="0" algn="just">
              <a:spcBef>
                <a:spcPts val="400"/>
              </a:spcBef>
              <a:spcAft>
                <a:spcPts val="200"/>
              </a:spcAft>
              <a:buFont typeface="Wingdings" pitchFamily="2" charset="2"/>
              <a:buChar char="v"/>
            </a:pPr>
            <a:r>
              <a:rPr lang="en-US" sz="2400" b="1" dirty="0">
                <a:solidFill>
                  <a:srgbClr val="FF0000"/>
                </a:solidFill>
              </a:rPr>
              <a:t>Application Layer </a:t>
            </a:r>
          </a:p>
          <a:p>
            <a:pPr lvl="0" algn="just">
              <a:spcBef>
                <a:spcPts val="400"/>
              </a:spcBef>
              <a:spcAft>
                <a:spcPts val="200"/>
              </a:spcAft>
            </a:pPr>
            <a:r>
              <a:rPr lang="en-US" sz="2400" dirty="0"/>
              <a:t>It is the final and highest layer in TCP/IP model which is equal to the combined session, presentation and application layer of OSI model.</a:t>
            </a:r>
          </a:p>
          <a:p>
            <a:pPr lvl="0" algn="just">
              <a:spcBef>
                <a:spcPts val="400"/>
              </a:spcBef>
              <a:spcAft>
                <a:spcPts val="200"/>
              </a:spcAft>
            </a:pPr>
            <a:r>
              <a:rPr lang="en-US" sz="2400" dirty="0"/>
              <a:t>The functions of this model are explained by the following protocols.</a:t>
            </a:r>
          </a:p>
          <a:p>
            <a:pPr lvl="0" algn="just">
              <a:spcBef>
                <a:spcPts val="400"/>
              </a:spcBef>
              <a:spcAft>
                <a:spcPts val="200"/>
              </a:spcAft>
              <a:buFont typeface="Wingdings 3" pitchFamily="18" charset="2"/>
              <a:buChar char="Ê"/>
            </a:pPr>
            <a:r>
              <a:rPr lang="en-US" sz="2400" b="1" dirty="0"/>
              <a:t>SMTP (Simple Mail Transfer Protocol)</a:t>
            </a:r>
          </a:p>
          <a:p>
            <a:pPr lvl="0" algn="just">
              <a:spcBef>
                <a:spcPts val="400"/>
              </a:spcBef>
              <a:spcAft>
                <a:spcPts val="200"/>
              </a:spcAft>
            </a:pPr>
            <a:r>
              <a:rPr lang="en-US" sz="2400" dirty="0"/>
              <a:t>It is used to transfer electronic mail (E-mail) from one user to another.</a:t>
            </a:r>
          </a:p>
          <a:p>
            <a:pPr lvl="0" algn="just">
              <a:spcBef>
                <a:spcPts val="400"/>
              </a:spcBef>
              <a:spcAft>
                <a:spcPts val="200"/>
              </a:spcAft>
              <a:buFont typeface="Wingdings 3" pitchFamily="18" charset="2"/>
              <a:buChar char="Ê"/>
            </a:pPr>
            <a:r>
              <a:rPr lang="en-US" sz="2400" b="1" dirty="0"/>
              <a:t>HTTP (Hyper Text Transfer Protocol)</a:t>
            </a:r>
          </a:p>
          <a:p>
            <a:pPr lvl="0" algn="just">
              <a:spcBef>
                <a:spcPts val="400"/>
              </a:spcBef>
              <a:spcAft>
                <a:spcPts val="200"/>
              </a:spcAft>
            </a:pPr>
            <a:r>
              <a:rPr lang="en-US" sz="2400" dirty="0"/>
              <a:t>Is provides a standard for web users and servers to communicate.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lnSpcReduction="10000"/>
          </a:bodyPr>
          <a:lstStyle/>
          <a:p>
            <a:pPr lvl="0" algn="just">
              <a:spcBef>
                <a:spcPts val="400"/>
              </a:spcBef>
              <a:spcAft>
                <a:spcPts val="200"/>
              </a:spcAft>
              <a:buFont typeface="Wingdings 3" pitchFamily="18" charset="2"/>
              <a:buChar char="Ê"/>
            </a:pPr>
            <a:r>
              <a:rPr lang="en-US" sz="2400" b="1" dirty="0"/>
              <a:t>FTP (File Transfer Protocol)</a:t>
            </a:r>
          </a:p>
          <a:p>
            <a:pPr lvl="0" algn="just">
              <a:spcBef>
                <a:spcPts val="400"/>
              </a:spcBef>
              <a:spcAft>
                <a:spcPts val="200"/>
              </a:spcAft>
            </a:pPr>
            <a:r>
              <a:rPr lang="en-US" sz="2400" dirty="0"/>
              <a:t>FTP is the most widely used protocol for file transfer over the network.</a:t>
            </a:r>
          </a:p>
          <a:p>
            <a:pPr lvl="0" algn="just">
              <a:spcBef>
                <a:spcPts val="400"/>
              </a:spcBef>
              <a:spcAft>
                <a:spcPts val="200"/>
              </a:spcAft>
            </a:pPr>
            <a:r>
              <a:rPr lang="en-US" sz="2400" dirty="0"/>
              <a:t>It is reliable and simple.</a:t>
            </a:r>
          </a:p>
          <a:p>
            <a:pPr lvl="0" algn="just">
              <a:spcBef>
                <a:spcPts val="400"/>
              </a:spcBef>
              <a:spcAft>
                <a:spcPts val="200"/>
              </a:spcAft>
            </a:pPr>
            <a:r>
              <a:rPr lang="en-US" sz="2400" dirty="0"/>
              <a:t>It uses TCP/IP for communication and it works on TCP port 21.</a:t>
            </a:r>
          </a:p>
          <a:p>
            <a:pPr lvl="0" algn="just">
              <a:spcBef>
                <a:spcPts val="400"/>
              </a:spcBef>
              <a:spcAft>
                <a:spcPts val="200"/>
              </a:spcAft>
              <a:buFont typeface="Wingdings 3" pitchFamily="18" charset="2"/>
              <a:buChar char="Ê"/>
            </a:pPr>
            <a:r>
              <a:rPr lang="en-US" sz="2400" b="1" dirty="0"/>
              <a:t>HTTP (Hyper Text Transfer Protocol)</a:t>
            </a:r>
          </a:p>
          <a:p>
            <a:pPr lvl="0" algn="just">
              <a:spcBef>
                <a:spcPts val="400"/>
              </a:spcBef>
              <a:spcAft>
                <a:spcPts val="200"/>
              </a:spcAft>
            </a:pPr>
            <a:r>
              <a:rPr lang="en-US" sz="2400" dirty="0"/>
              <a:t>Is provides a standard for web users and servers to communicate.</a:t>
            </a:r>
          </a:p>
          <a:p>
            <a:pPr lvl="0" algn="just">
              <a:spcBef>
                <a:spcPts val="400"/>
              </a:spcBef>
              <a:spcAft>
                <a:spcPts val="200"/>
              </a:spcAft>
              <a:buFont typeface="Wingdings 3" pitchFamily="18" charset="2"/>
              <a:buChar char="Ê"/>
            </a:pPr>
            <a:r>
              <a:rPr lang="en-US" sz="2400" b="1" dirty="0"/>
              <a:t>SNMP (Simple Network Management Protocol)</a:t>
            </a:r>
          </a:p>
          <a:p>
            <a:pPr lvl="0" algn="just">
              <a:spcBef>
                <a:spcPts val="400"/>
              </a:spcBef>
              <a:spcAft>
                <a:spcPts val="200"/>
              </a:spcAft>
            </a:pPr>
            <a:r>
              <a:rPr lang="en-US" sz="2400" dirty="0"/>
              <a:t>It provides a set of operations for monitoring and maintaining devices in the internet.</a:t>
            </a:r>
          </a:p>
          <a:p>
            <a:pPr lvl="0" algn="just">
              <a:spcBef>
                <a:spcPts val="400"/>
              </a:spcBef>
              <a:spcAft>
                <a:spcPts val="200"/>
              </a:spcAft>
              <a:buFont typeface="Wingdings 3" pitchFamily="18" charset="2"/>
              <a:buChar char="Ê"/>
            </a:pPr>
            <a:r>
              <a:rPr lang="en-US" sz="2400" b="1" dirty="0"/>
              <a:t>TELNET (Terminal Network)</a:t>
            </a:r>
          </a:p>
          <a:p>
            <a:pPr lvl="0" algn="just">
              <a:spcBef>
                <a:spcPts val="400"/>
              </a:spcBef>
              <a:spcAft>
                <a:spcPts val="200"/>
              </a:spcAft>
            </a:pPr>
            <a:r>
              <a:rPr lang="en-US" sz="2400" dirty="0"/>
              <a:t>It is a general purpose protocol used for remote login.</a:t>
            </a:r>
          </a:p>
          <a:p>
            <a:pPr lvl="0" algn="just">
              <a:spcBef>
                <a:spcPts val="400"/>
              </a:spcBef>
              <a:spcAft>
                <a:spcPts val="200"/>
              </a:spcAft>
              <a:buFont typeface="Wingdings 3" pitchFamily="18" charset="2"/>
              <a:buChar char="Ê"/>
            </a:pPr>
            <a:r>
              <a:rPr lang="en-US" sz="2400" b="1" dirty="0"/>
              <a:t>DNS (Domain Name Server)</a:t>
            </a:r>
          </a:p>
          <a:p>
            <a:pPr lvl="0" algn="just">
              <a:spcBef>
                <a:spcPts val="400"/>
              </a:spcBef>
              <a:spcAft>
                <a:spcPts val="200"/>
              </a:spcAft>
            </a:pPr>
            <a:r>
              <a:rPr lang="en-US" sz="2400" dirty="0"/>
              <a:t>It resolves an IP address into textual address for hosts connected over a network.</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a:t>
            </a:r>
          </a:p>
        </p:txBody>
      </p:sp>
      <p:sp>
        <p:nvSpPr>
          <p:cNvPr id="3" name="Content Placeholder 2"/>
          <p:cNvSpPr>
            <a:spLocks noGrp="1"/>
          </p:cNvSpPr>
          <p:nvPr>
            <p:ph idx="1"/>
          </p:nvPr>
        </p:nvSpPr>
        <p:spPr/>
        <p:txBody>
          <a:bodyPr/>
          <a:lstStyle/>
          <a:p>
            <a:pPr algn="just"/>
            <a:r>
              <a:rPr lang="en-US" dirty="0"/>
              <a:t>After completion of this session, students will be able to </a:t>
            </a:r>
            <a:r>
              <a:rPr lang="en-US" i="1" dirty="0">
                <a:solidFill>
                  <a:srgbClr val="FF0000"/>
                </a:solidFill>
              </a:rPr>
              <a:t>differentiate between connection oriented and connectionless services/approach.</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813026434"/>
              </p:ext>
            </p:extLst>
          </p:nvPr>
        </p:nvGraphicFramePr>
        <p:xfrm>
          <a:off x="381000" y="1066800"/>
          <a:ext cx="8534400" cy="5059680"/>
        </p:xfrm>
        <a:graphic>
          <a:graphicData uri="http://schemas.openxmlformats.org/drawingml/2006/table">
            <a:tbl>
              <a:tblPr firstRow="1" bandRow="1">
                <a:tableStyleId>{F5AB1C69-6EDB-4FF4-983F-18BD219EF322}</a:tableStyleId>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70840">
                <a:tc>
                  <a:txBody>
                    <a:bodyPr/>
                    <a:lstStyle/>
                    <a:p>
                      <a:pPr algn="ctr"/>
                      <a:r>
                        <a:rPr lang="en-US" dirty="0"/>
                        <a:t>Connection oriented</a:t>
                      </a:r>
                      <a:r>
                        <a:rPr lang="en-US" baseline="0" dirty="0"/>
                        <a:t> services</a:t>
                      </a:r>
                      <a:endParaRPr lang="en-US" dirty="0"/>
                    </a:p>
                  </a:txBody>
                  <a:tcPr/>
                </a:tc>
                <a:tc>
                  <a:txBody>
                    <a:bodyPr/>
                    <a:lstStyle/>
                    <a:p>
                      <a:pPr algn="ctr"/>
                      <a:r>
                        <a:rPr lang="en-US" dirty="0"/>
                        <a:t>Connection less services</a:t>
                      </a:r>
                    </a:p>
                  </a:txBody>
                  <a:tcPr/>
                </a:tc>
                <a:extLst>
                  <a:ext uri="{0D108BD9-81ED-4DB2-BD59-A6C34878D82A}">
                    <a16:rowId xmlns:a16="http://schemas.microsoft.com/office/drawing/2014/main" val="10000"/>
                  </a:ext>
                </a:extLst>
              </a:tr>
              <a:tr h="370840">
                <a:tc>
                  <a:txBody>
                    <a:bodyPr/>
                    <a:lstStyle/>
                    <a:p>
                      <a:pPr marL="115888" indent="-115888" algn="just"/>
                      <a:r>
                        <a:rPr lang="en-US" dirty="0"/>
                        <a:t>- </a:t>
                      </a:r>
                      <a:r>
                        <a:rPr lang="en-US" sz="1800" kern="1200" dirty="0"/>
                        <a:t>In connection oriented service we have to establish a connection before starting the communication.</a:t>
                      </a:r>
                      <a:endParaRPr lang="en-US" dirty="0"/>
                    </a:p>
                  </a:txBody>
                  <a:tcPr/>
                </a:tc>
                <a:tc>
                  <a:txBody>
                    <a:bodyPr/>
                    <a:lstStyle/>
                    <a:p>
                      <a:r>
                        <a:rPr lang="en-US" dirty="0"/>
                        <a:t>- No need to establish a connection in prior.</a:t>
                      </a:r>
                    </a:p>
                  </a:txBody>
                  <a:tcPr/>
                </a:tc>
                <a:extLst>
                  <a:ext uri="{0D108BD9-81ED-4DB2-BD59-A6C34878D82A}">
                    <a16:rowId xmlns:a16="http://schemas.microsoft.com/office/drawing/2014/main" val="10001"/>
                  </a:ext>
                </a:extLst>
              </a:tr>
              <a:tr h="370840">
                <a:tc>
                  <a:txBody>
                    <a:bodyPr/>
                    <a:lstStyle/>
                    <a:p>
                      <a:r>
                        <a:rPr lang="en-US" sz="1800" kern="1200" dirty="0"/>
                        <a:t> - it is more reliable</a:t>
                      </a:r>
                      <a:endParaRPr lang="en-US" sz="1800" kern="1200" dirty="0">
                        <a:solidFill>
                          <a:schemeClr val="dk1"/>
                        </a:solidFill>
                        <a:latin typeface="+mn-lt"/>
                        <a:ea typeface="+mn-ea"/>
                        <a:cs typeface="+mn-cs"/>
                      </a:endParaRPr>
                    </a:p>
                  </a:txBody>
                  <a:tcPr/>
                </a:tc>
                <a:tc>
                  <a:txBody>
                    <a:bodyPr/>
                    <a:lstStyle/>
                    <a:p>
                      <a:r>
                        <a:rPr lang="en-US" sz="1800" kern="1200" dirty="0"/>
                        <a:t>- It is less reliable</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a:txBody>
                    <a:bodyPr/>
                    <a:lstStyle/>
                    <a:p>
                      <a:r>
                        <a:rPr lang="en-US" sz="1800" kern="1200" dirty="0"/>
                        <a:t>- Authentication is needed in it.</a:t>
                      </a:r>
                      <a:endParaRPr lang="en-US" sz="1800" b="0" i="0" kern="1200" dirty="0">
                        <a:solidFill>
                          <a:schemeClr val="dk1"/>
                        </a:solidFill>
                        <a:latin typeface="+mn-lt"/>
                        <a:ea typeface="+mn-ea"/>
                        <a:cs typeface="+mn-cs"/>
                      </a:endParaRPr>
                    </a:p>
                  </a:txBody>
                  <a:tcPr/>
                </a:tc>
                <a:tc>
                  <a:txBody>
                    <a:bodyPr/>
                    <a:lstStyle/>
                    <a:p>
                      <a:r>
                        <a:rPr lang="en-US" sz="1800" kern="1200" dirty="0"/>
                        <a:t>- Authentication is not needed.</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a:txBody>
                    <a:bodyPr/>
                    <a:lstStyle/>
                    <a:p>
                      <a:pPr marL="115888" indent="-115888"/>
                      <a:r>
                        <a:rPr lang="en-US" sz="1800" kern="1200" dirty="0"/>
                        <a:t>- After sending, this service checks the message is received or not.</a:t>
                      </a:r>
                      <a:endParaRPr lang="en-US" sz="1800" b="0" i="0" kern="1200" dirty="0">
                        <a:solidFill>
                          <a:schemeClr val="dk1"/>
                        </a:solidFill>
                        <a:latin typeface="+mn-lt"/>
                        <a:ea typeface="+mn-ea"/>
                        <a:cs typeface="+mn-cs"/>
                      </a:endParaRPr>
                    </a:p>
                  </a:txBody>
                  <a:tcPr/>
                </a:tc>
                <a:tc>
                  <a:txBody>
                    <a:bodyPr/>
                    <a:lstStyle/>
                    <a:p>
                      <a:r>
                        <a:rPr lang="en-US" sz="1800" kern="1200" dirty="0"/>
                        <a:t>- there is</a:t>
                      </a:r>
                      <a:r>
                        <a:rPr lang="en-US" sz="1800" kern="1200" baseline="0" dirty="0"/>
                        <a:t> no guarantee of a delivery of message.</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a:txBody>
                    <a:bodyPr/>
                    <a:lstStyle/>
                    <a:p>
                      <a:r>
                        <a:rPr lang="en-US" sz="1800" kern="1200" dirty="0"/>
                        <a:t>- It is slower.</a:t>
                      </a:r>
                      <a:endParaRPr lang="en-US" sz="1800" b="0" i="0" kern="1200" dirty="0">
                        <a:solidFill>
                          <a:schemeClr val="dk1"/>
                        </a:solidFill>
                        <a:latin typeface="+mn-lt"/>
                        <a:ea typeface="+mn-ea"/>
                        <a:cs typeface="+mn-cs"/>
                      </a:endParaRPr>
                    </a:p>
                  </a:txBody>
                  <a:tcPr/>
                </a:tc>
                <a:tc>
                  <a:txBody>
                    <a:bodyPr/>
                    <a:lstStyle/>
                    <a:p>
                      <a:r>
                        <a:rPr lang="en-US" sz="1800" kern="1200" dirty="0"/>
                        <a:t>- It is faster.</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a:txBody>
                    <a:bodyPr/>
                    <a:lstStyle/>
                    <a:p>
                      <a:r>
                        <a:rPr lang="en-US" sz="1800" kern="1200" dirty="0"/>
                        <a:t>- It is implemented using</a:t>
                      </a:r>
                      <a:r>
                        <a:rPr lang="en-US" sz="1800" kern="1200" baseline="0" dirty="0"/>
                        <a:t> circuit switching.</a:t>
                      </a:r>
                      <a:endParaRPr lang="en-US" sz="1800" b="0" i="0" kern="1200" dirty="0">
                        <a:solidFill>
                          <a:schemeClr val="dk1"/>
                        </a:solidFill>
                        <a:latin typeface="+mn-lt"/>
                        <a:ea typeface="+mn-ea"/>
                        <a:cs typeface="+mn-cs"/>
                      </a:endParaRPr>
                    </a:p>
                  </a:txBody>
                  <a:tcPr/>
                </a:tc>
                <a:tc>
                  <a:txBody>
                    <a:bodyPr/>
                    <a:lstStyle/>
                    <a:p>
                      <a:r>
                        <a:rPr lang="en-US" sz="1800" kern="1200" dirty="0"/>
                        <a:t>- It is implemented using packet</a:t>
                      </a:r>
                      <a:r>
                        <a:rPr lang="en-US" sz="1800" kern="1200" baseline="0" dirty="0"/>
                        <a:t> switching.</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r h="370840">
                <a:tc>
                  <a:txBody>
                    <a:bodyPr/>
                    <a:lstStyle/>
                    <a:p>
                      <a:pPr marL="115888" indent="-115888"/>
                      <a:r>
                        <a:rPr lang="en-US" sz="1800" kern="1200" dirty="0"/>
                        <a:t>- Error correction and flow control provided in it.</a:t>
                      </a:r>
                      <a:endParaRPr lang="en-US" sz="1800" b="0" i="0" kern="1200" dirty="0">
                        <a:solidFill>
                          <a:schemeClr val="dk1"/>
                        </a:solidFill>
                        <a:latin typeface="+mn-lt"/>
                        <a:ea typeface="+mn-ea"/>
                        <a:cs typeface="+mn-cs"/>
                      </a:endParaRPr>
                    </a:p>
                  </a:txBody>
                  <a:tcPr/>
                </a:tc>
                <a:tc>
                  <a:txBody>
                    <a:bodyPr/>
                    <a:lstStyle/>
                    <a:p>
                      <a:pPr marL="115888" indent="-115888"/>
                      <a:r>
                        <a:rPr lang="en-US" sz="1800" kern="1200" dirty="0"/>
                        <a:t>- Error correction and flow control not provided.</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7"/>
                  </a:ext>
                </a:extLst>
              </a:tr>
              <a:tr h="370840">
                <a:tc>
                  <a:txBody>
                    <a:bodyPr/>
                    <a:lstStyle/>
                    <a:p>
                      <a:r>
                        <a:rPr lang="en-US" sz="1800" kern="1200" dirty="0"/>
                        <a:t>- Example is telephone system.</a:t>
                      </a:r>
                      <a:endParaRPr lang="en-US" sz="1800" b="0" i="0" kern="1200" dirty="0">
                        <a:solidFill>
                          <a:schemeClr val="dk1"/>
                        </a:solidFill>
                        <a:latin typeface="+mn-lt"/>
                        <a:ea typeface="+mn-ea"/>
                        <a:cs typeface="+mn-cs"/>
                      </a:endParaRPr>
                    </a:p>
                  </a:txBody>
                  <a:tcPr/>
                </a:tc>
                <a:tc>
                  <a:txBody>
                    <a:bodyPr/>
                    <a:lstStyle/>
                    <a:p>
                      <a:r>
                        <a:rPr lang="en-US" sz="1800" kern="1200" dirty="0"/>
                        <a:t>- Example is</a:t>
                      </a:r>
                      <a:r>
                        <a:rPr lang="en-US" sz="1800" kern="1200" baseline="0" dirty="0"/>
                        <a:t> postal system.</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8"/>
                  </a:ext>
                </a:extLst>
              </a:tr>
              <a:tr h="370840">
                <a:tc>
                  <a:txBody>
                    <a:bodyPr/>
                    <a:lstStyle/>
                    <a:p>
                      <a:pPr marL="115888" indent="-115888"/>
                      <a:r>
                        <a:rPr lang="en-US" sz="1800" kern="1200" dirty="0"/>
                        <a:t>- Protocol: TCP (transmission control protocol)</a:t>
                      </a:r>
                      <a:endParaRPr lang="en-US" sz="1800" b="0" i="0" kern="1200" dirty="0">
                        <a:solidFill>
                          <a:schemeClr val="dk1"/>
                        </a:solidFill>
                        <a:latin typeface="+mn-lt"/>
                        <a:ea typeface="+mn-ea"/>
                        <a:cs typeface="+mn-cs"/>
                      </a:endParaRPr>
                    </a:p>
                  </a:txBody>
                  <a:tcPr/>
                </a:tc>
                <a:tc>
                  <a:txBody>
                    <a:bodyPr/>
                    <a:lstStyle/>
                    <a:p>
                      <a:pPr marL="115888" indent="-115888"/>
                      <a:r>
                        <a:rPr lang="en-US" sz="1800" kern="1200" dirty="0"/>
                        <a:t>- Protocol: Example:</a:t>
                      </a:r>
                      <a:r>
                        <a:rPr lang="en-US" sz="1800" kern="1200" baseline="0" dirty="0"/>
                        <a:t> UDP (User Datagram Protocol)</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9"/>
                  </a:ext>
                </a:extLst>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dirty="0"/>
          </a:p>
        </p:txBody>
      </p:sp>
      <p:sp>
        <p:nvSpPr>
          <p:cNvPr id="6" name="Rounded Rectangle 5"/>
          <p:cNvSpPr/>
          <p:nvPr/>
        </p:nvSpPr>
        <p:spPr>
          <a:xfrm>
            <a:off x="228600" y="152400"/>
            <a:ext cx="8686800" cy="533400"/>
          </a:xfrm>
          <a:prstGeom prst="roundRect">
            <a:avLst/>
          </a:prstGeom>
          <a:gradFill flip="none" rotWithShape="1">
            <a:gsLst>
              <a:gs pos="19000">
                <a:schemeClr val="accent5">
                  <a:lumMod val="40000"/>
                  <a:lumOff val="60000"/>
                </a:schemeClr>
              </a:gs>
              <a:gs pos="73000">
                <a:srgbClr val="7FF84E"/>
              </a:gs>
              <a:gs pos="45000">
                <a:srgbClr val="FF66FF"/>
              </a:gs>
              <a:gs pos="21001">
                <a:srgbClr val="83A7C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rgbClr val="C00000"/>
                </a:solidFill>
              </a:rPr>
              <a:t>2.3 </a:t>
            </a:r>
            <a:r>
              <a:rPr lang="en-IN" sz="2800" b="1" dirty="0">
                <a:solidFill>
                  <a:srgbClr val="C00000"/>
                </a:solidFill>
              </a:rPr>
              <a:t>Connection oriented v/s Connection less services</a:t>
            </a:r>
            <a:endParaRPr lang="en-US" sz="2800" b="1" dirty="0">
              <a:solidFill>
                <a:srgbClr val="C00000"/>
              </a:solidFill>
            </a:endParaRP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descr="D:\my CUSP\CN\Figures frm Net\Conn diff\connection-oriented1.jpg"/>
          <p:cNvPicPr>
            <a:picLocks noChangeAspect="1" noChangeArrowheads="1"/>
          </p:cNvPicPr>
          <p:nvPr/>
        </p:nvPicPr>
        <p:blipFill>
          <a:blip r:embed="rId3"/>
          <a:srcRect/>
          <a:stretch>
            <a:fillRect/>
          </a:stretch>
        </p:blipFill>
        <p:spPr bwMode="auto">
          <a:xfrm>
            <a:off x="43541" y="47752"/>
            <a:ext cx="4732565" cy="3533648"/>
          </a:xfrm>
          <a:prstGeom prst="rect">
            <a:avLst/>
          </a:prstGeom>
          <a:noFill/>
        </p:spPr>
      </p:pic>
      <p:pic>
        <p:nvPicPr>
          <p:cNvPr id="1027" name="Picture 3" descr="D:\my CUSP\CN\Figures frm Net\Conn diff\connectionless3.jpg"/>
          <p:cNvPicPr>
            <a:picLocks noChangeAspect="1" noChangeArrowheads="1"/>
          </p:cNvPicPr>
          <p:nvPr/>
        </p:nvPicPr>
        <p:blipFill>
          <a:blip r:embed="rId4"/>
          <a:srcRect/>
          <a:stretch>
            <a:fillRect/>
          </a:stretch>
        </p:blipFill>
        <p:spPr bwMode="auto">
          <a:xfrm>
            <a:off x="4419600" y="3535172"/>
            <a:ext cx="4724400" cy="3322828"/>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a:t>
            </a:r>
          </a:p>
        </p:txBody>
      </p:sp>
      <p:sp>
        <p:nvSpPr>
          <p:cNvPr id="3" name="Content Placeholder 2"/>
          <p:cNvSpPr>
            <a:spLocks noGrp="1"/>
          </p:cNvSpPr>
          <p:nvPr>
            <p:ph idx="1"/>
          </p:nvPr>
        </p:nvSpPr>
        <p:spPr/>
        <p:txBody>
          <a:bodyPr/>
          <a:lstStyle/>
          <a:p>
            <a:pPr algn="just"/>
            <a:r>
              <a:rPr lang="en-US" dirty="0"/>
              <a:t>After completion of this session, students will be able to </a:t>
            </a:r>
            <a:r>
              <a:rPr lang="it-IT" i="1" dirty="0">
                <a:solidFill>
                  <a:srgbClr val="FF0000"/>
                </a:solidFill>
              </a:rPr>
              <a:t>compare OSI and TCP/IP model.</a:t>
            </a:r>
            <a:endParaRPr lang="en-US" i="1" dirty="0">
              <a:solidFill>
                <a:srgbClr val="FF00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251694396"/>
              </p:ext>
            </p:extLst>
          </p:nvPr>
        </p:nvGraphicFramePr>
        <p:xfrm>
          <a:off x="381000" y="1066800"/>
          <a:ext cx="8534400" cy="5699760"/>
        </p:xfrm>
        <a:graphic>
          <a:graphicData uri="http://schemas.openxmlformats.org/drawingml/2006/table">
            <a:tbl>
              <a:tblPr firstRow="1" bandRow="1">
                <a:tableStyleId>{7DF18680-E054-41AD-8BC1-D1AEF772440D}</a:tableStyleId>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70840">
                <a:tc>
                  <a:txBody>
                    <a:bodyPr/>
                    <a:lstStyle/>
                    <a:p>
                      <a:pPr algn="ctr"/>
                      <a:r>
                        <a:rPr lang="en-US" dirty="0"/>
                        <a:t>OSI</a:t>
                      </a:r>
                    </a:p>
                  </a:txBody>
                  <a:tcPr/>
                </a:tc>
                <a:tc>
                  <a:txBody>
                    <a:bodyPr/>
                    <a:lstStyle/>
                    <a:p>
                      <a:pPr algn="ctr"/>
                      <a:r>
                        <a:rPr lang="en-US" dirty="0"/>
                        <a:t>TCP/IP</a:t>
                      </a:r>
                    </a:p>
                  </a:txBody>
                  <a:tcPr/>
                </a:tc>
                <a:extLst>
                  <a:ext uri="{0D108BD9-81ED-4DB2-BD59-A6C34878D82A}">
                    <a16:rowId xmlns:a16="http://schemas.microsoft.com/office/drawing/2014/main" val="10000"/>
                  </a:ext>
                </a:extLst>
              </a:tr>
              <a:tr h="370840">
                <a:tc>
                  <a:txBody>
                    <a:bodyPr/>
                    <a:lstStyle/>
                    <a:p>
                      <a:pPr marL="115888" indent="-115888" algn="just"/>
                      <a:r>
                        <a:rPr lang="en-US" dirty="0"/>
                        <a:t>- Full</a:t>
                      </a:r>
                      <a:r>
                        <a:rPr lang="en-US" baseline="0" dirty="0"/>
                        <a:t> form: Open System Interconnection.</a:t>
                      </a:r>
                      <a:endParaRPr lang="en-US" dirty="0"/>
                    </a:p>
                  </a:txBody>
                  <a:tcPr/>
                </a:tc>
                <a:tc>
                  <a:txBody>
                    <a:bodyPr/>
                    <a:lstStyle/>
                    <a:p>
                      <a:pPr marL="115888" indent="-115888"/>
                      <a:r>
                        <a:rPr lang="en-US" dirty="0"/>
                        <a:t>- Full</a:t>
                      </a:r>
                      <a:r>
                        <a:rPr lang="en-US" baseline="0" dirty="0"/>
                        <a:t> form: Transmission Control Protocol / Internet Protocol.</a:t>
                      </a:r>
                      <a:endParaRPr lang="en-US" dirty="0"/>
                    </a:p>
                  </a:txBody>
                  <a:tcPr/>
                </a:tc>
                <a:extLst>
                  <a:ext uri="{0D108BD9-81ED-4DB2-BD59-A6C34878D82A}">
                    <a16:rowId xmlns:a16="http://schemas.microsoft.com/office/drawing/2014/main" val="10001"/>
                  </a:ext>
                </a:extLst>
              </a:tr>
              <a:tr h="370840">
                <a:tc>
                  <a:txBody>
                    <a:bodyPr/>
                    <a:lstStyle/>
                    <a:p>
                      <a:r>
                        <a:rPr lang="en-US" sz="1800" kern="1200" dirty="0"/>
                        <a:t>- It has seven layers.</a:t>
                      </a:r>
                      <a:endParaRPr lang="en-US" sz="1800" kern="1200" dirty="0">
                        <a:solidFill>
                          <a:schemeClr val="dk1"/>
                        </a:solidFill>
                        <a:latin typeface="+mn-lt"/>
                        <a:ea typeface="+mn-ea"/>
                        <a:cs typeface="+mn-cs"/>
                      </a:endParaRPr>
                    </a:p>
                  </a:txBody>
                  <a:tcPr/>
                </a:tc>
                <a:tc>
                  <a:txBody>
                    <a:bodyPr/>
                    <a:lstStyle/>
                    <a:p>
                      <a:r>
                        <a:rPr lang="en-US" sz="1800" kern="1200" dirty="0"/>
                        <a:t>- It has</a:t>
                      </a:r>
                      <a:r>
                        <a:rPr lang="en-US" sz="1800" kern="1200" baseline="0" dirty="0"/>
                        <a:t> four</a:t>
                      </a:r>
                      <a:r>
                        <a:rPr lang="en-US" sz="1800" kern="1200" baseline="0"/>
                        <a:t>/five </a:t>
                      </a:r>
                      <a:r>
                        <a:rPr lang="en-US" sz="1800" kern="1200" baseline="0" dirty="0"/>
                        <a:t>layers.</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a:txBody>
                    <a:bodyPr/>
                    <a:lstStyle/>
                    <a:p>
                      <a:r>
                        <a:rPr lang="en-US" sz="1800" kern="1200" dirty="0"/>
                        <a:t>- OSI model developed</a:t>
                      </a:r>
                      <a:r>
                        <a:rPr lang="en-US" sz="1800" kern="1200" baseline="0" dirty="0"/>
                        <a:t> after TCP/IP model.</a:t>
                      </a:r>
                      <a:endParaRPr lang="en-US" sz="1800" b="0" i="0" kern="1200" dirty="0">
                        <a:solidFill>
                          <a:schemeClr val="dk1"/>
                        </a:solidFill>
                        <a:latin typeface="+mn-lt"/>
                        <a:ea typeface="+mn-ea"/>
                        <a:cs typeface="+mn-cs"/>
                      </a:endParaRPr>
                    </a:p>
                  </a:txBody>
                  <a:tcPr/>
                </a:tc>
                <a:tc>
                  <a:txBody>
                    <a:bodyPr/>
                    <a:lstStyle/>
                    <a:p>
                      <a:r>
                        <a:rPr lang="en-US" sz="1800" kern="1200" dirty="0"/>
                        <a:t>- It</a:t>
                      </a:r>
                      <a:r>
                        <a:rPr lang="en-US" sz="1800" kern="1200" baseline="0" dirty="0"/>
                        <a:t> is developed before OSI model.</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a:txBody>
                    <a:bodyPr/>
                    <a:lstStyle/>
                    <a:p>
                      <a:pPr marL="115888" indent="-115888"/>
                      <a:r>
                        <a:rPr lang="en-US" sz="1800" kern="1200" dirty="0"/>
                        <a:t>- In this model, transport</a:t>
                      </a:r>
                      <a:r>
                        <a:rPr lang="en-US" sz="1800" kern="1200" baseline="0" dirty="0"/>
                        <a:t> layer guarantees the delivery of packets.</a:t>
                      </a:r>
                      <a:endParaRPr lang="en-US" sz="1800" b="0" i="0" kern="1200" dirty="0">
                        <a:solidFill>
                          <a:schemeClr val="dk1"/>
                        </a:solidFill>
                        <a:latin typeface="+mn-lt"/>
                        <a:ea typeface="+mn-ea"/>
                        <a:cs typeface="+mn-cs"/>
                      </a:endParaRPr>
                    </a:p>
                  </a:txBody>
                  <a:tcPr/>
                </a:tc>
                <a:tc>
                  <a:txBody>
                    <a:bodyPr/>
                    <a:lstStyle/>
                    <a:p>
                      <a:pPr marL="115888" indent="-115888"/>
                      <a:r>
                        <a:rPr lang="en-US" sz="1800" kern="1200" dirty="0"/>
                        <a:t>- In this model, transport layer does not guarantees delivery of packets.</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a:txBody>
                    <a:bodyPr/>
                    <a:lstStyle/>
                    <a:p>
                      <a:r>
                        <a:rPr lang="en-US" sz="1800" kern="1200" dirty="0"/>
                        <a:t>- It follows vertical approach.</a:t>
                      </a:r>
                      <a:endParaRPr lang="en-US" sz="1800" b="0" i="0" kern="1200" dirty="0">
                        <a:solidFill>
                          <a:schemeClr val="dk1"/>
                        </a:solidFill>
                        <a:latin typeface="+mn-lt"/>
                        <a:ea typeface="+mn-ea"/>
                        <a:cs typeface="+mn-cs"/>
                      </a:endParaRPr>
                    </a:p>
                  </a:txBody>
                  <a:tcPr/>
                </a:tc>
                <a:tc>
                  <a:txBody>
                    <a:bodyPr/>
                    <a:lstStyle/>
                    <a:p>
                      <a:r>
                        <a:rPr lang="en-US" sz="1800" kern="1200" dirty="0"/>
                        <a:t>- It follows</a:t>
                      </a:r>
                      <a:r>
                        <a:rPr lang="en-US" sz="1800" kern="1200" baseline="0" dirty="0"/>
                        <a:t> horizontal approach.</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a:txBody>
                    <a:bodyPr/>
                    <a:lstStyle/>
                    <a:p>
                      <a:pPr marL="115888" indent="-115888"/>
                      <a:r>
                        <a:rPr lang="en-US" sz="1800" kern="1200" dirty="0"/>
                        <a:t>- OSI</a:t>
                      </a:r>
                      <a:r>
                        <a:rPr lang="en-US" sz="1800" kern="1200" baseline="0" dirty="0"/>
                        <a:t> model has separate presentation layer and session layer.</a:t>
                      </a:r>
                      <a:endParaRPr lang="en-US" sz="1800" b="0" i="0" kern="1200" dirty="0">
                        <a:solidFill>
                          <a:schemeClr val="dk1"/>
                        </a:solidFill>
                        <a:latin typeface="+mn-lt"/>
                        <a:ea typeface="+mn-ea"/>
                        <a:cs typeface="+mn-cs"/>
                      </a:endParaRPr>
                    </a:p>
                  </a:txBody>
                  <a:tcPr/>
                </a:tc>
                <a:tc>
                  <a:txBody>
                    <a:bodyPr/>
                    <a:lstStyle/>
                    <a:p>
                      <a:pPr marL="115888" indent="-115888"/>
                      <a:r>
                        <a:rPr lang="en-US" sz="1800" kern="1200" dirty="0"/>
                        <a:t>- TCP/IP model does</a:t>
                      </a:r>
                      <a:r>
                        <a:rPr lang="en-US" sz="1800" kern="1200" baseline="0" dirty="0"/>
                        <a:t> not have separate  presentation and session layer.</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r h="370840">
                <a:tc>
                  <a:txBody>
                    <a:bodyPr/>
                    <a:lstStyle/>
                    <a:p>
                      <a:pPr marL="115888" indent="-115888"/>
                      <a:r>
                        <a:rPr lang="en-US" sz="1800" kern="1200" dirty="0"/>
                        <a:t>- Network layer in</a:t>
                      </a:r>
                      <a:r>
                        <a:rPr lang="en-US" sz="1800" kern="1200" baseline="0" dirty="0"/>
                        <a:t> this model provides both connection less and connection oriented service.</a:t>
                      </a:r>
                      <a:endParaRPr lang="en-US" sz="1800" b="0" i="0" kern="1200" dirty="0">
                        <a:solidFill>
                          <a:schemeClr val="dk1"/>
                        </a:solidFill>
                        <a:latin typeface="+mn-lt"/>
                        <a:ea typeface="+mn-ea"/>
                        <a:cs typeface="+mn-cs"/>
                      </a:endParaRPr>
                    </a:p>
                  </a:txBody>
                  <a:tcPr/>
                </a:tc>
                <a:tc>
                  <a:txBody>
                    <a:bodyPr/>
                    <a:lstStyle/>
                    <a:p>
                      <a:r>
                        <a:rPr lang="en-US" sz="1800" kern="1200" dirty="0"/>
                        <a:t>- Network layer in this</a:t>
                      </a:r>
                      <a:r>
                        <a:rPr lang="en-US" sz="1800" kern="1200" baseline="0" dirty="0"/>
                        <a:t> model provides only connection less service.</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7"/>
                  </a:ext>
                </a:extLst>
              </a:tr>
              <a:tr h="370840">
                <a:tc>
                  <a:txBody>
                    <a:bodyPr/>
                    <a:lstStyle/>
                    <a:p>
                      <a:pPr marL="115888" indent="-115888"/>
                      <a:r>
                        <a:rPr lang="en-US" sz="1800" kern="1200" dirty="0"/>
                        <a:t>- In it, services, interface and</a:t>
                      </a:r>
                      <a:r>
                        <a:rPr lang="en-US" sz="1800" kern="1200" baseline="0" dirty="0"/>
                        <a:t> protocols are clearly separated.</a:t>
                      </a:r>
                      <a:endParaRPr lang="en-US" sz="1800" b="0" i="0" kern="1200" dirty="0">
                        <a:solidFill>
                          <a:schemeClr val="dk1"/>
                        </a:solidFill>
                        <a:latin typeface="+mn-lt"/>
                        <a:ea typeface="+mn-ea"/>
                        <a:cs typeface="+mn-cs"/>
                      </a:endParaRPr>
                    </a:p>
                  </a:txBody>
                  <a:tcPr/>
                </a:tc>
                <a:tc>
                  <a:txBody>
                    <a:bodyPr/>
                    <a:lstStyle/>
                    <a:p>
                      <a:pPr marL="115888" indent="-115888"/>
                      <a:r>
                        <a:rPr lang="en-US" sz="1800" kern="1200" dirty="0"/>
                        <a:t>- In</a:t>
                      </a:r>
                      <a:r>
                        <a:rPr lang="en-US" sz="1800" kern="1200" baseline="0" dirty="0"/>
                        <a:t> it, services, interface and protocols are not clearly separated.</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8"/>
                  </a:ext>
                </a:extLst>
              </a:tr>
              <a:tr h="370840">
                <a:tc>
                  <a:txBody>
                    <a:bodyPr/>
                    <a:lstStyle/>
                    <a:p>
                      <a:r>
                        <a:rPr lang="en-US" sz="1800" kern="1200" dirty="0"/>
                        <a:t>- It is just</a:t>
                      </a:r>
                      <a:r>
                        <a:rPr lang="en-US" sz="1800" kern="1200" baseline="0" dirty="0"/>
                        <a:t> a reference model.</a:t>
                      </a:r>
                      <a:endParaRPr lang="en-US" sz="1800" b="0" i="0" kern="1200" dirty="0">
                        <a:solidFill>
                          <a:schemeClr val="dk1"/>
                        </a:solidFill>
                        <a:latin typeface="+mn-lt"/>
                        <a:ea typeface="+mn-ea"/>
                        <a:cs typeface="+mn-cs"/>
                      </a:endParaRPr>
                    </a:p>
                  </a:txBody>
                  <a:tcPr/>
                </a:tc>
                <a:tc>
                  <a:txBody>
                    <a:bodyPr/>
                    <a:lstStyle/>
                    <a:p>
                      <a:r>
                        <a:rPr lang="en-US" sz="1800" kern="1200" dirty="0"/>
                        <a:t>- It is the implementation of</a:t>
                      </a:r>
                      <a:r>
                        <a:rPr lang="en-US" sz="1800" kern="1200" baseline="0" dirty="0"/>
                        <a:t> OSI model.</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09"/>
                  </a:ext>
                </a:extLst>
              </a:tr>
              <a:tr h="370840">
                <a:tc>
                  <a:txBody>
                    <a:bodyPr/>
                    <a:lstStyle/>
                    <a:p>
                      <a:pPr marL="115888" indent="-115888"/>
                      <a:endParaRPr lang="en-US" sz="1800" b="0" i="0" kern="1200" dirty="0">
                        <a:solidFill>
                          <a:schemeClr val="dk1"/>
                        </a:solidFill>
                        <a:latin typeface="+mn-lt"/>
                        <a:ea typeface="+mn-ea"/>
                        <a:cs typeface="+mn-cs"/>
                      </a:endParaRPr>
                    </a:p>
                  </a:txBody>
                  <a:tcPr/>
                </a:tc>
                <a:tc>
                  <a:txBody>
                    <a:bodyPr/>
                    <a:lstStyle/>
                    <a:p>
                      <a:pPr marL="115888" indent="-115888"/>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10010"/>
                  </a:ext>
                </a:extLst>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dirty="0"/>
          </a:p>
        </p:txBody>
      </p:sp>
      <p:sp>
        <p:nvSpPr>
          <p:cNvPr id="6" name="Rounded Rectangle 5"/>
          <p:cNvSpPr/>
          <p:nvPr/>
        </p:nvSpPr>
        <p:spPr>
          <a:xfrm>
            <a:off x="228600" y="152400"/>
            <a:ext cx="8686800" cy="533400"/>
          </a:xfrm>
          <a:prstGeom prst="roundRect">
            <a:avLst/>
          </a:prstGeom>
          <a:gradFill flip="none" rotWithShape="1">
            <a:gsLst>
              <a:gs pos="19000">
                <a:schemeClr val="accent5">
                  <a:lumMod val="40000"/>
                  <a:lumOff val="60000"/>
                </a:schemeClr>
              </a:gs>
              <a:gs pos="73000">
                <a:srgbClr val="7FF84E"/>
              </a:gs>
              <a:gs pos="45000">
                <a:srgbClr val="FF66FF"/>
              </a:gs>
              <a:gs pos="21001">
                <a:srgbClr val="83A7C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rgbClr val="C00000"/>
                </a:solidFill>
              </a:rPr>
              <a:t>2.4 </a:t>
            </a:r>
            <a:r>
              <a:rPr lang="en-IN" sz="2800" b="1" dirty="0">
                <a:solidFill>
                  <a:srgbClr val="C00000"/>
                </a:solidFill>
              </a:rPr>
              <a:t>Comparison of OSI and TCP/IP models</a:t>
            </a:r>
            <a:endParaRPr lang="en-US" sz="2800" b="1" dirty="0">
              <a:solidFill>
                <a:srgbClr val="C00000"/>
              </a:solidFill>
            </a:endParaRP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9600" b="1" dirty="0">
                <a:latin typeface="Bodoni MT" pitchFamily="18" charset="0"/>
              </a:rPr>
              <a:t>T</a:t>
            </a:r>
            <a:r>
              <a:rPr lang="en-US" sz="8000" b="1" dirty="0">
                <a:solidFill>
                  <a:srgbClr val="FF0000"/>
                </a:solidFill>
                <a:latin typeface="Bodoni MT" pitchFamily="18" charset="0"/>
              </a:rPr>
              <a:t>h</a:t>
            </a:r>
            <a:r>
              <a:rPr lang="en-US" sz="7200" b="1" dirty="0">
                <a:solidFill>
                  <a:schemeClr val="accent3">
                    <a:lumMod val="75000"/>
                  </a:schemeClr>
                </a:solidFill>
                <a:latin typeface="Bodoni MT" pitchFamily="18" charset="0"/>
              </a:rPr>
              <a:t>a</a:t>
            </a:r>
            <a:r>
              <a:rPr lang="en-US" sz="6000" b="1" dirty="0">
                <a:latin typeface="Bodoni MT" pitchFamily="18" charset="0"/>
              </a:rPr>
              <a:t>n</a:t>
            </a:r>
            <a:r>
              <a:rPr lang="en-US" sz="6000" b="1" dirty="0">
                <a:solidFill>
                  <a:schemeClr val="bg2">
                    <a:lumMod val="50000"/>
                  </a:schemeClr>
                </a:solidFill>
                <a:latin typeface="Bodoni MT" pitchFamily="18" charset="0"/>
              </a:rPr>
              <a:t>k</a:t>
            </a:r>
            <a:r>
              <a:rPr lang="en-US" sz="6000" b="1" dirty="0">
                <a:latin typeface="Bodoni MT" pitchFamily="18" charset="0"/>
              </a:rPr>
              <a:t> </a:t>
            </a:r>
            <a:r>
              <a:rPr lang="en-US" sz="7200" b="1" dirty="0">
                <a:solidFill>
                  <a:schemeClr val="accent5">
                    <a:lumMod val="75000"/>
                  </a:schemeClr>
                </a:solidFill>
                <a:latin typeface="Bodoni MT" pitchFamily="18" charset="0"/>
              </a:rPr>
              <a:t>Y</a:t>
            </a:r>
            <a:r>
              <a:rPr lang="en-US" sz="11500" b="1" dirty="0">
                <a:solidFill>
                  <a:srgbClr val="FF0000"/>
                </a:solidFill>
                <a:latin typeface="Bodoni MT" pitchFamily="18" charset="0"/>
              </a:rPr>
              <a:t>o</a:t>
            </a:r>
            <a:r>
              <a:rPr lang="en-US" sz="13800" b="1" dirty="0">
                <a:latin typeface="Bodoni MT" pitchFamily="18" charset="0"/>
              </a:rPr>
              <a:t>u</a:t>
            </a:r>
            <a:r>
              <a:rPr lang="en-US" sz="8800" b="1" dirty="0">
                <a:solidFill>
                  <a:srgbClr val="FFC000"/>
                </a:solidFill>
                <a:latin typeface="Bodoni MT" pitchFamily="18" charset="0"/>
              </a:rPr>
              <a:t>…</a:t>
            </a:r>
            <a:endParaRPr lang="en-US" sz="6000" b="1" dirty="0">
              <a:solidFill>
                <a:srgbClr val="FFC000"/>
              </a:solidFill>
              <a:latin typeface="Bodoni MT"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44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31788789</TotalTime>
  <Words>3073</Words>
  <Application>Microsoft Office PowerPoint</Application>
  <PresentationFormat>On-screen Show (4:3)</PresentationFormat>
  <Paragraphs>360</Paragraphs>
  <Slides>44</Slides>
  <Notes>31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44</vt:i4>
      </vt:variant>
    </vt:vector>
  </HeadingPairs>
  <TitlesOfParts>
    <vt:vector size="56" baseType="lpstr">
      <vt:lpstr>Arial</vt:lpstr>
      <vt:lpstr>Baskerville Old Face</vt:lpstr>
      <vt:lpstr>Bodoni MT</vt:lpstr>
      <vt:lpstr>Brush Script MT</vt:lpstr>
      <vt:lpstr>Calibri</vt:lpstr>
      <vt:lpstr>Calisto MT</vt:lpstr>
      <vt:lpstr>Copperplate Gothic Light</vt:lpstr>
      <vt:lpstr>Courier New</vt:lpstr>
      <vt:lpstr>Times New Roman</vt:lpstr>
      <vt:lpstr>Wingdings</vt:lpstr>
      <vt:lpstr>Wingdings 3</vt:lpstr>
      <vt:lpstr>Office Theme</vt:lpstr>
      <vt:lpstr>Unit : 2  The Reference Model for Network Communication</vt:lpstr>
      <vt:lpstr>Course Outcome</vt:lpstr>
      <vt:lpstr>Learning outcome</vt:lpstr>
      <vt:lpstr>PowerPoint Presentation</vt:lpstr>
      <vt:lpstr>PowerPoint Presentation</vt:lpstr>
      <vt:lpstr>PowerPoint Presentation</vt:lpstr>
      <vt:lpstr>PowerPoint Presentation</vt:lpstr>
      <vt:lpstr>PowerPoint Presentation</vt:lpstr>
      <vt:lpstr>PowerPoint Presentation</vt:lpstr>
      <vt:lpstr>Learning outcome</vt:lpstr>
      <vt:lpstr>PowerPoint Presentation</vt:lpstr>
      <vt:lpstr> Physical Layer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Transport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of Layer Functions</vt:lpstr>
      <vt:lpstr>Comparison Physical, Logical and Port Addresses</vt:lpstr>
      <vt:lpstr>Learning outcome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 outcome</vt:lpstr>
      <vt:lpstr>PowerPoint Presentation</vt:lpstr>
      <vt:lpstr>PowerPoint Presentation</vt:lpstr>
      <vt:lpstr>Learning outcome</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Bubble Sort</dc:title>
  <dc:creator>Ak..!</dc:creator>
  <cp:lastModifiedBy>AK</cp:lastModifiedBy>
  <cp:revision>3101</cp:revision>
  <dcterms:created xsi:type="dcterms:W3CDTF">2006-08-16T00:00:00Z</dcterms:created>
  <dcterms:modified xsi:type="dcterms:W3CDTF">2024-03-11T05:48:11Z</dcterms:modified>
</cp:coreProperties>
</file>