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handoutMasterIdLst>
    <p:handoutMasterId r:id="rId63"/>
  </p:handoutMasterIdLst>
  <p:sldIdLst>
    <p:sldId id="375" r:id="rId2"/>
    <p:sldId id="432" r:id="rId3"/>
    <p:sldId id="433" r:id="rId4"/>
    <p:sldId id="305" r:id="rId5"/>
    <p:sldId id="434" r:id="rId6"/>
    <p:sldId id="377" r:id="rId7"/>
    <p:sldId id="379" r:id="rId8"/>
    <p:sldId id="380" r:id="rId9"/>
    <p:sldId id="378" r:id="rId10"/>
    <p:sldId id="381" r:id="rId11"/>
    <p:sldId id="382" r:id="rId12"/>
    <p:sldId id="383" r:id="rId13"/>
    <p:sldId id="384" r:id="rId14"/>
    <p:sldId id="385" r:id="rId15"/>
    <p:sldId id="386" r:id="rId16"/>
    <p:sldId id="387" r:id="rId17"/>
    <p:sldId id="388" r:id="rId18"/>
    <p:sldId id="389" r:id="rId19"/>
    <p:sldId id="390" r:id="rId20"/>
    <p:sldId id="391" r:id="rId21"/>
    <p:sldId id="392" r:id="rId22"/>
    <p:sldId id="393" r:id="rId23"/>
    <p:sldId id="394" r:id="rId24"/>
    <p:sldId id="398" r:id="rId25"/>
    <p:sldId id="399" r:id="rId26"/>
    <p:sldId id="400" r:id="rId27"/>
    <p:sldId id="401" r:id="rId28"/>
    <p:sldId id="403" r:id="rId29"/>
    <p:sldId id="404" r:id="rId30"/>
    <p:sldId id="405" r:id="rId31"/>
    <p:sldId id="395" r:id="rId32"/>
    <p:sldId id="396" r:id="rId33"/>
    <p:sldId id="397" r:id="rId34"/>
    <p:sldId id="406" r:id="rId35"/>
    <p:sldId id="407" r:id="rId36"/>
    <p:sldId id="408" r:id="rId37"/>
    <p:sldId id="435" r:id="rId38"/>
    <p:sldId id="409" r:id="rId39"/>
    <p:sldId id="412" r:id="rId40"/>
    <p:sldId id="410" r:id="rId41"/>
    <p:sldId id="411" r:id="rId42"/>
    <p:sldId id="415" r:id="rId43"/>
    <p:sldId id="414" r:id="rId44"/>
    <p:sldId id="416" r:id="rId45"/>
    <p:sldId id="417" r:id="rId46"/>
    <p:sldId id="424" r:id="rId47"/>
    <p:sldId id="418" r:id="rId48"/>
    <p:sldId id="419" r:id="rId49"/>
    <p:sldId id="420" r:id="rId50"/>
    <p:sldId id="425" r:id="rId51"/>
    <p:sldId id="421" r:id="rId52"/>
    <p:sldId id="422" r:id="rId53"/>
    <p:sldId id="423" r:id="rId54"/>
    <p:sldId id="426" r:id="rId55"/>
    <p:sldId id="427" r:id="rId56"/>
    <p:sldId id="429" r:id="rId57"/>
    <p:sldId id="428" r:id="rId58"/>
    <p:sldId id="430" r:id="rId59"/>
    <p:sldId id="431" r:id="rId60"/>
    <p:sldId id="278" r:id="rId6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CC00CC"/>
    <a:srgbClr val="008000"/>
    <a:srgbClr val="357F48"/>
    <a:srgbClr val="FEFED4"/>
    <a:srgbClr val="FF66FF"/>
    <a:srgbClr val="7FF84E"/>
    <a:srgbClr val="D5D9FD"/>
    <a:srgbClr val="ACF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73" autoAdjust="0"/>
    <p:restoredTop sz="94982" autoAdjust="0"/>
  </p:normalViewPr>
  <p:slideViewPr>
    <p:cSldViewPr>
      <p:cViewPr varScale="1">
        <p:scale>
          <a:sx n="65" d="100"/>
          <a:sy n="65" d="100"/>
        </p:scale>
        <p:origin x="1362" y="78"/>
      </p:cViewPr>
      <p:guideLst>
        <p:guide orient="horz" pos="2160"/>
        <p:guide pos="2880"/>
      </p:guideLst>
    </p:cSldViewPr>
  </p:slideViewPr>
  <p:outlineViewPr>
    <p:cViewPr>
      <p:scale>
        <a:sx n="33" d="100"/>
        <a:sy n="33" d="100"/>
      </p:scale>
      <p:origin x="240" y="23652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23CA00FA-5D31-4DE9-97BB-9A523ECBBE12}" type="datetimeFigureOut">
              <a:rPr lang="en-US" smtClean="0"/>
              <a:pPr/>
              <a:t>2/17/2025</a:t>
            </a:fld>
            <a:endParaRPr lang="en-US" dirty="0"/>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419E2BF3-CB2B-4DFC-803E-27C4F9FF6AB9}"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A5DEEB0-141D-4842-8491-D4D6CF86A14D}" type="datetimeFigureOut">
              <a:rPr lang="en-US" smtClean="0"/>
              <a:pPr/>
              <a:t>2/17/2025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75666D00-04F4-4955-A468-CAC788ADF1F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6</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9</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10</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11</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12</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13</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14</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15</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16</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17</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18</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19</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20</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21</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r>
              <a:rPr lang="en-US" dirty="0"/>
              <a:t>, fig from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22</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23</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31</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32</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r>
              <a:rPr lang="en-US" dirty="0"/>
              <a:t>, fig </a:t>
            </a:r>
            <a:r>
              <a:rPr lang="en-US" dirty="0" err="1"/>
              <a:t>frm</a:t>
            </a:r>
            <a:r>
              <a:rPr lang="en-US" dirty="0"/>
              <a:t>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33</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34</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35</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36</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38</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39</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40</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41</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42</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43</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44</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45</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46</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47</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48</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49</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50</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r>
              <a:rPr lang="en-US" baseline="0" dirty="0"/>
              <a:t> and Fig </a:t>
            </a:r>
            <a:r>
              <a:rPr lang="en-US" baseline="0" dirty="0" err="1"/>
              <a:t>frm</a:t>
            </a:r>
            <a:r>
              <a:rPr lang="en-US" baseline="0" dirty="0"/>
              <a:t> Net</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51</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Frm</a:t>
            </a:r>
            <a:r>
              <a:rPr lang="en-US" dirty="0"/>
              <a:t>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52</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53</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54</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Atul</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55</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From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56</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From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57</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From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58</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From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59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0E54C08-B1DF-4D36-BC5A-9A772D188CA2}" type="datetime1">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FCB5E8-9A08-4D51-AF6A-1A92EE464FA3}" type="datetime1">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CADA46-ED6F-4D13-B5DA-77D11DC6257D}" type="datetime1">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D98EBE-5BFB-4E0D-A769-551D918BFBF6}" type="datetime1">
              <a:rPr lang="en-US" smtClean="0"/>
              <a:pPr/>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9F69B3-0E93-4BB1-9FED-FFB5164B78B4}" type="datetime1">
              <a:rPr lang="en-US" smtClean="0"/>
              <a:pPr/>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800DAE-8687-443C-BC75-53EE46CCD3F6}" type="datetime1">
              <a:rPr lang="en-US" smtClean="0"/>
              <a:pPr/>
              <a:t>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68E5F4-D904-47F7-A078-CDF03115AD04}" type="datetime1">
              <a:rPr lang="en-US" smtClean="0"/>
              <a:pPr/>
              <a:t>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7168F7-A4F2-4835-AB1C-25291C278ACE}" type="datetime1">
              <a:rPr lang="en-US" smtClean="0"/>
              <a:pPr/>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B36C0E-722A-4258-BCE2-2558341360DB}" type="datetime1">
              <a:rPr lang="en-US" smtClean="0"/>
              <a:pPr/>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1ADC56-E096-47E9-98B0-6162F8AA79EB}" type="datetime1">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B2E7B9-325F-405E-8154-7B2AB641BBC3}" type="datetime1">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E71B7-12C2-4E37-9607-6FAAB2424452}" type="datetime1">
              <a:rPr lang="en-US" smtClean="0"/>
              <a:pPr/>
              <a:t>2/17/2025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000">
              <a:schemeClr val="accent3">
                <a:lumMod val="75000"/>
                <a:alpha val="69000"/>
              </a:schemeClr>
            </a:gs>
            <a:gs pos="50000">
              <a:srgbClr val="008000">
                <a:alpha val="45000"/>
              </a:srgbClr>
            </a:gs>
            <a:gs pos="100000">
              <a:srgbClr val="FFC000">
                <a:alpha val="79000"/>
              </a:srgb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3600"/>
            <a:ext cx="7772400" cy="1470025"/>
          </a:xfrm>
        </p:spPr>
        <p:txBody>
          <a:bodyPr>
            <a:noAutofit/>
          </a:bodyPr>
          <a:lstStyle/>
          <a:p>
            <a:r>
              <a:rPr lang="en-US" sz="6600" b="1" dirty="0">
                <a:solidFill>
                  <a:srgbClr val="0070C0"/>
                </a:solidFill>
                <a:latin typeface="Baskerville Old Face" pitchFamily="18" charset="0"/>
              </a:rPr>
              <a:t>Unit : 3</a:t>
            </a:r>
            <a:br>
              <a:rPr lang="en-US" sz="6600" dirty="0">
                <a:solidFill>
                  <a:srgbClr val="FF0000"/>
                </a:solidFill>
                <a:latin typeface="Baskerville Old Face" pitchFamily="18" charset="0"/>
              </a:rPr>
            </a:br>
            <a:r>
              <a:rPr lang="en-US" sz="6600" dirty="0">
                <a:latin typeface="Baskerville Old Face" pitchFamily="18" charset="0"/>
              </a:rPr>
              <a:t> </a:t>
            </a:r>
            <a:r>
              <a:rPr lang="en-US" sz="4800" b="1" dirty="0">
                <a:solidFill>
                  <a:schemeClr val="tx2">
                    <a:lumMod val="75000"/>
                  </a:schemeClr>
                </a:solidFill>
                <a:latin typeface="Baskerville Old Face" pitchFamily="18" charset="0"/>
              </a:rPr>
              <a:t>Transmission Media</a:t>
            </a:r>
            <a:endParaRPr lang="en-US" sz="6600" b="1" dirty="0">
              <a:solidFill>
                <a:schemeClr val="tx2">
                  <a:lumMod val="75000"/>
                </a:schemeClr>
              </a:solidFill>
              <a:latin typeface="Baskerville Old Face" pitchFamily="18" charset="0"/>
            </a:endParaRPr>
          </a:p>
        </p:txBody>
      </p:sp>
      <p:sp>
        <p:nvSpPr>
          <p:cNvPr id="3" name="Subtitle 2"/>
          <p:cNvSpPr>
            <a:spLocks noGrp="1"/>
          </p:cNvSpPr>
          <p:nvPr>
            <p:ph type="subTitle" idx="1"/>
          </p:nvPr>
        </p:nvSpPr>
        <p:spPr>
          <a:xfrm>
            <a:off x="762000" y="4114800"/>
            <a:ext cx="7315200" cy="2133600"/>
          </a:xfrm>
        </p:spPr>
        <p:txBody>
          <a:bodyPr>
            <a:normAutofit fontScale="85000" lnSpcReduction="20000"/>
          </a:bodyPr>
          <a:lstStyle/>
          <a:p>
            <a:endParaRPr lang="en-US" dirty="0"/>
          </a:p>
          <a:p>
            <a:r>
              <a:rPr lang="en-US" sz="4000" dirty="0">
                <a:solidFill>
                  <a:schemeClr val="accent1">
                    <a:lumMod val="75000"/>
                  </a:schemeClr>
                </a:solidFill>
                <a:latin typeface="Brush Script MT" pitchFamily="66" charset="0"/>
                <a:cs typeface="David Transparent" pitchFamily="2" charset="-79"/>
              </a:rPr>
              <a:t>Prepared By</a:t>
            </a:r>
            <a:r>
              <a:rPr lang="en-US" sz="4000" dirty="0">
                <a:solidFill>
                  <a:schemeClr val="tx1"/>
                </a:solidFill>
                <a:latin typeface="Brush Script MT" pitchFamily="66" charset="0"/>
                <a:cs typeface="David Transparent" pitchFamily="2" charset="-79"/>
              </a:rPr>
              <a:t>:</a:t>
            </a:r>
            <a:endParaRPr lang="en-US" b="1" dirty="0">
              <a:solidFill>
                <a:srgbClr val="C00000"/>
              </a:solidFill>
              <a:latin typeface="Copperplate Gothic Light" pitchFamily="34" charset="0"/>
              <a:cs typeface="David Transparent" pitchFamily="2" charset="-79"/>
            </a:endParaRPr>
          </a:p>
          <a:p>
            <a:r>
              <a:rPr lang="en-US" b="1" dirty="0">
                <a:solidFill>
                  <a:srgbClr val="C00000"/>
                </a:solidFill>
                <a:latin typeface="Copperplate Gothic Light" pitchFamily="34" charset="0"/>
                <a:cs typeface="David Transparent" pitchFamily="2" charset="-79"/>
              </a:rPr>
              <a:t>	</a:t>
            </a:r>
            <a:r>
              <a:rPr lang="en-US" b="1">
                <a:solidFill>
                  <a:srgbClr val="C00000"/>
                </a:solidFill>
                <a:latin typeface="Copperplate Gothic Light" pitchFamily="34" charset="0"/>
                <a:cs typeface="David Transparent" pitchFamily="2" charset="-79"/>
              </a:rPr>
              <a:t>	</a:t>
            </a:r>
            <a:endParaRPr lang="en-US" b="1" dirty="0">
              <a:solidFill>
                <a:srgbClr val="C00000"/>
              </a:solidFill>
              <a:latin typeface="Copperplate Gothic Light" pitchFamily="34" charset="0"/>
              <a:cs typeface="David Transparent" pitchFamily="2" charset="-79"/>
            </a:endParaRPr>
          </a:p>
          <a:p>
            <a:endParaRPr lang="en-US" sz="2400" dirty="0">
              <a:solidFill>
                <a:schemeClr val="tx2">
                  <a:lumMod val="75000"/>
                </a:schemeClr>
              </a:solidFill>
              <a:latin typeface="Calisto MT" pitchFamily="18" charset="0"/>
              <a:cs typeface="David Transparent" pitchFamily="2" charset="-79"/>
            </a:endParaRPr>
          </a:p>
          <a:p>
            <a:r>
              <a:rPr lang="en-US" sz="2400" dirty="0">
                <a:solidFill>
                  <a:schemeClr val="tx2">
                    <a:lumMod val="75000"/>
                  </a:schemeClr>
                </a:solidFill>
                <a:latin typeface="Calisto MT" pitchFamily="18" charset="0"/>
                <a:cs typeface="David Transparent" pitchFamily="2" charset="-79"/>
              </a:rPr>
              <a:t>Lecturer, AVPTI, RAJKOT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withEffect">
                                  <p:stCondLst>
                                    <p:cond delay="0"/>
                                  </p:stCondLst>
                                  <p:iterate type="lt">
                                    <p:tmPct val="50000"/>
                                  </p:iterate>
                                  <p:childTnLst>
                                    <p:set>
                                      <p:cBhvr>
                                        <p:cTn id="6" dur="1" fill="hold">
                                          <p:stCondLst>
                                            <p:cond delay="0"/>
                                          </p:stCondLst>
                                        </p:cTn>
                                        <p:tgtEl>
                                          <p:spTgt spid="3">
                                            <p:txEl>
                                              <p:pRg st="1" end="1"/>
                                            </p:txEl>
                                          </p:spTgt>
                                        </p:tgtEl>
                                        <p:attrNameLst>
                                          <p:attrName>style.visibility</p:attrName>
                                        </p:attrNameLst>
                                      </p:cBhvr>
                                      <p:to>
                                        <p:strVal val="visible"/>
                                      </p:to>
                                    </p:set>
                                    <p:anim calcmode="discrete" valueType="clr">
                                      <p:cBhvr override="childStyle">
                                        <p:cTn id="7" dur="80"/>
                                        <p:tgtEl>
                                          <p:spTgt spid="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1" end="1"/>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3">
                                            <p:txEl>
                                              <p:pRg st="2" end="2"/>
                                            </p:txEl>
                                          </p:spTgt>
                                        </p:tgtEl>
                                        <p:attrNameLst>
                                          <p:attrName>style.visibility</p:attrName>
                                        </p:attrNameLst>
                                      </p:cBhvr>
                                      <p:to>
                                        <p:strVal val="visible"/>
                                      </p:to>
                                    </p:set>
                                    <p:anim calcmode="discrete" valueType="clr">
                                      <p:cBhvr override="childStyle">
                                        <p:cTn id="12" dur="80"/>
                                        <p:tgtEl>
                                          <p:spTgt spid="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
                                            <p:txEl>
                                              <p:pRg st="2" end="2"/>
                                            </p:txEl>
                                          </p:spTgt>
                                        </p:tgtEl>
                                        <p:attrNameLst>
                                          <p:attrName>fillcolor</p:attrName>
                                        </p:attrNameLst>
                                      </p:cBhvr>
                                      <p:tavLst>
                                        <p:tav tm="0">
                                          <p:val>
                                            <p:clrVal>
                                              <a:schemeClr val="accent2"/>
                                            </p:clrVal>
                                          </p:val>
                                        </p:tav>
                                        <p:tav tm="50000">
                                          <p:val>
                                            <p:clrVal>
                                              <a:schemeClr val="hlink"/>
                                            </p:clrVal>
                                          </p:val>
                                        </p:tav>
                                      </p:tavLst>
                                    </p:anim>
                                    <p:set>
                                      <p:cBhvr>
                                        <p:cTn id="14" dur="80"/>
                                        <p:tgtEl>
                                          <p:spTgt spid="3">
                                            <p:txEl>
                                              <p:pRg st="2" end="2"/>
                                            </p:txEl>
                                          </p:spTgt>
                                        </p:tgtEl>
                                        <p:attrNameLst>
                                          <p:attrName>fill.type</p:attrName>
                                        </p:attrNameLst>
                                      </p:cBhvr>
                                      <p:to>
                                        <p:strVal val="solid"/>
                                      </p:to>
                                    </p:set>
                                  </p:childTnLst>
                                </p:cTn>
                              </p:par>
                              <p:par>
                                <p:cTn id="15" presetID="27" presetClass="entr" presetSubtype="0" fill="hold" grpId="0" nodeType="withEffect">
                                  <p:stCondLst>
                                    <p:cond delay="0"/>
                                  </p:stCondLst>
                                  <p:iterate type="lt">
                                    <p:tmPct val="50000"/>
                                  </p:iterate>
                                  <p:childTnLst>
                                    <p:set>
                                      <p:cBhvr>
                                        <p:cTn id="16" dur="1" fill="hold">
                                          <p:stCondLst>
                                            <p:cond delay="0"/>
                                          </p:stCondLst>
                                        </p:cTn>
                                        <p:tgtEl>
                                          <p:spTgt spid="3">
                                            <p:txEl>
                                              <p:pRg st="4" end="4"/>
                                            </p:txEl>
                                          </p:spTgt>
                                        </p:tgtEl>
                                        <p:attrNameLst>
                                          <p:attrName>style.visibility</p:attrName>
                                        </p:attrNameLst>
                                      </p:cBhvr>
                                      <p:to>
                                        <p:strVal val="visible"/>
                                      </p:to>
                                    </p:set>
                                    <p:anim calcmode="discrete" valueType="clr">
                                      <p:cBhvr override="childStyle">
                                        <p:cTn id="17" dur="80"/>
                                        <p:tgtEl>
                                          <p:spTgt spid="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3">
                                            <p:txEl>
                                              <p:pRg st="4" end="4"/>
                                            </p:txEl>
                                          </p:spTgt>
                                        </p:tgtEl>
                                        <p:attrNameLst>
                                          <p:attrName>fillcolor</p:attrName>
                                        </p:attrNameLst>
                                      </p:cBhvr>
                                      <p:tavLst>
                                        <p:tav tm="0">
                                          <p:val>
                                            <p:clrVal>
                                              <a:schemeClr val="accent2"/>
                                            </p:clrVal>
                                          </p:val>
                                        </p:tav>
                                        <p:tav tm="50000">
                                          <p:val>
                                            <p:clrVal>
                                              <a:schemeClr val="hlink"/>
                                            </p:clrVal>
                                          </p:val>
                                        </p:tav>
                                      </p:tavLst>
                                    </p:anim>
                                    <p:set>
                                      <p:cBhvr>
                                        <p:cTn id="19" dur="80"/>
                                        <p:tgtEl>
                                          <p:spTgt spid="3">
                                            <p:txEl>
                                              <p:pRg st="4" end="4"/>
                                            </p:txEl>
                                          </p:spTgt>
                                        </p:tgtEl>
                                        <p:attrNameLst>
                                          <p:attrName>fill.type</p:attrName>
                                        </p:attrNameLst>
                                      </p:cBhvr>
                                      <p:to>
                                        <p:strVal val="solid"/>
                                      </p:to>
                                    </p:set>
                                  </p:childTnLst>
                                </p:cTn>
                              </p:par>
                              <p:par>
                                <p:cTn id="20" presetID="2" presetClass="entr" presetSubtype="4" fill="hold" grpId="0" nodeType="withEffect">
                                  <p:stCondLst>
                                    <p:cond delay="0"/>
                                  </p:stCondLst>
                                  <p:iterate type="wd">
                                    <p:tmPct val="20000"/>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2000" fill="hold"/>
                                        <p:tgtEl>
                                          <p:spTgt spid="2"/>
                                        </p:tgtEl>
                                        <p:attrNameLst>
                                          <p:attrName>ppt_x</p:attrName>
                                        </p:attrNameLst>
                                      </p:cBhvr>
                                      <p:tavLst>
                                        <p:tav tm="0">
                                          <p:val>
                                            <p:strVal val="#ppt_x"/>
                                          </p:val>
                                        </p:tav>
                                        <p:tav tm="100000">
                                          <p:val>
                                            <p:strVal val="#ppt_x"/>
                                          </p:val>
                                        </p:tav>
                                      </p:tavLst>
                                    </p:anim>
                                    <p:anim calcmode="lin" valueType="num">
                                      <p:cBhvr additive="base">
                                        <p:cTn id="23" dur="2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FA7A-4160-4B4D-AB4A-5FFC99D71AEB}"/>
              </a:ext>
            </a:extLst>
          </p:cNvPr>
          <p:cNvSpPr>
            <a:spLocks noGrp="1"/>
          </p:cNvSpPr>
          <p:nvPr>
            <p:ph type="title"/>
          </p:nvPr>
        </p:nvSpPr>
        <p:spPr/>
        <p:txBody>
          <a:bodyPr/>
          <a:lstStyle/>
          <a:p>
            <a:r>
              <a:rPr lang="en-US" dirty="0"/>
              <a:t>COURSE OUTCOME (CO3)</a:t>
            </a:r>
            <a:endParaRPr lang="en-IN" dirty="0"/>
          </a:p>
        </p:txBody>
      </p:sp>
      <p:sp>
        <p:nvSpPr>
          <p:cNvPr id="3" name="Content Placeholder 2">
            <a:extLst>
              <a:ext uri="{FF2B5EF4-FFF2-40B4-BE49-F238E27FC236}">
                <a16:creationId xmlns:a16="http://schemas.microsoft.com/office/drawing/2014/main" id="{9AC03160-D6E8-4FFF-BFFF-69E63971BD09}"/>
              </a:ext>
            </a:extLst>
          </p:cNvPr>
          <p:cNvSpPr>
            <a:spLocks noGrp="1"/>
          </p:cNvSpPr>
          <p:nvPr>
            <p:ph idx="1"/>
          </p:nvPr>
        </p:nvSpPr>
        <p:spPr/>
        <p:txBody>
          <a:bodyPr/>
          <a:lstStyle/>
          <a:p>
            <a:pPr algn="just">
              <a:lnSpc>
                <a:spcPct val="150000"/>
              </a:lnSpc>
            </a:pPr>
            <a:r>
              <a:rPr lang="en-US" sz="4000" dirty="0"/>
              <a:t>After the completion of this unit, students will be able to….</a:t>
            </a:r>
            <a:r>
              <a:rPr lang="en-US" sz="4000" dirty="0">
                <a:effectLst/>
                <a:latin typeface="Times New Roman" panose="02020603050405020304" pitchFamily="18" charset="0"/>
                <a:ea typeface="Calibri" panose="020F0502020204030204" pitchFamily="34" charset="0"/>
              </a:rPr>
              <a:t> </a:t>
            </a:r>
            <a:r>
              <a:rPr lang="en-US" sz="4000" b="1" i="1" dirty="0">
                <a:solidFill>
                  <a:srgbClr val="FF0000"/>
                </a:solidFill>
                <a:effectLst/>
                <a:latin typeface="Times New Roman" panose="02020603050405020304" pitchFamily="18" charset="0"/>
                <a:ea typeface="Calibri" panose="020F0502020204030204" pitchFamily="34" charset="0"/>
              </a:rPr>
              <a:t>Illustrate use of transmission media used in computer network.</a:t>
            </a:r>
            <a:endParaRPr lang="en-US" sz="4000" b="1" i="1" dirty="0">
              <a:solidFill>
                <a:srgbClr val="FF0000"/>
              </a:solidFill>
            </a:endParaRPr>
          </a:p>
          <a:p>
            <a:pPr marL="457200" lvl="1" indent="0">
              <a:buNone/>
            </a:pPr>
            <a:endParaRPr lang="en-IN" dirty="0"/>
          </a:p>
        </p:txBody>
      </p:sp>
      <p:sp>
        <p:nvSpPr>
          <p:cNvPr id="4" name="Slide Number Placeholder 3">
            <a:extLst>
              <a:ext uri="{FF2B5EF4-FFF2-40B4-BE49-F238E27FC236}">
                <a16:creationId xmlns:a16="http://schemas.microsoft.com/office/drawing/2014/main" id="{3F42AE74-D48A-441A-9862-FDD71D42A63A}"/>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Tree>
    <p:extLst>
      <p:ext uri="{BB962C8B-B14F-4D97-AF65-F5344CB8AC3E}">
        <p14:creationId xmlns:p14="http://schemas.microsoft.com/office/powerpoint/2010/main" val="1233337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FA7A-4160-4B4D-AB4A-5FFC99D71AEB}"/>
              </a:ext>
            </a:extLst>
          </p:cNvPr>
          <p:cNvSpPr>
            <a:spLocks noGrp="1"/>
          </p:cNvSpPr>
          <p:nvPr>
            <p:ph type="title"/>
          </p:nvPr>
        </p:nvSpPr>
        <p:spPr/>
        <p:txBody>
          <a:bodyPr/>
          <a:lstStyle/>
          <a:p>
            <a:r>
              <a:rPr lang="en-US" dirty="0"/>
              <a:t>LEARNING OUTCOME</a:t>
            </a:r>
            <a:endParaRPr lang="en-IN" dirty="0"/>
          </a:p>
        </p:txBody>
      </p:sp>
      <p:sp>
        <p:nvSpPr>
          <p:cNvPr id="3" name="Content Placeholder 2">
            <a:extLst>
              <a:ext uri="{FF2B5EF4-FFF2-40B4-BE49-F238E27FC236}">
                <a16:creationId xmlns:a16="http://schemas.microsoft.com/office/drawing/2014/main" id="{9AC03160-D6E8-4FFF-BFFF-69E63971BD09}"/>
              </a:ext>
            </a:extLst>
          </p:cNvPr>
          <p:cNvSpPr>
            <a:spLocks noGrp="1"/>
          </p:cNvSpPr>
          <p:nvPr>
            <p:ph idx="1"/>
          </p:nvPr>
        </p:nvSpPr>
        <p:spPr/>
        <p:txBody>
          <a:bodyPr/>
          <a:lstStyle/>
          <a:p>
            <a:pPr algn="just">
              <a:lnSpc>
                <a:spcPct val="150000"/>
              </a:lnSpc>
            </a:pPr>
            <a:r>
              <a:rPr lang="en-US" sz="4000" dirty="0"/>
              <a:t>After the completion of this session, students will be able to….</a:t>
            </a:r>
            <a:r>
              <a:rPr lang="en-US" sz="4000" dirty="0">
                <a:effectLst/>
                <a:latin typeface="Times New Roman" panose="02020603050405020304" pitchFamily="18" charset="0"/>
                <a:ea typeface="Calibri" panose="020F0502020204030204" pitchFamily="34" charset="0"/>
              </a:rPr>
              <a:t> </a:t>
            </a:r>
            <a:r>
              <a:rPr lang="en-US" sz="4000" i="1" dirty="0">
                <a:solidFill>
                  <a:srgbClr val="FF0000"/>
                </a:solidFill>
              </a:rPr>
              <a:t>list out guided and unguided transmission media</a:t>
            </a:r>
          </a:p>
          <a:p>
            <a:pPr marL="457200" lvl="1" indent="0">
              <a:buNone/>
            </a:pPr>
            <a:endParaRPr lang="en-IN" dirty="0"/>
          </a:p>
        </p:txBody>
      </p:sp>
      <p:sp>
        <p:nvSpPr>
          <p:cNvPr id="4" name="Slide Number Placeholder 3">
            <a:extLst>
              <a:ext uri="{FF2B5EF4-FFF2-40B4-BE49-F238E27FC236}">
                <a16:creationId xmlns:a16="http://schemas.microsoft.com/office/drawing/2014/main" id="{3F42AE74-D48A-441A-9862-FDD71D42A63A}"/>
              </a:ext>
            </a:extLst>
          </p:cNvPr>
          <p:cNvSpPr>
            <a:spLocks noGrp="1"/>
          </p:cNvSpPr>
          <p:nvPr>
            <p:ph type="sldNum" sz="quarter" idx="12"/>
          </p:nvPr>
        </p:nvSpPr>
        <p:spPr/>
        <p:txBody>
          <a:bodyPr/>
          <a:lstStyle/>
          <a:p>
            <a:fld id="{B6F15528-21DE-4FAA-801E-634DDDAF4B2B}" type="slidenum">
              <a:rPr lang="en-US" smtClean="0"/>
              <a:pPr/>
              <a:t>3</a:t>
            </a:fld>
            <a:endParaRPr lang="en-US" dirty="0"/>
          </a:p>
        </p:txBody>
      </p:sp>
    </p:spTree>
    <p:extLst>
      <p:ext uri="{BB962C8B-B14F-4D97-AF65-F5344CB8AC3E}">
        <p14:creationId xmlns:p14="http://schemas.microsoft.com/office/powerpoint/2010/main" val="44619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686800" cy="5867400"/>
          </a:xfrm>
        </p:spPr>
        <p:txBody>
          <a:bodyPr>
            <a:normAutofit/>
          </a:bodyPr>
          <a:lstStyle/>
          <a:p>
            <a:pPr lvl="0" algn="just">
              <a:spcBef>
                <a:spcPts val="400"/>
              </a:spcBef>
              <a:spcAft>
                <a:spcPts val="200"/>
              </a:spcAft>
            </a:pPr>
            <a:r>
              <a:rPr lang="en-US" sz="2400" dirty="0"/>
              <a:t>Transmission media is the way through which the data, information or messages can flow between the nodes/workstations/computers. </a:t>
            </a:r>
            <a:r>
              <a:rPr lang="en-US" sz="2400" b="1" dirty="0"/>
              <a:t>OR</a:t>
            </a:r>
            <a:endParaRPr lang="en-US" sz="2400" dirty="0"/>
          </a:p>
          <a:p>
            <a:pPr algn="just"/>
            <a:r>
              <a:rPr lang="en-US" sz="2400" b="1" i="1" dirty="0">
                <a:solidFill>
                  <a:srgbClr val="0070C0"/>
                </a:solidFill>
              </a:rPr>
              <a:t>A transmission media</a:t>
            </a:r>
            <a:r>
              <a:rPr lang="en-US" sz="2400" i="1" dirty="0">
                <a:solidFill>
                  <a:srgbClr val="0070C0"/>
                </a:solidFill>
              </a:rPr>
              <a:t> can be defined as anything that can carry information from a source to a destination. It should be air, water, cable etc.</a:t>
            </a:r>
          </a:p>
          <a:p>
            <a:pPr algn="just"/>
            <a:r>
              <a:rPr lang="en-US" sz="2400" dirty="0"/>
              <a:t>Transmission media can be classified in to two broad categories: Guided media and Unguided media.</a:t>
            </a:r>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dirty="0"/>
          </a:p>
        </p:txBody>
      </p:sp>
      <p:sp>
        <p:nvSpPr>
          <p:cNvPr id="6" name="Rounded Rectangle 5"/>
          <p:cNvSpPr/>
          <p:nvPr/>
        </p:nvSpPr>
        <p:spPr>
          <a:xfrm>
            <a:off x="533400" y="152400"/>
            <a:ext cx="81534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3.1 Types of Transmission Media</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D:\my CUSP\CN\Figures frm Net\TransMedia.jpg"/>
          <p:cNvPicPr>
            <a:picLocks noChangeAspect="1" noChangeArrowheads="1"/>
          </p:cNvPicPr>
          <p:nvPr/>
        </p:nvPicPr>
        <p:blipFill>
          <a:blip r:embed="rId3"/>
          <a:srcRect/>
          <a:stretch>
            <a:fillRect/>
          </a:stretch>
        </p:blipFill>
        <p:spPr bwMode="auto">
          <a:xfrm>
            <a:off x="457200" y="4114800"/>
            <a:ext cx="8458200" cy="2438400"/>
          </a:xfrm>
          <a:prstGeom prst="rect">
            <a:avLst/>
          </a:prstGeom>
          <a:noFill/>
        </p:spPr>
      </p:pic>
      <p:sp>
        <p:nvSpPr>
          <p:cNvPr id="7" name="TextBox 6"/>
          <p:cNvSpPr txBox="1"/>
          <p:nvPr/>
        </p:nvSpPr>
        <p:spPr>
          <a:xfrm>
            <a:off x="228600" y="4800600"/>
            <a:ext cx="1143000" cy="369332"/>
          </a:xfrm>
          <a:prstGeom prst="rect">
            <a:avLst/>
          </a:prstGeom>
          <a:noFill/>
          <a:ln>
            <a:solidFill>
              <a:schemeClr val="accent1"/>
            </a:solidFill>
          </a:ln>
        </p:spPr>
        <p:txBody>
          <a:bodyPr wrap="square" rtlCol="0">
            <a:spAutoFit/>
          </a:bodyPr>
          <a:lstStyle/>
          <a:p>
            <a:pPr algn="ctr"/>
            <a:r>
              <a:rPr lang="en-US" b="1" dirty="0"/>
              <a:t>wired</a:t>
            </a:r>
          </a:p>
        </p:txBody>
      </p:sp>
      <p:sp>
        <p:nvSpPr>
          <p:cNvPr id="8" name="TextBox 7"/>
          <p:cNvSpPr txBox="1"/>
          <p:nvPr/>
        </p:nvSpPr>
        <p:spPr>
          <a:xfrm>
            <a:off x="7010400" y="4495800"/>
            <a:ext cx="1143000" cy="369332"/>
          </a:xfrm>
          <a:prstGeom prst="rect">
            <a:avLst/>
          </a:prstGeom>
          <a:noFill/>
          <a:ln>
            <a:solidFill>
              <a:schemeClr val="accent1"/>
            </a:solidFill>
          </a:ln>
        </p:spPr>
        <p:txBody>
          <a:bodyPr wrap="square" rtlCol="0">
            <a:spAutoFit/>
          </a:bodyPr>
          <a:lstStyle/>
          <a:p>
            <a:pPr algn="ctr"/>
            <a:r>
              <a:rPr lang="en-US" b="1" dirty="0"/>
              <a:t>wireless</a:t>
            </a:r>
          </a:p>
        </p:txBody>
      </p:sp>
      <p:cxnSp>
        <p:nvCxnSpPr>
          <p:cNvPr id="10" name="Straight Arrow Connector 9"/>
          <p:cNvCxnSpPr>
            <a:stCxn id="7" idx="3"/>
          </p:cNvCxnSpPr>
          <p:nvPr/>
        </p:nvCxnSpPr>
        <p:spPr>
          <a:xfrm>
            <a:off x="1371600" y="4985266"/>
            <a:ext cx="533400" cy="196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6553200" y="4724400"/>
            <a:ext cx="533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FA7A-4160-4B4D-AB4A-5FFC99D71AEB}"/>
              </a:ext>
            </a:extLst>
          </p:cNvPr>
          <p:cNvSpPr>
            <a:spLocks noGrp="1"/>
          </p:cNvSpPr>
          <p:nvPr>
            <p:ph type="title"/>
          </p:nvPr>
        </p:nvSpPr>
        <p:spPr/>
        <p:txBody>
          <a:bodyPr/>
          <a:lstStyle/>
          <a:p>
            <a:r>
              <a:rPr lang="en-US" dirty="0"/>
              <a:t>LEARNING OUTCOME</a:t>
            </a:r>
            <a:endParaRPr lang="en-IN" dirty="0"/>
          </a:p>
        </p:txBody>
      </p:sp>
      <p:sp>
        <p:nvSpPr>
          <p:cNvPr id="3" name="Content Placeholder 2">
            <a:extLst>
              <a:ext uri="{FF2B5EF4-FFF2-40B4-BE49-F238E27FC236}">
                <a16:creationId xmlns:a16="http://schemas.microsoft.com/office/drawing/2014/main" id="{9AC03160-D6E8-4FFF-BFFF-69E63971BD09}"/>
              </a:ext>
            </a:extLst>
          </p:cNvPr>
          <p:cNvSpPr>
            <a:spLocks noGrp="1"/>
          </p:cNvSpPr>
          <p:nvPr>
            <p:ph idx="1"/>
          </p:nvPr>
        </p:nvSpPr>
        <p:spPr/>
        <p:txBody>
          <a:bodyPr>
            <a:normAutofit/>
          </a:bodyPr>
          <a:lstStyle/>
          <a:p>
            <a:pPr algn="just">
              <a:lnSpc>
                <a:spcPct val="150000"/>
              </a:lnSpc>
            </a:pPr>
            <a:r>
              <a:rPr lang="en-US" sz="4000" dirty="0"/>
              <a:t>After the completion of this session, students will be able to….</a:t>
            </a:r>
            <a:r>
              <a:rPr lang="en-US" sz="4000" dirty="0">
                <a:latin typeface="Times New Roman" panose="02020603050405020304" pitchFamily="18" charset="0"/>
              </a:rPr>
              <a:t> </a:t>
            </a:r>
            <a:r>
              <a:rPr lang="en-US" sz="4000" i="1" dirty="0">
                <a:solidFill>
                  <a:srgbClr val="FF0000"/>
                </a:solidFill>
              </a:rPr>
              <a:t>select appropriate </a:t>
            </a:r>
            <a:r>
              <a:rPr lang="en-US" sz="4000" b="1" i="1" dirty="0">
                <a:solidFill>
                  <a:srgbClr val="0099FF"/>
                </a:solidFill>
              </a:rPr>
              <a:t>guided</a:t>
            </a:r>
            <a:r>
              <a:rPr lang="en-US" sz="4000" i="1" dirty="0">
                <a:solidFill>
                  <a:srgbClr val="FF0000"/>
                </a:solidFill>
              </a:rPr>
              <a:t> transmission media for given network.</a:t>
            </a:r>
          </a:p>
          <a:p>
            <a:pPr marL="457200" lvl="1" indent="0">
              <a:buNone/>
            </a:pPr>
            <a:endParaRPr lang="en-IN" dirty="0"/>
          </a:p>
        </p:txBody>
      </p:sp>
      <p:sp>
        <p:nvSpPr>
          <p:cNvPr id="4" name="Slide Number Placeholder 3">
            <a:extLst>
              <a:ext uri="{FF2B5EF4-FFF2-40B4-BE49-F238E27FC236}">
                <a16:creationId xmlns:a16="http://schemas.microsoft.com/office/drawing/2014/main" id="{3F42AE74-D48A-441A-9862-FDD71D42A63A}"/>
              </a:ext>
            </a:extLst>
          </p:cNvPr>
          <p:cNvSpPr>
            <a:spLocks noGrp="1"/>
          </p:cNvSpPr>
          <p:nvPr>
            <p:ph type="sldNum" sz="quarter" idx="12"/>
          </p:nvPr>
        </p:nvSpPr>
        <p:spPr/>
        <p:txBody>
          <a:bodyPr/>
          <a:lstStyle/>
          <a:p>
            <a:fld id="{B6F15528-21DE-4FAA-801E-634DDDAF4B2B}" type="slidenum">
              <a:rPr lang="en-US" smtClean="0"/>
              <a:pPr/>
              <a:t>5</a:t>
            </a:fld>
            <a:endParaRPr lang="en-US" dirty="0"/>
          </a:p>
        </p:txBody>
      </p:sp>
    </p:spTree>
    <p:extLst>
      <p:ext uri="{BB962C8B-B14F-4D97-AF65-F5344CB8AC3E}">
        <p14:creationId xmlns:p14="http://schemas.microsoft.com/office/powerpoint/2010/main" val="3536227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686800" cy="5867400"/>
          </a:xfrm>
        </p:spPr>
        <p:txBody>
          <a:bodyPr>
            <a:normAutofit/>
          </a:bodyPr>
          <a:lstStyle/>
          <a:p>
            <a:pPr lvl="0" algn="just">
              <a:spcBef>
                <a:spcPts val="400"/>
              </a:spcBef>
              <a:spcAft>
                <a:spcPts val="200"/>
              </a:spcAft>
            </a:pPr>
            <a:r>
              <a:rPr lang="en-US" sz="2400" dirty="0"/>
              <a:t>Transmission Media uses a "cabling" system that guides the data signals along a specific path.</a:t>
            </a:r>
          </a:p>
          <a:p>
            <a:pPr algn="just"/>
            <a:r>
              <a:rPr lang="en-US" sz="2400" dirty="0"/>
              <a:t>It provides a conduit from one device to another</a:t>
            </a:r>
          </a:p>
          <a:p>
            <a:pPr algn="just"/>
            <a:r>
              <a:rPr lang="en-US" sz="2400" dirty="0"/>
              <a:t>It is also known as ‘</a:t>
            </a:r>
            <a:r>
              <a:rPr lang="en-US" sz="2400" b="1" dirty="0"/>
              <a:t>bounded media</a:t>
            </a:r>
            <a:r>
              <a:rPr lang="en-US" sz="2400" dirty="0"/>
              <a:t>’ or ‘</a:t>
            </a:r>
            <a:r>
              <a:rPr lang="en-US" sz="2400" b="1" dirty="0"/>
              <a:t>wired communication</a:t>
            </a:r>
            <a:r>
              <a:rPr lang="en-US" sz="2400" dirty="0"/>
              <a:t>’.</a:t>
            </a:r>
          </a:p>
          <a:p>
            <a:pPr algn="just"/>
            <a:r>
              <a:rPr lang="en-US" sz="2400" dirty="0"/>
              <a:t>Examples of guided media are: twisted-pair cable, coaxial cable, and fiber-optic cable.</a:t>
            </a:r>
          </a:p>
          <a:p>
            <a:pPr algn="just">
              <a:buFont typeface="Wingdings" pitchFamily="2" charset="2"/>
              <a:buChar char="v"/>
            </a:pPr>
            <a:r>
              <a:rPr lang="en-US" sz="2800" b="1" dirty="0">
                <a:solidFill>
                  <a:srgbClr val="C00000"/>
                </a:solidFill>
                <a:sym typeface="Wingdings" pitchFamily="2" charset="2"/>
              </a:rPr>
              <a:t>Twisted pair cable</a:t>
            </a:r>
          </a:p>
          <a:p>
            <a:pPr algn="just"/>
            <a:r>
              <a:rPr lang="en-US" sz="2400" dirty="0">
                <a:sym typeface="Wingdings" pitchFamily="2" charset="2"/>
              </a:rPr>
              <a:t>Twisted pair cable comes into two forms  </a:t>
            </a:r>
            <a:r>
              <a:rPr lang="en-US" sz="2400" i="1" dirty="0">
                <a:sym typeface="Wingdings" pitchFamily="2" charset="2"/>
              </a:rPr>
              <a:t>unshielded and shielded twisted pair.</a:t>
            </a:r>
          </a:p>
          <a:p>
            <a:pPr algn="just"/>
            <a:r>
              <a:rPr lang="en-US" sz="2400" dirty="0">
                <a:sym typeface="Wingdings" pitchFamily="2" charset="2"/>
              </a:rPr>
              <a:t>Both of these types uses </a:t>
            </a:r>
          </a:p>
          <a:p>
            <a:pPr algn="just">
              <a:buNone/>
            </a:pPr>
            <a:r>
              <a:rPr lang="en-US" sz="2400" dirty="0">
                <a:sym typeface="Wingdings" pitchFamily="2" charset="2"/>
              </a:rPr>
              <a:t>	metallic (copper) conductor</a:t>
            </a:r>
          </a:p>
          <a:p>
            <a:pPr algn="just">
              <a:buNone/>
            </a:pPr>
            <a:r>
              <a:rPr lang="en-US" sz="2400" dirty="0">
                <a:sym typeface="Wingdings" pitchFamily="2" charset="2"/>
              </a:rPr>
              <a:t>	that accept and transport </a:t>
            </a:r>
          </a:p>
          <a:p>
            <a:pPr algn="just">
              <a:buNone/>
            </a:pPr>
            <a:r>
              <a:rPr lang="en-US" sz="2400" dirty="0">
                <a:sym typeface="Wingdings" pitchFamily="2" charset="2"/>
              </a:rPr>
              <a:t>	signals in the form of electric current.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dirty="0"/>
          </a:p>
        </p:txBody>
      </p:sp>
      <p:sp>
        <p:nvSpPr>
          <p:cNvPr id="6" name="Rounded Rectangle 5"/>
          <p:cNvSpPr/>
          <p:nvPr/>
        </p:nvSpPr>
        <p:spPr>
          <a:xfrm>
            <a:off x="533400" y="152400"/>
            <a:ext cx="81534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3.2 Guided Media (Physical media)</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 name="Picture 2"/>
          <p:cNvPicPr>
            <a:picLocks noChangeArrowheads="1"/>
          </p:cNvPicPr>
          <p:nvPr/>
        </p:nvPicPr>
        <p:blipFill>
          <a:blip r:embed="rId3"/>
          <a:srcRect/>
          <a:stretch>
            <a:fillRect/>
          </a:stretch>
        </p:blipFill>
        <p:spPr bwMode="auto">
          <a:xfrm>
            <a:off x="4419600" y="4437062"/>
            <a:ext cx="4598988" cy="1506538"/>
          </a:xfrm>
          <a:prstGeom prst="rect">
            <a:avLst/>
          </a:prstGeom>
          <a:noFill/>
          <a:ln w="12700">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rrowheads="1"/>
          </p:cNvPicPr>
          <p:nvPr/>
        </p:nvPicPr>
        <p:blipFill>
          <a:blip r:embed="rId2"/>
          <a:srcRect/>
          <a:stretch>
            <a:fillRect/>
          </a:stretch>
        </p:blipFill>
        <p:spPr bwMode="auto">
          <a:xfrm>
            <a:off x="328613" y="1373188"/>
            <a:ext cx="8459787" cy="4033837"/>
          </a:xfrm>
          <a:prstGeom prst="rect">
            <a:avLst/>
          </a:prstGeom>
          <a:noFill/>
          <a:ln w="12700">
            <a:noFill/>
            <a:miter lim="800000"/>
            <a:headEnd/>
            <a:tailEnd/>
          </a:ln>
          <a:effectLst/>
        </p:spPr>
      </p:pic>
      <p:sp>
        <p:nvSpPr>
          <p:cNvPr id="9219" name="Rectangle 3"/>
          <p:cNvSpPr>
            <a:spLocks noChangeArrowheads="1"/>
          </p:cNvSpPr>
          <p:nvPr/>
        </p:nvSpPr>
        <p:spPr bwMode="auto">
          <a:xfrm>
            <a:off x="1579563" y="346075"/>
            <a:ext cx="6710684" cy="582211"/>
          </a:xfrm>
          <a:prstGeom prst="rect">
            <a:avLst/>
          </a:prstGeom>
          <a:noFill/>
          <a:ln w="12700">
            <a:noFill/>
            <a:miter lim="800000"/>
            <a:headEnd/>
            <a:tailEnd/>
          </a:ln>
          <a:effectLst/>
        </p:spPr>
        <p:txBody>
          <a:bodyPr wrap="none" lIns="90488" tIns="44450" rIns="90488" bIns="44450">
            <a:spAutoFit/>
          </a:bodyPr>
          <a:lstStyle/>
          <a:p>
            <a:r>
              <a:rPr lang="en-US" sz="3200" b="1" dirty="0">
                <a:solidFill>
                  <a:srgbClr val="00279F"/>
                </a:solidFill>
              </a:rPr>
              <a:t>Effect of Noise on Parallel Lines (Extra)</a:t>
            </a:r>
          </a:p>
        </p:txBody>
      </p:sp>
      <p:sp>
        <p:nvSpPr>
          <p:cNvPr id="8" name="Slide Number Placeholder 7"/>
          <p:cNvSpPr>
            <a:spLocks noGrp="1"/>
          </p:cNvSpPr>
          <p:nvPr>
            <p:ph type="sldNum" sz="quarter" idx="12"/>
          </p:nvPr>
        </p:nvSpPr>
        <p:spPr/>
        <p:txBody>
          <a:bodyPr/>
          <a:lstStyle/>
          <a:p>
            <a:fld id="{857C5837-A0B7-41A4-9E8A-25F26DBF1776}" type="slidenum">
              <a:rPr lang="en-US" smtClean="0"/>
              <a:pPr/>
              <a:t>7</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rrowheads="1"/>
          </p:cNvPicPr>
          <p:nvPr/>
        </p:nvPicPr>
        <p:blipFill>
          <a:blip r:embed="rId2"/>
          <a:srcRect/>
          <a:stretch>
            <a:fillRect/>
          </a:stretch>
        </p:blipFill>
        <p:spPr bwMode="auto">
          <a:xfrm>
            <a:off x="176213" y="1335088"/>
            <a:ext cx="8766175" cy="4440237"/>
          </a:xfrm>
          <a:prstGeom prst="rect">
            <a:avLst/>
          </a:prstGeom>
          <a:noFill/>
          <a:ln w="12700">
            <a:noFill/>
            <a:miter lim="800000"/>
            <a:headEnd/>
            <a:tailEnd/>
          </a:ln>
          <a:effectLst/>
        </p:spPr>
      </p:pic>
      <p:sp>
        <p:nvSpPr>
          <p:cNvPr id="10243" name="Rectangle 3"/>
          <p:cNvSpPr>
            <a:spLocks noChangeArrowheads="1"/>
          </p:cNvSpPr>
          <p:nvPr/>
        </p:nvSpPr>
        <p:spPr bwMode="auto">
          <a:xfrm>
            <a:off x="1731963" y="193675"/>
            <a:ext cx="6055890" cy="582211"/>
          </a:xfrm>
          <a:prstGeom prst="rect">
            <a:avLst/>
          </a:prstGeom>
          <a:noFill/>
          <a:ln w="12700">
            <a:noFill/>
            <a:miter lim="800000"/>
            <a:headEnd/>
            <a:tailEnd/>
          </a:ln>
          <a:effectLst/>
        </p:spPr>
        <p:txBody>
          <a:bodyPr wrap="none" lIns="90488" tIns="44450" rIns="90488" bIns="44450">
            <a:spAutoFit/>
          </a:bodyPr>
          <a:lstStyle/>
          <a:p>
            <a:r>
              <a:rPr lang="en-US" sz="3200" b="1" dirty="0">
                <a:solidFill>
                  <a:srgbClr val="00279F"/>
                </a:solidFill>
              </a:rPr>
              <a:t>Noise on Twisted-Pair Lines (Extra)</a:t>
            </a:r>
          </a:p>
        </p:txBody>
      </p:sp>
      <p:sp>
        <p:nvSpPr>
          <p:cNvPr id="8" name="Slide Number Placeholder 7"/>
          <p:cNvSpPr>
            <a:spLocks noGrp="1"/>
          </p:cNvSpPr>
          <p:nvPr>
            <p:ph type="sldNum" sz="quarter" idx="12"/>
          </p:nvPr>
        </p:nvSpPr>
        <p:spPr/>
        <p:txBody>
          <a:bodyPr/>
          <a:lstStyle/>
          <a:p>
            <a:fld id="{857C5837-A0B7-41A4-9E8A-25F26DBF1776}" type="slidenum">
              <a:rPr lang="en-US" smtClean="0"/>
              <a:pPr/>
              <a:t>8</a:t>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pitchFamily="2" charset="2"/>
              <a:buChar char="q"/>
            </a:pPr>
            <a:r>
              <a:rPr lang="en-US" sz="2600" b="1" dirty="0">
                <a:solidFill>
                  <a:srgbClr val="C00000"/>
                </a:solidFill>
                <a:sym typeface="Wingdings" pitchFamily="2" charset="2"/>
              </a:rPr>
              <a:t>Unshielded twisted pair cable (UTP)</a:t>
            </a:r>
          </a:p>
          <a:p>
            <a:pPr marL="342900" lvl="1" indent="-342900" algn="just">
              <a:buFont typeface="Arial" pitchFamily="34" charset="0"/>
              <a:buChar char="•"/>
            </a:pPr>
            <a:r>
              <a:rPr lang="en-US" sz="2400" dirty="0">
                <a:sym typeface="Wingdings" pitchFamily="2" charset="2"/>
              </a:rPr>
              <a:t>It is most common type of medium used now a days.</a:t>
            </a:r>
          </a:p>
          <a:p>
            <a:pPr algn="just"/>
            <a:r>
              <a:rPr lang="en-US" sz="2400" dirty="0">
                <a:sym typeface="Wingdings" pitchFamily="2" charset="2"/>
              </a:rPr>
              <a:t>It is mostly used in telephone system.</a:t>
            </a:r>
          </a:p>
          <a:p>
            <a:pPr algn="just"/>
            <a:r>
              <a:rPr lang="en-US" sz="2400" dirty="0">
                <a:sym typeface="Wingdings" pitchFamily="2" charset="2"/>
              </a:rPr>
              <a:t>It’s f</a:t>
            </a:r>
            <a:r>
              <a:rPr lang="en-US" sz="2400" dirty="0"/>
              <a:t>requency range is suitable for both data and voice.</a:t>
            </a:r>
          </a:p>
          <a:p>
            <a:pPr algn="just"/>
            <a:r>
              <a:rPr lang="en-US" sz="2400" dirty="0">
                <a:sym typeface="Wingdings" pitchFamily="2" charset="2"/>
              </a:rPr>
              <a:t>Frequency r</a:t>
            </a:r>
            <a:r>
              <a:rPr lang="en-US" sz="2400" dirty="0"/>
              <a:t>ange is 100 </a:t>
            </a:r>
            <a:r>
              <a:rPr lang="en-US" sz="2400" dirty="0" err="1"/>
              <a:t>hz</a:t>
            </a:r>
            <a:r>
              <a:rPr lang="en-US" sz="2400" dirty="0"/>
              <a:t> to 5mhz.</a:t>
            </a:r>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 name="Picture 2"/>
          <p:cNvPicPr>
            <a:picLocks noChangeArrowheads="1"/>
          </p:cNvPicPr>
          <p:nvPr/>
        </p:nvPicPr>
        <p:blipFill>
          <a:blip r:embed="rId3"/>
          <a:srcRect/>
          <a:stretch>
            <a:fillRect/>
          </a:stretch>
        </p:blipFill>
        <p:spPr bwMode="auto">
          <a:xfrm>
            <a:off x="457200" y="2651935"/>
            <a:ext cx="8229600" cy="3672665"/>
          </a:xfrm>
          <a:prstGeom prst="rect">
            <a:avLst/>
          </a:prstGeom>
          <a:noFill/>
          <a:ln w="12700">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lnSpcReduction="10000"/>
          </a:bodyPr>
          <a:lstStyle/>
          <a:p>
            <a:pPr algn="just">
              <a:buFont typeface="Wingdings 3" pitchFamily="18" charset="2"/>
              <a:buChar char="Ê"/>
            </a:pPr>
            <a:r>
              <a:rPr lang="en-US" sz="2400" b="1" dirty="0">
                <a:sym typeface="Wingdings" pitchFamily="2" charset="2"/>
              </a:rPr>
              <a:t>Advantages of UTP</a:t>
            </a:r>
          </a:p>
          <a:p>
            <a:pPr lvl="1">
              <a:buFont typeface="Courier New" pitchFamily="49" charset="0"/>
              <a:buChar char="o"/>
            </a:pPr>
            <a:r>
              <a:rPr lang="en-US" sz="2400" dirty="0"/>
              <a:t>Low cost</a:t>
            </a:r>
          </a:p>
          <a:p>
            <a:pPr lvl="1">
              <a:buFont typeface="Courier New" pitchFamily="49" charset="0"/>
              <a:buChar char="o"/>
            </a:pPr>
            <a:r>
              <a:rPr lang="en-US" sz="2400" dirty="0"/>
              <a:t>Easy to use</a:t>
            </a:r>
          </a:p>
          <a:p>
            <a:pPr lvl="1">
              <a:buFont typeface="Courier New" pitchFamily="49" charset="0"/>
              <a:buChar char="o"/>
            </a:pPr>
            <a:r>
              <a:rPr lang="en-US" sz="2400" dirty="0"/>
              <a:t>Cheap and flexible</a:t>
            </a:r>
          </a:p>
          <a:p>
            <a:pPr lvl="1">
              <a:buFont typeface="Courier New" pitchFamily="49" charset="0"/>
              <a:buChar char="o"/>
            </a:pPr>
            <a:r>
              <a:rPr lang="en-US" sz="2400" dirty="0"/>
              <a:t>Easy to install</a:t>
            </a:r>
          </a:p>
          <a:p>
            <a:pPr lvl="1">
              <a:buFont typeface="Courier New" pitchFamily="49" charset="0"/>
              <a:buChar char="o"/>
            </a:pPr>
            <a:r>
              <a:rPr lang="en-US" sz="2400" dirty="0">
                <a:sym typeface="Wingdings" pitchFamily="2" charset="2"/>
              </a:rPr>
              <a:t>Used in many LAN technology like Ethernet and token ring</a:t>
            </a:r>
          </a:p>
          <a:p>
            <a:pPr algn="just">
              <a:buFont typeface="Wingdings 3" pitchFamily="18" charset="2"/>
              <a:buChar char="Ê"/>
            </a:pPr>
            <a:r>
              <a:rPr lang="en-US" sz="2400" b="1" dirty="0">
                <a:sym typeface="Wingdings" pitchFamily="2" charset="2"/>
              </a:rPr>
              <a:t>Disadvantages of UTP</a:t>
            </a:r>
          </a:p>
          <a:p>
            <a:pPr marL="739775" indent="-274638" algn="just">
              <a:buFont typeface="Courier New" pitchFamily="49" charset="0"/>
              <a:buChar char="o"/>
            </a:pPr>
            <a:r>
              <a:rPr lang="en-US" sz="2400" dirty="0"/>
              <a:t>It can be affected by EMI (electromagnetic interference) which can create noise and damage the signal.</a:t>
            </a:r>
          </a:p>
          <a:p>
            <a:pPr algn="just"/>
            <a:r>
              <a:rPr lang="en-US" sz="2400" dirty="0">
                <a:sym typeface="Wingdings" pitchFamily="2" charset="2"/>
              </a:rPr>
              <a:t>Electronics Industries Association (EIA) has categorized UTP by quality are:</a:t>
            </a:r>
          </a:p>
          <a:p>
            <a:pPr algn="just"/>
            <a:r>
              <a:rPr lang="en-US" sz="2400" dirty="0">
                <a:sym typeface="Wingdings" pitchFamily="2" charset="2"/>
              </a:rPr>
              <a:t>Category 1</a:t>
            </a:r>
          </a:p>
          <a:p>
            <a:pPr lvl="1"/>
            <a:r>
              <a:rPr lang="en-US" sz="2200" dirty="0"/>
              <a:t>Used in telephone system</a:t>
            </a:r>
          </a:p>
          <a:p>
            <a:pPr lvl="1"/>
            <a:r>
              <a:rPr lang="en-US" sz="2200" dirty="0"/>
              <a:t>Law speed data communication</a:t>
            </a:r>
          </a:p>
          <a:p>
            <a:r>
              <a:rPr lang="en-US" sz="2400" dirty="0">
                <a:sym typeface="Wingdings" pitchFamily="2" charset="2"/>
              </a:rPr>
              <a:t>Category 2</a:t>
            </a:r>
          </a:p>
          <a:p>
            <a:pPr lvl="1"/>
            <a:r>
              <a:rPr lang="en-US" sz="2200" dirty="0"/>
              <a:t>Suitable for voice and data up to 4 mbps</a:t>
            </a:r>
            <a:endParaRPr lang="en-US" sz="22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lnSpcReduction="10000"/>
          </a:bodyPr>
          <a:lstStyle/>
          <a:p>
            <a:pPr algn="just"/>
            <a:r>
              <a:rPr lang="en-US" sz="2600" dirty="0">
                <a:sym typeface="Wingdings" pitchFamily="2" charset="2"/>
              </a:rPr>
              <a:t>Category 3</a:t>
            </a:r>
          </a:p>
          <a:p>
            <a:pPr lvl="1" algn="just"/>
            <a:r>
              <a:rPr lang="en-IN" sz="2400" dirty="0"/>
              <a:t>It can be used for data transmission up to 10mbps.</a:t>
            </a:r>
          </a:p>
          <a:p>
            <a:pPr lvl="1" algn="just"/>
            <a:r>
              <a:rPr lang="en-IN" sz="2400" dirty="0">
                <a:sym typeface="Wingdings" pitchFamily="2" charset="2"/>
              </a:rPr>
              <a:t>It is now used in standard telephone system.</a:t>
            </a:r>
          </a:p>
          <a:p>
            <a:pPr algn="just"/>
            <a:r>
              <a:rPr lang="en-IN" sz="2600" dirty="0">
                <a:sym typeface="Wingdings" pitchFamily="2" charset="2"/>
              </a:rPr>
              <a:t>Category 4</a:t>
            </a:r>
          </a:p>
          <a:p>
            <a:pPr lvl="1" algn="just"/>
            <a:r>
              <a:rPr lang="en-IN" sz="2400" dirty="0"/>
              <a:t>It can be used for data transmission up to 16mbps.</a:t>
            </a:r>
          </a:p>
          <a:p>
            <a:pPr algn="just"/>
            <a:r>
              <a:rPr lang="en-US" sz="2600" dirty="0">
                <a:sym typeface="Wingdings" pitchFamily="2" charset="2"/>
              </a:rPr>
              <a:t>Category 5</a:t>
            </a:r>
          </a:p>
          <a:p>
            <a:pPr lvl="1" algn="just"/>
            <a:r>
              <a:rPr lang="en-IN" sz="2400" dirty="0"/>
              <a:t>It can be used for data transmission up to 100mbps</a:t>
            </a:r>
            <a:r>
              <a:rPr lang="en-IN" dirty="0"/>
              <a:t>.</a:t>
            </a:r>
            <a:endParaRPr lang="en-US" dirty="0">
              <a:sym typeface="Wingdings" pitchFamily="2" charset="2"/>
            </a:endParaRPr>
          </a:p>
          <a:p>
            <a:pPr algn="just">
              <a:buFont typeface="Symbol" pitchFamily="18" charset="2"/>
              <a:buChar char=""/>
            </a:pPr>
            <a:r>
              <a:rPr lang="en-US" sz="2400" b="1" dirty="0">
                <a:solidFill>
                  <a:srgbClr val="002060"/>
                </a:solidFill>
                <a:sym typeface="Wingdings" pitchFamily="2" charset="2"/>
              </a:rPr>
              <a:t>UTP Connectors</a:t>
            </a:r>
          </a:p>
          <a:p>
            <a:pPr algn="just"/>
            <a:r>
              <a:rPr lang="en-IN" sz="2400" dirty="0"/>
              <a:t>UTP is most commonly connected to network devices via a type of snap in plug like that used with telephone jacks.</a:t>
            </a:r>
          </a:p>
          <a:p>
            <a:pPr algn="just"/>
            <a:r>
              <a:rPr lang="en-IN" sz="2400" dirty="0"/>
              <a:t>Connectors are either male (the plug) or female (the receptive).</a:t>
            </a:r>
          </a:p>
          <a:p>
            <a:pPr algn="just"/>
            <a:r>
              <a:rPr lang="en-IN" sz="2400" dirty="0"/>
              <a:t>Each wire in a cable is attached to one conductor (or pin) in the connector.</a:t>
            </a:r>
          </a:p>
          <a:p>
            <a:pPr algn="just"/>
            <a:r>
              <a:rPr lang="en-IN" sz="2400" dirty="0"/>
              <a:t>The most frequently use of these plugs is an RJ45 (Registered Jack), connector with 8 conductor or RJ11 connector with 4 conductor (see figure).</a:t>
            </a:r>
            <a:endParaRPr lang="en-US" sz="20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endParaRPr lang="en-US" sz="2400" b="1" dirty="0">
              <a:solidFill>
                <a:srgbClr val="002060"/>
              </a:solidFill>
              <a:sym typeface="Wingdings" pitchFamily="2" charset="2"/>
            </a:endParaRP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0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2"/>
          <p:cNvPicPr>
            <a:picLocks noChangeArrowheads="1"/>
          </p:cNvPicPr>
          <p:nvPr/>
        </p:nvPicPr>
        <p:blipFill>
          <a:blip r:embed="rId3"/>
          <a:srcRect/>
          <a:stretch>
            <a:fillRect/>
          </a:stretch>
        </p:blipFill>
        <p:spPr bwMode="auto">
          <a:xfrm>
            <a:off x="609600" y="152400"/>
            <a:ext cx="8229600" cy="3814779"/>
          </a:xfrm>
          <a:prstGeom prst="rect">
            <a:avLst/>
          </a:prstGeom>
          <a:noFill/>
          <a:ln w="12700">
            <a:noFill/>
            <a:miter lim="800000"/>
            <a:headEnd/>
            <a:tailEnd/>
          </a:ln>
          <a:effectLst/>
        </p:spPr>
      </p:pic>
      <p:sp>
        <p:nvSpPr>
          <p:cNvPr id="7" name="TextBox 6"/>
          <p:cNvSpPr txBox="1"/>
          <p:nvPr/>
        </p:nvSpPr>
        <p:spPr>
          <a:xfrm>
            <a:off x="304800" y="4800600"/>
            <a:ext cx="3657600" cy="646331"/>
          </a:xfrm>
          <a:prstGeom prst="rect">
            <a:avLst/>
          </a:prstGeom>
          <a:noFill/>
          <a:ln>
            <a:solidFill>
              <a:schemeClr val="accent1"/>
            </a:solidFill>
          </a:ln>
        </p:spPr>
        <p:txBody>
          <a:bodyPr wrap="square" rtlCol="0">
            <a:spAutoFit/>
          </a:bodyPr>
          <a:lstStyle/>
          <a:p>
            <a:pPr algn="just"/>
            <a:r>
              <a:rPr lang="en-US" b="1" dirty="0"/>
              <a:t>RJ11 connector with 4 conductor, used in telephone system</a:t>
            </a:r>
          </a:p>
        </p:txBody>
      </p:sp>
      <p:sp>
        <p:nvSpPr>
          <p:cNvPr id="8" name="TextBox 7"/>
          <p:cNvSpPr txBox="1"/>
          <p:nvPr/>
        </p:nvSpPr>
        <p:spPr>
          <a:xfrm>
            <a:off x="5105400" y="4800600"/>
            <a:ext cx="3657600" cy="646331"/>
          </a:xfrm>
          <a:prstGeom prst="rect">
            <a:avLst/>
          </a:prstGeom>
          <a:noFill/>
          <a:ln>
            <a:solidFill>
              <a:schemeClr val="accent1"/>
            </a:solidFill>
          </a:ln>
        </p:spPr>
        <p:txBody>
          <a:bodyPr wrap="square" rtlCol="0">
            <a:spAutoFit/>
          </a:bodyPr>
          <a:lstStyle/>
          <a:p>
            <a:pPr algn="just"/>
            <a:r>
              <a:rPr lang="en-US" b="1" dirty="0"/>
              <a:t>RJ45 connector with 8 conductor, used in networking</a:t>
            </a:r>
          </a:p>
        </p:txBody>
      </p:sp>
      <p:cxnSp>
        <p:nvCxnSpPr>
          <p:cNvPr id="10" name="Straight Arrow Connector 9"/>
          <p:cNvCxnSpPr>
            <a:stCxn id="7" idx="0"/>
          </p:cNvCxnSpPr>
          <p:nvPr/>
        </p:nvCxnSpPr>
        <p:spPr>
          <a:xfrm rot="16200000" flipV="1">
            <a:off x="1447800" y="4114800"/>
            <a:ext cx="762000" cy="609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6200000" flipV="1">
            <a:off x="7696200" y="4114800"/>
            <a:ext cx="762000" cy="609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pitchFamily="2" charset="2"/>
              <a:buChar char="q"/>
            </a:pPr>
            <a:r>
              <a:rPr lang="en-US" sz="2600" b="1" dirty="0">
                <a:solidFill>
                  <a:srgbClr val="C00000"/>
                </a:solidFill>
                <a:sym typeface="Wingdings" pitchFamily="2" charset="2"/>
              </a:rPr>
              <a:t>Shielded twisted pair cable (STP)</a:t>
            </a: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r>
              <a:rPr lang="en-IN" sz="2400" dirty="0"/>
              <a:t>STP cable has a metal foil or braided-mesh covering that </a:t>
            </a:r>
            <a:r>
              <a:rPr lang="en-IN" sz="2400" dirty="0">
                <a:solidFill>
                  <a:srgbClr val="FF0000"/>
                </a:solidFill>
              </a:rPr>
              <a:t>encases each pair of insulated conductors</a:t>
            </a:r>
            <a:r>
              <a:rPr lang="en-IN" sz="2400" dirty="0"/>
              <a:t>, which are a higher quality and more protective jacket than UTP has.</a:t>
            </a:r>
            <a:endParaRPr lang="en-US" sz="2400" dirty="0">
              <a:sym typeface="Wingdings" pitchFamily="2" charset="2"/>
            </a:endParaRPr>
          </a:p>
          <a:p>
            <a:pPr marL="342900" lvl="1" indent="-342900" algn="just">
              <a:buFont typeface="Arial" pitchFamily="34" charset="0"/>
              <a:buChar char="•"/>
            </a:pPr>
            <a:r>
              <a:rPr lang="en-IN" sz="2400" dirty="0"/>
              <a:t>This gives STP excellent insulation to protect the transmitted data from outside interference </a:t>
            </a:r>
            <a:r>
              <a:rPr lang="en-IN" sz="2400"/>
              <a:t>(Noise).</a:t>
            </a:r>
            <a:endParaRPr lang="en-IN" sz="2400" dirty="0"/>
          </a:p>
          <a:p>
            <a:pPr marL="342900" lvl="1" indent="-342900" algn="just">
              <a:buFont typeface="Arial" pitchFamily="34" charset="0"/>
              <a:buChar char="•"/>
            </a:pPr>
            <a:r>
              <a:rPr lang="en-IN" sz="2400" dirty="0"/>
              <a:t>It is less susceptible to electrical interference and supports higher transmission rates over longer distance than UTP.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Content Placeholder 3"/>
          <p:cNvPicPr>
            <a:picLocks noChangeArrowheads="1"/>
          </p:cNvPicPr>
          <p:nvPr/>
        </p:nvPicPr>
        <p:blipFill>
          <a:blip r:embed="rId3"/>
          <a:srcRect/>
          <a:stretch>
            <a:fillRect/>
          </a:stretch>
        </p:blipFill>
        <p:spPr bwMode="auto">
          <a:xfrm>
            <a:off x="457200" y="685800"/>
            <a:ext cx="8229600" cy="2808134"/>
          </a:xfrm>
          <a:prstGeom prst="rect">
            <a:avLst/>
          </a:prstGeom>
          <a:noFill/>
          <a:ln w="12700">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IN" sz="2400" dirty="0"/>
              <a:t>It has also a drawback that it is more expensive than UTP.</a:t>
            </a:r>
          </a:p>
          <a:p>
            <a:pPr marL="342900" lvl="1" indent="-342900" algn="just">
              <a:buFont typeface="Symbol" pitchFamily="18" charset="2"/>
              <a:buChar char=""/>
            </a:pPr>
            <a:r>
              <a:rPr lang="en-IN" sz="2400" b="1" dirty="0">
                <a:solidFill>
                  <a:srgbClr val="002060"/>
                </a:solidFill>
              </a:rPr>
              <a:t>STP connector</a:t>
            </a:r>
          </a:p>
          <a:p>
            <a:pPr marL="342900" lvl="1" indent="-342900" algn="just">
              <a:buFont typeface="Arial" pitchFamily="34" charset="0"/>
              <a:buChar char="•"/>
            </a:pPr>
            <a:r>
              <a:rPr lang="en-IN" sz="2400" dirty="0"/>
              <a:t>STP uses the same connectors as UTP but the shield must be connected to ground.</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pitchFamily="2" charset="2"/>
              <a:buChar char="q"/>
            </a:pPr>
            <a:r>
              <a:rPr lang="en-US" sz="2600" b="1" dirty="0">
                <a:solidFill>
                  <a:srgbClr val="C00000"/>
                </a:solidFill>
                <a:sym typeface="Wingdings" pitchFamily="2" charset="2"/>
              </a:rPr>
              <a:t>Coaxial cable</a:t>
            </a: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r>
              <a:rPr lang="en-IN" sz="2400" dirty="0"/>
              <a:t>This cable has better shielding than twisted pair, so it can span longer distance at higher speed.</a:t>
            </a:r>
          </a:p>
          <a:p>
            <a:pPr marL="342900" lvl="1" indent="-342900" algn="just">
              <a:buFont typeface="Arial" pitchFamily="34" charset="0"/>
              <a:buChar char="•"/>
            </a:pPr>
            <a:r>
              <a:rPr lang="en-IN" sz="2400" dirty="0"/>
              <a:t>As we can see in the figure, it has central core conductor of solid or standard wire (usually copper) enclosed in an insulating sheath, which is in turn encased in an outer conductor of metal foil, braid or combination of two.</a:t>
            </a:r>
          </a:p>
          <a:p>
            <a:pPr marL="342900" lvl="1" indent="-342900" algn="just">
              <a:buFont typeface="Arial" pitchFamily="34" charset="0"/>
              <a:buChar char="•"/>
            </a:pPr>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2"/>
          <p:cNvPicPr>
            <a:picLocks noChangeArrowheads="1"/>
          </p:cNvPicPr>
          <p:nvPr/>
        </p:nvPicPr>
        <p:blipFill>
          <a:blip r:embed="rId3"/>
          <a:srcRect/>
          <a:stretch>
            <a:fillRect/>
          </a:stretch>
        </p:blipFill>
        <p:spPr bwMode="auto">
          <a:xfrm>
            <a:off x="576290" y="609600"/>
            <a:ext cx="7845425" cy="3319462"/>
          </a:xfrm>
          <a:prstGeom prst="rect">
            <a:avLst/>
          </a:prstGeom>
          <a:noFill/>
          <a:ln w="12700">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IN" sz="2400" dirty="0"/>
              <a:t>The outer metallic wrapping serves both as a shield against noise and as the second conductor, which completes the circuit.</a:t>
            </a:r>
          </a:p>
          <a:p>
            <a:pPr marL="342900" lvl="1" indent="-342900" algn="just">
              <a:buFont typeface="Wingdings 3" pitchFamily="18" charset="2"/>
              <a:buChar char="Ê"/>
            </a:pPr>
            <a:r>
              <a:rPr lang="en-US" sz="2400" b="1" dirty="0">
                <a:sym typeface="Wingdings" pitchFamily="2" charset="2"/>
              </a:rPr>
              <a:t>Advantages of coaxial cable</a:t>
            </a:r>
          </a:p>
          <a:p>
            <a:pPr marL="739775" lvl="1" indent="-392113" algn="just">
              <a:buFont typeface="Courier New" pitchFamily="49" charset="0"/>
              <a:buChar char="o"/>
            </a:pPr>
            <a:r>
              <a:rPr lang="en-IN" sz="2400" dirty="0"/>
              <a:t>It is most widely used in network cable</a:t>
            </a:r>
          </a:p>
          <a:p>
            <a:pPr marL="739775" lvl="1" indent="-392113" algn="just">
              <a:buFont typeface="Courier New" pitchFamily="49" charset="0"/>
              <a:buChar char="o"/>
            </a:pPr>
            <a:r>
              <a:rPr lang="en-IN" sz="2400" dirty="0">
                <a:sym typeface="Wingdings" pitchFamily="2" charset="2"/>
              </a:rPr>
              <a:t>It </a:t>
            </a:r>
            <a:r>
              <a:rPr lang="en-IN" sz="2400" dirty="0"/>
              <a:t>is relatively inexpensive, light, flexible and easy to work with.</a:t>
            </a:r>
          </a:p>
          <a:p>
            <a:pPr marL="739775" lvl="1" indent="-392113" algn="just">
              <a:buFont typeface="Courier New" pitchFamily="49" charset="0"/>
              <a:buChar char="o"/>
            </a:pPr>
            <a:r>
              <a:rPr lang="en-IN" sz="2400" dirty="0">
                <a:sym typeface="Wingdings" pitchFamily="2" charset="2"/>
              </a:rPr>
              <a:t>Installation is very easy.</a:t>
            </a:r>
          </a:p>
          <a:p>
            <a:pPr marL="739775" lvl="1" indent="-392113" algn="just">
              <a:buFont typeface="Courier New" pitchFamily="49" charset="0"/>
              <a:buChar char="o"/>
            </a:pPr>
            <a:r>
              <a:rPr lang="en-US" sz="2400" dirty="0">
                <a:sym typeface="Wingdings" pitchFamily="2" charset="2"/>
              </a:rPr>
              <a:t>It </a:t>
            </a:r>
            <a:r>
              <a:rPr lang="en-IN" sz="2400" dirty="0"/>
              <a:t>is good choice for longer distance and for reliably supporting higher data rates.</a:t>
            </a:r>
          </a:p>
          <a:p>
            <a:pPr marL="342900" lvl="1" indent="-342900" algn="just">
              <a:buFont typeface="Arial" pitchFamily="34" charset="0"/>
              <a:buChar char="•"/>
            </a:pPr>
            <a:r>
              <a:rPr lang="en-US" sz="2400" dirty="0">
                <a:sym typeface="Wingdings" pitchFamily="2" charset="2"/>
              </a:rPr>
              <a:t>There are </a:t>
            </a:r>
            <a:r>
              <a:rPr lang="en-IN" sz="2400" dirty="0"/>
              <a:t>two types of coaxial cable</a:t>
            </a:r>
          </a:p>
          <a:p>
            <a:pPr marL="457200" lvl="1" indent="282575" algn="just">
              <a:buFont typeface="+mj-lt"/>
              <a:buAutoNum type="arabicPeriod"/>
            </a:pPr>
            <a:r>
              <a:rPr lang="en-IN" sz="2400" dirty="0">
                <a:sym typeface="Wingdings" pitchFamily="2" charset="2"/>
              </a:rPr>
              <a:t>	Thin (Thinnet)</a:t>
            </a:r>
          </a:p>
          <a:p>
            <a:pPr marL="457200" lvl="1" indent="282575" algn="just">
              <a:buFont typeface="+mj-lt"/>
              <a:buAutoNum type="arabicPeriod"/>
            </a:pPr>
            <a:r>
              <a:rPr lang="en-IN" sz="2400" dirty="0">
                <a:sym typeface="Wingdings" pitchFamily="2" charset="2"/>
              </a:rPr>
              <a:t>	Thick (Thicknet)</a:t>
            </a:r>
          </a:p>
          <a:p>
            <a:pPr marL="347663" lvl="1" indent="-347663" algn="just">
              <a:buNone/>
            </a:pPr>
            <a:endParaRPr lang="en-IN" sz="2400" b="1" dirty="0">
              <a:sym typeface="Wingdings" pitchFamily="2" charset="2"/>
            </a:endParaRPr>
          </a:p>
          <a:p>
            <a:pPr marL="347663" lvl="1" indent="-347663" algn="just">
              <a:buFont typeface="Symbol" pitchFamily="18" charset="2"/>
              <a:buChar char="¨"/>
            </a:pPr>
            <a:r>
              <a:rPr lang="en-IN" sz="2600" b="1" dirty="0">
                <a:solidFill>
                  <a:schemeClr val="accent3">
                    <a:lumMod val="75000"/>
                  </a:schemeClr>
                </a:solidFill>
                <a:sym typeface="Wingdings" pitchFamily="2" charset="2"/>
              </a:rPr>
              <a:t>Thinnet coaxial cable</a:t>
            </a:r>
          </a:p>
          <a:p>
            <a:pPr marL="342900" lvl="1" indent="-342900" algn="just">
              <a:buFont typeface="Arial" pitchFamily="34" charset="0"/>
              <a:buChar char="•"/>
            </a:pPr>
            <a:r>
              <a:rPr lang="en-IN" sz="2400" dirty="0"/>
              <a:t>It is a flexible coaxial cable about 0.25 inches thick.</a:t>
            </a:r>
          </a:p>
          <a:p>
            <a:pPr marL="342900" lvl="1" indent="-342900" algn="just">
              <a:buFont typeface="Arial" pitchFamily="34" charset="0"/>
              <a:buChar char="•"/>
            </a:pPr>
            <a:r>
              <a:rPr lang="en-IN" sz="2400" dirty="0">
                <a:sym typeface="Wingdings" pitchFamily="2" charset="2"/>
              </a:rPr>
              <a:t>Easy to install and work with it.</a:t>
            </a:r>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IN" sz="2400" dirty="0"/>
              <a:t>it can be used in almost any type of network installation almost in BUS topology.</a:t>
            </a:r>
          </a:p>
          <a:p>
            <a:pPr marL="342900" lvl="1" indent="-342900" algn="just">
              <a:buFont typeface="Arial" pitchFamily="34" charset="0"/>
              <a:buChar char="•"/>
            </a:pPr>
            <a:r>
              <a:rPr lang="en-IN" sz="2400" dirty="0">
                <a:solidFill>
                  <a:srgbClr val="FF0000"/>
                </a:solidFill>
              </a:rPr>
              <a:t>can carry a signal up to approximately 185 meters (about 607ft) before the signal starts to suffer from attenuation.</a:t>
            </a:r>
          </a:p>
          <a:p>
            <a:pPr marL="342900" lvl="1" indent="-342900" algn="just">
              <a:buFont typeface="Arial" pitchFamily="34" charset="0"/>
              <a:buChar char="•"/>
            </a:pPr>
            <a:r>
              <a:rPr lang="en-IN" sz="2400" dirty="0">
                <a:sym typeface="Wingdings" pitchFamily="2" charset="2"/>
              </a:rPr>
              <a:t>It is referred to </a:t>
            </a:r>
            <a:r>
              <a:rPr lang="en-IN" sz="2400" dirty="0"/>
              <a:t>the RG-58 (radio grade) family and has 50 - ohm impedance.</a:t>
            </a:r>
          </a:p>
          <a:p>
            <a:pPr marL="342900" lvl="1" indent="-342900" algn="just">
              <a:buFont typeface="Arial" pitchFamily="34" charset="0"/>
              <a:buChar char="•"/>
            </a:pPr>
            <a:r>
              <a:rPr lang="en-IN" sz="2400" dirty="0"/>
              <a:t>Commonly used for digital transmission.</a:t>
            </a:r>
          </a:p>
          <a:p>
            <a:pPr marL="342900" lvl="1" indent="-342900" algn="just">
              <a:buNone/>
            </a:pPr>
            <a:endParaRPr lang="en-IN" sz="2400" dirty="0"/>
          </a:p>
          <a:p>
            <a:pPr marL="342900" lvl="1" indent="-342900" algn="just">
              <a:buFont typeface="Symbol" pitchFamily="18" charset="2"/>
              <a:buChar char="¨"/>
            </a:pPr>
            <a:r>
              <a:rPr lang="en-IN" sz="2600" b="1" dirty="0">
                <a:solidFill>
                  <a:schemeClr val="accent3">
                    <a:lumMod val="75000"/>
                  </a:schemeClr>
                </a:solidFill>
                <a:sym typeface="Wingdings" pitchFamily="2" charset="2"/>
              </a:rPr>
              <a:t>Thicknet coaxial cable</a:t>
            </a:r>
          </a:p>
          <a:p>
            <a:pPr marL="342900" lvl="1" indent="-342900" algn="just">
              <a:buFont typeface="Arial" pitchFamily="34" charset="0"/>
              <a:buChar char="•"/>
            </a:pPr>
            <a:r>
              <a:rPr lang="en-IN" sz="2400" dirty="0"/>
              <a:t>Thicknet is relatively rigid coaxial cable about 0.5 inches in diameter (Almost Double of thin net coaxial cable).</a:t>
            </a:r>
          </a:p>
          <a:p>
            <a:pPr marL="342900" lvl="1" indent="-342900" algn="just">
              <a:buFont typeface="Arial" pitchFamily="34" charset="0"/>
              <a:buChar char="•"/>
            </a:pPr>
            <a:r>
              <a:rPr lang="en-IN" sz="2400" dirty="0"/>
              <a:t>Thick net can carry signal for </a:t>
            </a:r>
            <a:r>
              <a:rPr lang="en-IN" sz="2400" dirty="0">
                <a:solidFill>
                  <a:srgbClr val="FF0000"/>
                </a:solidFill>
              </a:rPr>
              <a:t>500 meters</a:t>
            </a:r>
            <a:r>
              <a:rPr lang="en-IN" sz="2400" dirty="0"/>
              <a:t> [about 1640 ft].</a:t>
            </a:r>
          </a:p>
          <a:p>
            <a:pPr marL="342900" lvl="1" indent="-342900" algn="just">
              <a:buFont typeface="Arial" pitchFamily="34" charset="0"/>
              <a:buChar char="•"/>
            </a:pPr>
            <a:r>
              <a:rPr lang="en-IN" sz="2400" dirty="0"/>
              <a:t>Because of </a:t>
            </a:r>
            <a:r>
              <a:rPr lang="en-IN" sz="2400" dirty="0" err="1"/>
              <a:t>thicknet's</a:t>
            </a:r>
            <a:r>
              <a:rPr lang="en-IN" sz="2400" dirty="0"/>
              <a:t> ability to support data transfer over longer distance it is </a:t>
            </a:r>
            <a:r>
              <a:rPr lang="en-IN" sz="2400" dirty="0">
                <a:solidFill>
                  <a:srgbClr val="FF0000"/>
                </a:solidFill>
              </a:rPr>
              <a:t>sometimes used as backbone to connect several smaller thinnet based networks.</a:t>
            </a:r>
            <a:endParaRPr lang="en-US" sz="2400" dirty="0">
              <a:solidFill>
                <a:srgbClr val="FF0000"/>
              </a:solidFill>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IN" sz="2400" dirty="0"/>
              <a:t>A device called a transceiver connects the thinnet coaxial to the larger thicknet coaxial cable.</a:t>
            </a:r>
          </a:p>
          <a:p>
            <a:pPr marL="342900" lvl="1" indent="-342900" algn="just">
              <a:buFont typeface="Arial" pitchFamily="34" charset="0"/>
              <a:buChar char="•"/>
            </a:pPr>
            <a:r>
              <a:rPr lang="en-US" sz="2400" dirty="0">
                <a:sym typeface="Wingdings" pitchFamily="2" charset="2"/>
              </a:rPr>
              <a:t>RG-8, RG-9 and RG-11 used for thicknet coaxial cable.</a:t>
            </a:r>
          </a:p>
          <a:p>
            <a:pPr marL="342900" lvl="1" indent="-342900" algn="just">
              <a:buFont typeface="Arial" pitchFamily="34" charset="0"/>
              <a:buChar char="•"/>
            </a:pPr>
            <a:endParaRPr lang="en-US" sz="2400" dirty="0">
              <a:sym typeface="Wingdings" pitchFamily="2" charset="2"/>
            </a:endParaRPr>
          </a:p>
          <a:p>
            <a:pPr marL="342900" lvl="1" indent="-342900" algn="just">
              <a:buFont typeface="Symbol" pitchFamily="18" charset="2"/>
              <a:buChar char=""/>
            </a:pPr>
            <a:r>
              <a:rPr lang="en-US" sz="2400" b="1" dirty="0">
                <a:solidFill>
                  <a:srgbClr val="002060"/>
                </a:solidFill>
                <a:sym typeface="Wingdings" pitchFamily="2" charset="2"/>
              </a:rPr>
              <a:t>Coaxial cable connectors</a:t>
            </a:r>
          </a:p>
          <a:p>
            <a:pPr marL="342900" lvl="1" indent="-342900" algn="just">
              <a:buFont typeface="Arial" pitchFamily="34" charset="0"/>
              <a:buChar char="•"/>
            </a:pPr>
            <a:r>
              <a:rPr lang="en-US" sz="2400" dirty="0">
                <a:sym typeface="Wingdings" pitchFamily="2" charset="2"/>
              </a:rPr>
              <a:t>There are four types of coaxial cable connectors</a:t>
            </a:r>
          </a:p>
          <a:p>
            <a:pPr marL="914400" lvl="1" indent="-457200">
              <a:buFont typeface="+mj-lt"/>
              <a:buAutoNum type="arabicPeriod"/>
            </a:pPr>
            <a:r>
              <a:rPr lang="en-US" sz="2400" dirty="0"/>
              <a:t>Barrel connectors</a:t>
            </a:r>
          </a:p>
          <a:p>
            <a:pPr marL="914400" lvl="1" indent="-457200">
              <a:buFont typeface="+mj-lt"/>
              <a:buAutoNum type="arabicPeriod"/>
            </a:pPr>
            <a:r>
              <a:rPr lang="en-US" sz="2400" dirty="0"/>
              <a:t>BNC (bayonet network connector)</a:t>
            </a:r>
          </a:p>
          <a:p>
            <a:pPr marL="914400" lvl="1" indent="-457200">
              <a:buFont typeface="+mj-lt"/>
              <a:buAutoNum type="arabicPeriod"/>
            </a:pPr>
            <a:r>
              <a:rPr lang="en-US" sz="2400" dirty="0"/>
              <a:t>T-connectors</a:t>
            </a:r>
          </a:p>
          <a:p>
            <a:pPr marL="914400" lvl="1" indent="-457200">
              <a:buFont typeface="+mj-lt"/>
              <a:buAutoNum type="arabicPeriod"/>
            </a:pPr>
            <a:r>
              <a:rPr lang="en-US" sz="2400" dirty="0"/>
              <a:t>Terminators</a:t>
            </a:r>
          </a:p>
          <a:p>
            <a:pPr>
              <a:buFont typeface="Wingdings 3" pitchFamily="18" charset="2"/>
              <a:buChar char="Ê"/>
            </a:pPr>
            <a:r>
              <a:rPr lang="en-US" sz="2400" b="1" dirty="0">
                <a:sym typeface="Wingdings" pitchFamily="2" charset="2"/>
              </a:rPr>
              <a:t>Barrel connectors</a:t>
            </a:r>
          </a:p>
          <a:p>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D:\my CUSP\CN\Figures frm Net\Unit3\Barrel1.jpg"/>
          <p:cNvPicPr>
            <a:picLocks noChangeAspect="1" noChangeArrowheads="1"/>
          </p:cNvPicPr>
          <p:nvPr/>
        </p:nvPicPr>
        <p:blipFill>
          <a:blip r:embed="rId3"/>
          <a:srcRect/>
          <a:stretch>
            <a:fillRect/>
          </a:stretch>
        </p:blipFill>
        <p:spPr bwMode="auto">
          <a:xfrm>
            <a:off x="2743200" y="4876800"/>
            <a:ext cx="1944914" cy="1944914"/>
          </a:xfrm>
          <a:prstGeom prst="rect">
            <a:avLst/>
          </a:prstGeom>
          <a:noFill/>
        </p:spPr>
      </p:pic>
      <p:pic>
        <p:nvPicPr>
          <p:cNvPr id="1027" name="Picture 3" descr="D:\my CUSP\CN\Figures frm Net\Unit3\barrel2.jpg"/>
          <p:cNvPicPr>
            <a:picLocks noChangeAspect="1" noChangeArrowheads="1"/>
          </p:cNvPicPr>
          <p:nvPr/>
        </p:nvPicPr>
        <p:blipFill>
          <a:blip r:embed="rId4"/>
          <a:srcRect/>
          <a:stretch>
            <a:fillRect/>
          </a:stretch>
        </p:blipFill>
        <p:spPr bwMode="auto">
          <a:xfrm>
            <a:off x="4724400" y="4528109"/>
            <a:ext cx="2971800" cy="232989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IN" sz="2400" dirty="0"/>
              <a:t>It is the most common connector.</a:t>
            </a:r>
          </a:p>
          <a:p>
            <a:pPr marL="342900" lvl="1" indent="-342900" algn="just">
              <a:buFont typeface="Arial" pitchFamily="34" charset="0"/>
              <a:buChar char="•"/>
            </a:pPr>
            <a:r>
              <a:rPr lang="en-IN" sz="2400" dirty="0"/>
              <a:t>Generally this connector is used to connect BNC coaxial cable to increase the length of network.</a:t>
            </a:r>
          </a:p>
          <a:p>
            <a:pPr>
              <a:buFont typeface="Wingdings 3" pitchFamily="18" charset="2"/>
              <a:buChar char="Ê"/>
            </a:pPr>
            <a:r>
              <a:rPr lang="en-US" sz="2400" b="1" dirty="0">
                <a:sym typeface="Wingdings" pitchFamily="2" charset="2"/>
              </a:rPr>
              <a:t>BNC connectors</a:t>
            </a:r>
          </a:p>
          <a:p>
            <a:endParaRPr lang="en-US" sz="2400" dirty="0">
              <a:sym typeface="Wingdings" pitchFamily="2" charset="2"/>
            </a:endParaRPr>
          </a:p>
          <a:p>
            <a:endParaRPr lang="en-US" sz="2400" dirty="0">
              <a:sym typeface="Wingdings" pitchFamily="2" charset="2"/>
            </a:endParaRPr>
          </a:p>
          <a:p>
            <a:endParaRPr lang="en-US" sz="2400" dirty="0">
              <a:sym typeface="Wingdings" pitchFamily="2" charset="2"/>
            </a:endParaRPr>
          </a:p>
          <a:p>
            <a:endParaRPr lang="en-US" sz="2400" dirty="0">
              <a:sym typeface="Wingdings" pitchFamily="2" charset="2"/>
            </a:endParaRPr>
          </a:p>
          <a:p>
            <a:endParaRPr lang="en-US" sz="2400" dirty="0">
              <a:sym typeface="Wingdings" pitchFamily="2" charset="2"/>
            </a:endParaRPr>
          </a:p>
          <a:p>
            <a:pPr algn="just"/>
            <a:r>
              <a:rPr lang="en-IN" sz="2400" dirty="0"/>
              <a:t>After the Barrel connector, the most popular is the BNC, which pushes on and locks in to place with a half turn as shown in fig.</a:t>
            </a:r>
          </a:p>
          <a:p>
            <a:pPr algn="just"/>
            <a:r>
              <a:rPr lang="en-IN" sz="2400" dirty="0"/>
              <a:t>Generally, a cable terminates in a male connector that plugs or screws on to a corresponding female connector attached to the device.</a:t>
            </a:r>
          </a:p>
          <a:p>
            <a:pPr algn="just"/>
            <a:r>
              <a:rPr lang="en-US" sz="2400" dirty="0">
                <a:sym typeface="Wingdings" pitchFamily="2" charset="2"/>
              </a:rPr>
              <a:t>Generally </a:t>
            </a:r>
            <a:r>
              <a:rPr lang="en-US" sz="2400" dirty="0">
                <a:solidFill>
                  <a:srgbClr val="FF0000"/>
                </a:solidFill>
                <a:sym typeface="Wingdings" pitchFamily="2" charset="2"/>
              </a:rPr>
              <a:t>used in </a:t>
            </a:r>
            <a:r>
              <a:rPr lang="en-IN" sz="2400" dirty="0">
                <a:solidFill>
                  <a:srgbClr val="FF0000"/>
                </a:solidFill>
              </a:rPr>
              <a:t>cable TV and VCR hook-ups.</a:t>
            </a:r>
            <a:endParaRPr lang="en-US" sz="2400" dirty="0">
              <a:solidFill>
                <a:srgbClr val="FF0000"/>
              </a:solidFill>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descr="D:\my CUSP\CN\Figures frm Net\Unit3\BNC1.jpg"/>
          <p:cNvPicPr>
            <a:picLocks noChangeAspect="1" noChangeArrowheads="1"/>
          </p:cNvPicPr>
          <p:nvPr/>
        </p:nvPicPr>
        <p:blipFill>
          <a:blip r:embed="rId3"/>
          <a:srcRect/>
          <a:stretch>
            <a:fillRect/>
          </a:stretch>
        </p:blipFill>
        <p:spPr bwMode="auto">
          <a:xfrm>
            <a:off x="838199" y="1981200"/>
            <a:ext cx="3488635" cy="2057400"/>
          </a:xfrm>
          <a:prstGeom prst="rect">
            <a:avLst/>
          </a:prstGeom>
          <a:noFill/>
        </p:spPr>
      </p:pic>
      <p:pic>
        <p:nvPicPr>
          <p:cNvPr id="8" name="Picture 2" descr="C:\Users\AKP\Desktop\co axial terminator1.png"/>
          <p:cNvPicPr>
            <a:picLocks noChangeAspect="1" noChangeArrowheads="1"/>
          </p:cNvPicPr>
          <p:nvPr/>
        </p:nvPicPr>
        <p:blipFill>
          <a:blip r:embed="rId4"/>
          <a:srcRect r="59981"/>
          <a:stretch>
            <a:fillRect/>
          </a:stretch>
        </p:blipFill>
        <p:spPr bwMode="auto">
          <a:xfrm>
            <a:off x="4572000" y="1832760"/>
            <a:ext cx="3810000" cy="220584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IN" sz="2400" dirty="0"/>
              <a:t>These connectors are used to connect RG-58 or RG-62 with the NIC.</a:t>
            </a:r>
          </a:p>
          <a:p>
            <a:pPr marL="342900" lvl="1" indent="-342900" algn="just">
              <a:buFont typeface="Arial" pitchFamily="34" charset="0"/>
              <a:buChar char="•"/>
            </a:pPr>
            <a:r>
              <a:rPr lang="en-IN" sz="2400" dirty="0"/>
              <a:t>And these are generally used in BUS and STAR topology.</a:t>
            </a:r>
          </a:p>
          <a:p>
            <a:pPr marL="342900" lvl="1" indent="-342900" algn="just">
              <a:buFont typeface="Wingdings 3" pitchFamily="18" charset="2"/>
              <a:buChar char="Ê"/>
            </a:pPr>
            <a:r>
              <a:rPr lang="en-US" sz="2400" b="1" dirty="0">
                <a:sym typeface="Wingdings" pitchFamily="2" charset="2"/>
              </a:rPr>
              <a:t>T - connectors</a:t>
            </a: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r>
              <a:rPr lang="en-IN" sz="2400" dirty="0"/>
              <a:t>T-Connectors (used in thin Ethernet) allow a secondary cable or cables to branch off from a main line.</a:t>
            </a:r>
          </a:p>
          <a:p>
            <a:pPr marL="342900" lvl="1" indent="-342900" algn="just">
              <a:buFont typeface="Arial" pitchFamily="34" charset="0"/>
              <a:buChar char="•"/>
            </a:pPr>
            <a:r>
              <a:rPr lang="en-IN" sz="2400" dirty="0"/>
              <a:t>It is also </a:t>
            </a:r>
            <a:r>
              <a:rPr lang="en-IN" sz="2400" dirty="0">
                <a:solidFill>
                  <a:srgbClr val="FF0000"/>
                </a:solidFill>
              </a:rPr>
              <a:t>used to extend the network or increase the number of node at any point in the network.</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 name="Picture 2" descr="C:\Users\AKP\Desktop\co axial terminator1.png"/>
          <p:cNvPicPr>
            <a:picLocks noChangeAspect="1" noChangeArrowheads="1"/>
          </p:cNvPicPr>
          <p:nvPr/>
        </p:nvPicPr>
        <p:blipFill>
          <a:blip r:embed="rId3"/>
          <a:srcRect l="38949" r="37553"/>
          <a:stretch>
            <a:fillRect/>
          </a:stretch>
        </p:blipFill>
        <p:spPr bwMode="auto">
          <a:xfrm>
            <a:off x="3657600" y="1447800"/>
            <a:ext cx="1905000" cy="20574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Wingdings 3" pitchFamily="18" charset="2"/>
              <a:buChar char="Ê"/>
            </a:pPr>
            <a:r>
              <a:rPr lang="en-US" sz="2400" b="1" dirty="0">
                <a:sym typeface="Wingdings" pitchFamily="2" charset="2"/>
              </a:rPr>
              <a:t>Terminators</a:t>
            </a: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endParaRPr lang="en-IN" sz="2400" dirty="0"/>
          </a:p>
          <a:p>
            <a:pPr marL="342900" lvl="1" indent="-342900" algn="just">
              <a:buFont typeface="Arial" pitchFamily="34" charset="0"/>
              <a:buChar char="•"/>
            </a:pPr>
            <a:r>
              <a:rPr lang="en-IN" sz="2400" dirty="0"/>
              <a:t>Terminators are required for bus topologies where one main cable acts as a backbone with branches to several devices but does not itself terminate in a device.</a:t>
            </a:r>
          </a:p>
          <a:p>
            <a:pPr marL="342900" lvl="1" indent="-342900" algn="just">
              <a:buFont typeface="Arial" pitchFamily="34" charset="0"/>
              <a:buChar char="•"/>
            </a:pPr>
            <a:r>
              <a:rPr lang="en-IN" sz="2400" dirty="0"/>
              <a:t>If the main cable is left non terminated any signal transmitted over the line echoes. A terminator absorbs the wave at the end eliminates echo-back.</a:t>
            </a:r>
          </a:p>
          <a:p>
            <a:pPr marL="342900" lvl="1" indent="-342900" algn="just">
              <a:buFont typeface="Arial" pitchFamily="34" charset="0"/>
              <a:buChar char="•"/>
            </a:pPr>
            <a:r>
              <a:rPr lang="en-IN" sz="2400" dirty="0"/>
              <a:t>It is used to prevent the signal disturbance.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2" descr="C:\Users\AKP\Desktop\co axial terminator1.png"/>
          <p:cNvPicPr>
            <a:picLocks noChangeAspect="1" noChangeArrowheads="1"/>
          </p:cNvPicPr>
          <p:nvPr/>
        </p:nvPicPr>
        <p:blipFill>
          <a:blip r:embed="rId3"/>
          <a:srcRect l="61096"/>
          <a:stretch>
            <a:fillRect/>
          </a:stretch>
        </p:blipFill>
        <p:spPr bwMode="auto">
          <a:xfrm>
            <a:off x="2971800" y="76200"/>
            <a:ext cx="3153933" cy="2205840"/>
          </a:xfrm>
          <a:prstGeom prst="rect">
            <a:avLst/>
          </a:prstGeom>
          <a:noFill/>
        </p:spPr>
      </p:pic>
      <p:pic>
        <p:nvPicPr>
          <p:cNvPr id="7" name="Picture 2" descr="C:\Users\AKP\Desktop\co axial terminator1.png"/>
          <p:cNvPicPr>
            <a:picLocks noChangeAspect="1" noChangeArrowheads="1"/>
          </p:cNvPicPr>
          <p:nvPr/>
        </p:nvPicPr>
        <p:blipFill>
          <a:blip r:embed="rId3"/>
          <a:srcRect/>
          <a:stretch>
            <a:fillRect/>
          </a:stretch>
        </p:blipFill>
        <p:spPr bwMode="auto">
          <a:xfrm>
            <a:off x="381000" y="5202380"/>
            <a:ext cx="8106933" cy="16002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lnSpcReduction="10000"/>
          </a:bodyPr>
          <a:lstStyle/>
          <a:p>
            <a:pPr algn="just">
              <a:buFont typeface="Wingdings" pitchFamily="2" charset="2"/>
              <a:buChar char="q"/>
            </a:pPr>
            <a:r>
              <a:rPr lang="en-US" sz="2600" b="1" dirty="0">
                <a:solidFill>
                  <a:srgbClr val="C00000"/>
                </a:solidFill>
                <a:sym typeface="Wingdings" pitchFamily="2" charset="2"/>
              </a:rPr>
              <a:t>Fiber Optic Cable (FOC)</a:t>
            </a: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sym typeface="Wingdings" pitchFamily="2" charset="2"/>
            </a:endParaRPr>
          </a:p>
          <a:p>
            <a:pPr marL="342900" lvl="1" indent="-342900" algn="just">
              <a:buFont typeface="Arial" pitchFamily="34" charset="0"/>
              <a:buChar char="•"/>
            </a:pPr>
            <a:endParaRPr lang="en-US" sz="2400" dirty="0"/>
          </a:p>
          <a:p>
            <a:pPr marL="342900" lvl="1" indent="-342900" algn="just">
              <a:buFont typeface="Arial" pitchFamily="34" charset="0"/>
              <a:buChar char="•"/>
            </a:pPr>
            <a:endParaRPr lang="en-US" sz="2400" dirty="0"/>
          </a:p>
          <a:p>
            <a:pPr marL="342900" lvl="1" indent="-342900" algn="just">
              <a:buFont typeface="Arial" pitchFamily="34" charset="0"/>
              <a:buChar char="•"/>
            </a:pPr>
            <a:endParaRPr lang="en-US" sz="2400" dirty="0"/>
          </a:p>
          <a:p>
            <a:pPr marL="342900" lvl="1" indent="-342900" algn="just">
              <a:buFont typeface="Arial" pitchFamily="34" charset="0"/>
              <a:buChar char="•"/>
            </a:pPr>
            <a:endParaRPr lang="en-US" sz="2400" dirty="0"/>
          </a:p>
          <a:p>
            <a:pPr marL="342900" lvl="1" indent="-342900" algn="just">
              <a:buFont typeface="Arial" pitchFamily="34" charset="0"/>
              <a:buChar char="•"/>
            </a:pPr>
            <a:endParaRPr lang="en-US" sz="2400" dirty="0"/>
          </a:p>
          <a:p>
            <a:pPr marL="342900" lvl="1" indent="-342900" algn="just">
              <a:buFont typeface="Arial" pitchFamily="34" charset="0"/>
              <a:buChar char="•"/>
            </a:pPr>
            <a:r>
              <a:rPr lang="en-US" sz="2400" dirty="0"/>
              <a:t>Fiber optic cables are similar to coax, except without the braid.</a:t>
            </a:r>
          </a:p>
          <a:p>
            <a:pPr marL="342900" lvl="1" indent="-342900" algn="just">
              <a:buFont typeface="Arial" pitchFamily="34" charset="0"/>
              <a:buChar char="•"/>
            </a:pPr>
            <a:r>
              <a:rPr lang="en-US" sz="2400" dirty="0"/>
              <a:t>A fiber-optic cable is </a:t>
            </a:r>
            <a:r>
              <a:rPr lang="en-US" sz="2400" dirty="0">
                <a:solidFill>
                  <a:srgbClr val="FF0000"/>
                </a:solidFill>
              </a:rPr>
              <a:t>made of glass or plastic </a:t>
            </a:r>
            <a:r>
              <a:rPr lang="en-US" sz="2400" dirty="0"/>
              <a:t>and transmits signals in the form of </a:t>
            </a:r>
            <a:r>
              <a:rPr lang="en-US" sz="2400" dirty="0">
                <a:solidFill>
                  <a:srgbClr val="FF0000"/>
                </a:solidFill>
              </a:rPr>
              <a:t>light.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p:cNvPicPr>
            <a:picLocks noChangeAspect="1" noChangeArrowheads="1"/>
          </p:cNvPicPr>
          <p:nvPr/>
        </p:nvPicPr>
        <p:blipFill>
          <a:blip r:embed="rId3"/>
          <a:srcRect/>
          <a:stretch>
            <a:fillRect/>
          </a:stretch>
        </p:blipFill>
        <p:spPr bwMode="auto">
          <a:xfrm>
            <a:off x="290513" y="609600"/>
            <a:ext cx="8562975" cy="2743200"/>
          </a:xfrm>
          <a:prstGeom prst="rect">
            <a:avLst/>
          </a:prstGeom>
          <a:noFill/>
          <a:ln w="9525">
            <a:noFill/>
            <a:miter lim="800000"/>
            <a:headEnd/>
            <a:tailEnd/>
          </a:ln>
          <a:effectLst/>
        </p:spPr>
      </p:pic>
      <p:sp>
        <p:nvSpPr>
          <p:cNvPr id="7" name="TextBox 6"/>
          <p:cNvSpPr txBox="1"/>
          <p:nvPr/>
        </p:nvSpPr>
        <p:spPr>
          <a:xfrm>
            <a:off x="381000" y="2819400"/>
            <a:ext cx="1371600" cy="646331"/>
          </a:xfrm>
          <a:prstGeom prst="rect">
            <a:avLst/>
          </a:prstGeom>
          <a:noFill/>
          <a:ln>
            <a:solidFill>
              <a:schemeClr val="accent1"/>
            </a:solidFill>
          </a:ln>
        </p:spPr>
        <p:txBody>
          <a:bodyPr wrap="square" rtlCol="0">
            <a:spAutoFit/>
          </a:bodyPr>
          <a:lstStyle/>
          <a:p>
            <a:pPr algn="ctr"/>
            <a:r>
              <a:rPr lang="en-US" b="1" dirty="0"/>
              <a:t>Side view of FOC</a:t>
            </a:r>
          </a:p>
        </p:txBody>
      </p:sp>
      <p:sp>
        <p:nvSpPr>
          <p:cNvPr id="8" name="TextBox 7"/>
          <p:cNvSpPr txBox="1"/>
          <p:nvPr/>
        </p:nvSpPr>
        <p:spPr>
          <a:xfrm>
            <a:off x="4953000" y="2935069"/>
            <a:ext cx="1371600" cy="646331"/>
          </a:xfrm>
          <a:prstGeom prst="rect">
            <a:avLst/>
          </a:prstGeom>
          <a:noFill/>
          <a:ln>
            <a:solidFill>
              <a:schemeClr val="accent1"/>
            </a:solidFill>
          </a:ln>
        </p:spPr>
        <p:txBody>
          <a:bodyPr wrap="square" rtlCol="0">
            <a:spAutoFit/>
          </a:bodyPr>
          <a:lstStyle/>
          <a:p>
            <a:pPr algn="ctr"/>
            <a:r>
              <a:rPr lang="en-US" b="1" dirty="0"/>
              <a:t>End view of FOC</a:t>
            </a:r>
          </a:p>
        </p:txBody>
      </p:sp>
      <p:pic>
        <p:nvPicPr>
          <p:cNvPr id="1027" name="Picture 3" descr="D:\my CUSP\CN\Figures frm Net\Unit3\Fibre-Optic-Cable-768x274.jpg"/>
          <p:cNvPicPr>
            <a:picLocks noChangeAspect="1" noChangeArrowheads="1"/>
          </p:cNvPicPr>
          <p:nvPr/>
        </p:nvPicPr>
        <p:blipFill>
          <a:blip r:embed="rId4"/>
          <a:srcRect/>
          <a:stretch>
            <a:fillRect/>
          </a:stretch>
        </p:blipFill>
        <p:spPr bwMode="auto">
          <a:xfrm>
            <a:off x="457200" y="3599240"/>
            <a:ext cx="4114800" cy="1658560"/>
          </a:xfrm>
          <a:prstGeom prst="rect">
            <a:avLst/>
          </a:prstGeom>
          <a:noFill/>
        </p:spPr>
      </p:pic>
      <p:pic>
        <p:nvPicPr>
          <p:cNvPr id="1029" name="Picture 5" descr="D:\my CUSP\CN\Figures frm Net\Unit3\FOC2.png"/>
          <p:cNvPicPr>
            <a:picLocks noChangeAspect="1" noChangeArrowheads="1"/>
          </p:cNvPicPr>
          <p:nvPr/>
        </p:nvPicPr>
        <p:blipFill>
          <a:blip r:embed="rId5"/>
          <a:srcRect/>
          <a:stretch>
            <a:fillRect/>
          </a:stretch>
        </p:blipFill>
        <p:spPr bwMode="auto">
          <a:xfrm>
            <a:off x="4800600" y="3657600"/>
            <a:ext cx="3900488" cy="16764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marL="342900" lvl="1" indent="-342900" algn="just">
              <a:buFont typeface="Arial" pitchFamily="34" charset="0"/>
              <a:buChar char="•"/>
            </a:pPr>
            <a:r>
              <a:rPr lang="en-US" sz="2400" dirty="0"/>
              <a:t>Optical fibers use reflection to guide light to move through a channel.</a:t>
            </a:r>
          </a:p>
          <a:p>
            <a:pPr marL="342900" lvl="1" indent="-342900" algn="just">
              <a:buFont typeface="Arial" pitchFamily="34" charset="0"/>
              <a:buChar char="•"/>
            </a:pPr>
            <a:r>
              <a:rPr lang="en-US" sz="2400" dirty="0">
                <a:sym typeface="Wingdings" pitchFamily="2" charset="2"/>
              </a:rPr>
              <a:t>As we can see in figure, a</a:t>
            </a:r>
            <a:r>
              <a:rPr lang="en-US" sz="2400" dirty="0"/>
              <a:t> glass or plastic core is surrounded by a cladding of less dense glass or plastic.</a:t>
            </a:r>
          </a:p>
          <a:p>
            <a:pPr algn="just"/>
            <a:r>
              <a:rPr lang="en-US" sz="2400" dirty="0"/>
              <a:t>Figure shows a single fiber viewed from the side. At the centre is the glass core through which the light propagates.</a:t>
            </a:r>
          </a:p>
          <a:p>
            <a:pPr algn="just"/>
            <a:r>
              <a:rPr lang="en-US" sz="2400" dirty="0"/>
              <a:t>The core is surrounded by a glass cladding with a lower index of refraction than the core, to keep all the light in the core.</a:t>
            </a:r>
          </a:p>
          <a:p>
            <a:pPr algn="just"/>
            <a:r>
              <a:rPr lang="en-US" sz="2400" dirty="0"/>
              <a:t>Next comes a thin plastic jacket to protect the cladding. Fibers are typically grouped in bundles, protected by an outer sheath (</a:t>
            </a:r>
            <a:r>
              <a:rPr lang="gu-IN" sz="2400" dirty="0"/>
              <a:t>ચુસ્ત આવરણ</a:t>
            </a:r>
            <a:r>
              <a:rPr lang="en-US" sz="2400" dirty="0"/>
              <a:t>). (that we can see in FOC figure b)</a:t>
            </a:r>
          </a:p>
          <a:p>
            <a:pPr algn="just"/>
            <a:r>
              <a:rPr lang="en-US" sz="2400" dirty="0"/>
              <a:t>Generally FOC comes in two types: Single mode and Multi mode. In single mode fibers </a:t>
            </a:r>
            <a:r>
              <a:rPr lang="en-US" sz="2400" dirty="0">
                <a:sym typeface="Wingdings" pitchFamily="2" charset="2"/>
              </a:rPr>
              <a:t> the core is about 8 to 10 microns and in multi mode fibers  the core is about 50 microns.</a:t>
            </a:r>
          </a:p>
          <a:p>
            <a:pPr algn="ctr">
              <a:lnSpc>
                <a:spcPct val="200000"/>
              </a:lnSpc>
              <a:buNone/>
            </a:pPr>
            <a:r>
              <a:rPr lang="en-US" sz="2400" dirty="0"/>
              <a:t>	</a:t>
            </a:r>
            <a:r>
              <a:rPr lang="en-US" sz="2800" b="1" dirty="0">
                <a:solidFill>
                  <a:srgbClr val="FF0000"/>
                </a:solidFill>
              </a:rPr>
              <a:t>(</a:t>
            </a:r>
            <a:r>
              <a:rPr lang="gu-IN" sz="2800" b="1" dirty="0">
                <a:solidFill>
                  <a:srgbClr val="FF0000"/>
                </a:solidFill>
              </a:rPr>
              <a:t>નોંધ</a:t>
            </a:r>
            <a:r>
              <a:rPr lang="en-US" sz="2800" b="1" dirty="0">
                <a:solidFill>
                  <a:srgbClr val="FF0000"/>
                </a:solidFill>
              </a:rPr>
              <a:t>: </a:t>
            </a:r>
            <a:r>
              <a:rPr lang="gu-IN" sz="2800" b="1" dirty="0">
                <a:solidFill>
                  <a:srgbClr val="FF0000"/>
                </a:solidFill>
              </a:rPr>
              <a:t>હવે પછીની </a:t>
            </a:r>
            <a:r>
              <a:rPr lang="en-US" sz="2800" b="1" dirty="0">
                <a:solidFill>
                  <a:srgbClr val="FF0000"/>
                </a:solidFill>
              </a:rPr>
              <a:t>7 slides </a:t>
            </a:r>
            <a:r>
              <a:rPr lang="gu-IN" sz="2800" b="1" dirty="0">
                <a:solidFill>
                  <a:srgbClr val="FF0000"/>
                </a:solidFill>
              </a:rPr>
              <a:t>ફક્ત તમારી સમજણ માટે છે.</a:t>
            </a:r>
            <a:r>
              <a:rPr lang="en-US" sz="2800" b="1" dirty="0">
                <a:solidFill>
                  <a:srgbClr val="FF0000"/>
                </a:solidFill>
              </a:rPr>
              <a:t>)</a:t>
            </a:r>
          </a:p>
          <a:p>
            <a:pPr algn="just"/>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Concept of REFRACTION</a:t>
            </a:r>
            <a:endParaRPr lang="en-US" b="1" dirty="0"/>
          </a:p>
        </p:txBody>
      </p:sp>
      <p:pic>
        <p:nvPicPr>
          <p:cNvPr id="5123" name="Picture 3" descr="C:\Users\AKP\Desktop\refrection1.jpg"/>
          <p:cNvPicPr>
            <a:picLocks noGrp="1" noChangeAspect="1" noChangeArrowheads="1"/>
          </p:cNvPicPr>
          <p:nvPr>
            <p:ph idx="1"/>
          </p:nvPr>
        </p:nvPicPr>
        <p:blipFill>
          <a:blip r:embed="rId2"/>
          <a:srcRect/>
          <a:stretch>
            <a:fillRect/>
          </a:stretch>
        </p:blipFill>
        <p:spPr bwMode="auto">
          <a:xfrm>
            <a:off x="928662" y="1714488"/>
            <a:ext cx="3444332" cy="1928826"/>
          </a:xfrm>
          <a:prstGeom prst="rect">
            <a:avLst/>
          </a:prstGeom>
          <a:noFill/>
        </p:spPr>
      </p:pic>
      <p:pic>
        <p:nvPicPr>
          <p:cNvPr id="5124" name="Picture 4" descr="C:\Users\AKP\Desktop\refrection2.jpg"/>
          <p:cNvPicPr>
            <a:picLocks noChangeAspect="1" noChangeArrowheads="1"/>
          </p:cNvPicPr>
          <p:nvPr/>
        </p:nvPicPr>
        <p:blipFill>
          <a:blip r:embed="rId3"/>
          <a:srcRect/>
          <a:stretch>
            <a:fillRect/>
          </a:stretch>
        </p:blipFill>
        <p:spPr bwMode="auto">
          <a:xfrm>
            <a:off x="4643438" y="3643314"/>
            <a:ext cx="3861665" cy="2428892"/>
          </a:xfrm>
          <a:prstGeom prst="rect">
            <a:avLst/>
          </a:prstGeom>
          <a:noFill/>
        </p:spPr>
      </p:pic>
      <p:sp>
        <p:nvSpPr>
          <p:cNvPr id="5" name="Date Placeholder 4"/>
          <p:cNvSpPr>
            <a:spLocks noGrp="1"/>
          </p:cNvSpPr>
          <p:nvPr>
            <p:ph type="dt" sz="half" idx="10"/>
          </p:nvPr>
        </p:nvSpPr>
        <p:spPr/>
        <p:txBody>
          <a:bodyPr/>
          <a:lstStyle/>
          <a:p>
            <a:fld id="{0A7E53D3-20F3-454B-BBAD-3ED8CD903C7A}" type="datetime1">
              <a:rPr lang="en-US" smtClean="0"/>
              <a:pPr/>
              <a:t>2/17/2025</a:t>
            </a:fld>
            <a:endParaRPr lang="en-US"/>
          </a:p>
        </p:txBody>
      </p:sp>
      <p:sp>
        <p:nvSpPr>
          <p:cNvPr id="6" name="Slide Number Placeholder 5"/>
          <p:cNvSpPr>
            <a:spLocks noGrp="1"/>
          </p:cNvSpPr>
          <p:nvPr>
            <p:ph type="sldNum" sz="quarter" idx="12"/>
          </p:nvPr>
        </p:nvSpPr>
        <p:spPr/>
        <p:txBody>
          <a:bodyPr/>
          <a:lstStyle/>
          <a:p>
            <a:fld id="{857C5837-A0B7-41A4-9E8A-25F26DBF1776}" type="slidenum">
              <a:rPr lang="en-US" smtClean="0"/>
              <a:pPr/>
              <a:t>24</a:t>
            </a:fld>
            <a:endParaRPr lang="en-US" dirty="0"/>
          </a:p>
        </p:txBody>
      </p:sp>
      <p:sp>
        <p:nvSpPr>
          <p:cNvPr id="7" name="Footer Placeholder 6"/>
          <p:cNvSpPr>
            <a:spLocks noGrp="1"/>
          </p:cNvSpPr>
          <p:nvPr>
            <p:ph type="ftr" sz="quarter" idx="11"/>
          </p:nvPr>
        </p:nvSpPr>
        <p:spPr/>
        <p:txBody>
          <a:bodyPr/>
          <a:lstStyle/>
          <a:p>
            <a:r>
              <a:rPr lang="en-US"/>
              <a:t>A K Panchasara,Lecturer </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rrowheads="1"/>
          </p:cNvPicPr>
          <p:nvPr/>
        </p:nvPicPr>
        <p:blipFill>
          <a:blip r:embed="rId2"/>
          <a:srcRect/>
          <a:stretch>
            <a:fillRect/>
          </a:stretch>
        </p:blipFill>
        <p:spPr bwMode="auto">
          <a:xfrm>
            <a:off x="506413" y="1924050"/>
            <a:ext cx="8105775" cy="3835400"/>
          </a:xfrm>
          <a:prstGeom prst="rect">
            <a:avLst/>
          </a:prstGeom>
          <a:noFill/>
          <a:ln w="12700">
            <a:noFill/>
            <a:miter lim="800000"/>
            <a:headEnd/>
            <a:tailEnd/>
          </a:ln>
          <a:effectLst/>
        </p:spPr>
      </p:pic>
      <p:sp>
        <p:nvSpPr>
          <p:cNvPr id="15363" name="Rectangle 3"/>
          <p:cNvSpPr>
            <a:spLocks noChangeArrowheads="1"/>
          </p:cNvSpPr>
          <p:nvPr/>
        </p:nvSpPr>
        <p:spPr bwMode="auto">
          <a:xfrm>
            <a:off x="3408363" y="498475"/>
            <a:ext cx="2044700" cy="588963"/>
          </a:xfrm>
          <a:prstGeom prst="rect">
            <a:avLst/>
          </a:prstGeom>
          <a:noFill/>
          <a:ln w="12700">
            <a:noFill/>
            <a:miter lim="800000"/>
            <a:headEnd/>
            <a:tailEnd/>
          </a:ln>
          <a:effectLst/>
        </p:spPr>
        <p:txBody>
          <a:bodyPr wrap="none" lIns="90488" tIns="44450" rIns="90488" bIns="44450">
            <a:spAutoFit/>
          </a:bodyPr>
          <a:lstStyle/>
          <a:p>
            <a:r>
              <a:rPr lang="en-US" sz="3200" b="1">
                <a:solidFill>
                  <a:srgbClr val="00279F"/>
                </a:solidFill>
              </a:rPr>
              <a:t>Refraction</a:t>
            </a:r>
          </a:p>
        </p:txBody>
      </p:sp>
      <p:sp>
        <p:nvSpPr>
          <p:cNvPr id="4" name="Date Placeholder 3"/>
          <p:cNvSpPr>
            <a:spLocks noGrp="1"/>
          </p:cNvSpPr>
          <p:nvPr>
            <p:ph type="dt" sz="half" idx="10"/>
          </p:nvPr>
        </p:nvSpPr>
        <p:spPr/>
        <p:txBody>
          <a:bodyPr/>
          <a:lstStyle/>
          <a:p>
            <a:fld id="{4C5C78F1-F6E5-4555-851B-FD1D19EB2447}" type="datetime1">
              <a:rPr lang="en-US" smtClean="0"/>
              <a:pPr/>
              <a:t>2/17/2025</a:t>
            </a:fld>
            <a:endParaRPr lang="en-US"/>
          </a:p>
        </p:txBody>
      </p:sp>
      <p:sp>
        <p:nvSpPr>
          <p:cNvPr id="5" name="Slide Number Placeholder 4"/>
          <p:cNvSpPr>
            <a:spLocks noGrp="1"/>
          </p:cNvSpPr>
          <p:nvPr>
            <p:ph type="sldNum" sz="quarter" idx="12"/>
          </p:nvPr>
        </p:nvSpPr>
        <p:spPr/>
        <p:txBody>
          <a:bodyPr/>
          <a:lstStyle/>
          <a:p>
            <a:fld id="{857C5837-A0B7-41A4-9E8A-25F26DBF1776}" type="slidenum">
              <a:rPr lang="en-US" smtClean="0"/>
              <a:pPr/>
              <a:t>25</a:t>
            </a:fld>
            <a:endParaRPr lang="en-US"/>
          </a:p>
        </p:txBody>
      </p:sp>
      <p:sp>
        <p:nvSpPr>
          <p:cNvPr id="6" name="Footer Placeholder 5"/>
          <p:cNvSpPr>
            <a:spLocks noGrp="1"/>
          </p:cNvSpPr>
          <p:nvPr>
            <p:ph type="ftr" sz="quarter" idx="11"/>
          </p:nvPr>
        </p:nvSpPr>
        <p:spPr/>
        <p:txBody>
          <a:bodyPr/>
          <a:lstStyle/>
          <a:p>
            <a:r>
              <a:rPr lang="en-US"/>
              <a:t>A K Panchasara,Lecturer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rrowheads="1"/>
          </p:cNvPicPr>
          <p:nvPr/>
        </p:nvPicPr>
        <p:blipFill>
          <a:blip r:embed="rId2"/>
          <a:srcRect/>
          <a:stretch>
            <a:fillRect/>
          </a:stretch>
        </p:blipFill>
        <p:spPr bwMode="auto">
          <a:xfrm>
            <a:off x="238125" y="2997200"/>
            <a:ext cx="8642350" cy="1689100"/>
          </a:xfrm>
          <a:prstGeom prst="rect">
            <a:avLst/>
          </a:prstGeom>
          <a:noFill/>
          <a:ln w="12700">
            <a:noFill/>
            <a:miter lim="800000"/>
            <a:headEnd/>
            <a:tailEnd/>
          </a:ln>
          <a:effectLst/>
        </p:spPr>
      </p:pic>
      <p:sp>
        <p:nvSpPr>
          <p:cNvPr id="16387" name="Rectangle 3"/>
          <p:cNvSpPr>
            <a:spLocks noChangeArrowheads="1"/>
          </p:cNvSpPr>
          <p:nvPr/>
        </p:nvSpPr>
        <p:spPr bwMode="auto">
          <a:xfrm>
            <a:off x="3332163" y="650875"/>
            <a:ext cx="2643187" cy="588963"/>
          </a:xfrm>
          <a:prstGeom prst="rect">
            <a:avLst/>
          </a:prstGeom>
          <a:noFill/>
          <a:ln w="12700">
            <a:noFill/>
            <a:miter lim="800000"/>
            <a:headEnd/>
            <a:tailEnd/>
          </a:ln>
          <a:effectLst/>
        </p:spPr>
        <p:txBody>
          <a:bodyPr wrap="none" lIns="90488" tIns="44450" rIns="90488" bIns="44450">
            <a:spAutoFit/>
          </a:bodyPr>
          <a:lstStyle/>
          <a:p>
            <a:r>
              <a:rPr lang="en-US" sz="3200" b="1">
                <a:solidFill>
                  <a:srgbClr val="00279F"/>
                </a:solidFill>
              </a:rPr>
              <a:t>Critical Angle</a:t>
            </a:r>
          </a:p>
        </p:txBody>
      </p:sp>
      <p:sp>
        <p:nvSpPr>
          <p:cNvPr id="4" name="Date Placeholder 3"/>
          <p:cNvSpPr>
            <a:spLocks noGrp="1"/>
          </p:cNvSpPr>
          <p:nvPr>
            <p:ph type="dt" sz="half" idx="10"/>
          </p:nvPr>
        </p:nvSpPr>
        <p:spPr/>
        <p:txBody>
          <a:bodyPr/>
          <a:lstStyle/>
          <a:p>
            <a:fld id="{FA220C25-B6C8-419C-81B1-82C1169B1490}" type="datetime1">
              <a:rPr lang="en-US" smtClean="0"/>
              <a:pPr/>
              <a:t>2/17/2025</a:t>
            </a:fld>
            <a:endParaRPr lang="en-US"/>
          </a:p>
        </p:txBody>
      </p:sp>
      <p:sp>
        <p:nvSpPr>
          <p:cNvPr id="5" name="Slide Number Placeholder 4"/>
          <p:cNvSpPr>
            <a:spLocks noGrp="1"/>
          </p:cNvSpPr>
          <p:nvPr>
            <p:ph type="sldNum" sz="quarter" idx="12"/>
          </p:nvPr>
        </p:nvSpPr>
        <p:spPr/>
        <p:txBody>
          <a:bodyPr/>
          <a:lstStyle/>
          <a:p>
            <a:fld id="{857C5837-A0B7-41A4-9E8A-25F26DBF1776}" type="slidenum">
              <a:rPr lang="en-US" smtClean="0"/>
              <a:pPr/>
              <a:t>26</a:t>
            </a:fld>
            <a:endParaRPr lang="en-US"/>
          </a:p>
        </p:txBody>
      </p:sp>
      <p:sp>
        <p:nvSpPr>
          <p:cNvPr id="6" name="Footer Placeholder 5"/>
          <p:cNvSpPr>
            <a:spLocks noGrp="1"/>
          </p:cNvSpPr>
          <p:nvPr>
            <p:ph type="ftr" sz="quarter" idx="11"/>
          </p:nvPr>
        </p:nvSpPr>
        <p:spPr/>
        <p:txBody>
          <a:bodyPr/>
          <a:lstStyle/>
          <a:p>
            <a:r>
              <a:rPr lang="en-US"/>
              <a:t>A K Panchasara,Lecturer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rrowheads="1"/>
          </p:cNvPicPr>
          <p:nvPr/>
        </p:nvPicPr>
        <p:blipFill>
          <a:blip r:embed="rId2"/>
          <a:srcRect/>
          <a:stretch>
            <a:fillRect/>
          </a:stretch>
        </p:blipFill>
        <p:spPr bwMode="auto">
          <a:xfrm>
            <a:off x="746125" y="2022475"/>
            <a:ext cx="7615238" cy="3625850"/>
          </a:xfrm>
          <a:prstGeom prst="rect">
            <a:avLst/>
          </a:prstGeom>
          <a:noFill/>
          <a:ln w="12700">
            <a:noFill/>
            <a:miter lim="800000"/>
            <a:headEnd/>
            <a:tailEnd/>
          </a:ln>
          <a:effectLst/>
        </p:spPr>
      </p:pic>
      <p:sp>
        <p:nvSpPr>
          <p:cNvPr id="17411" name="Rectangle 3"/>
          <p:cNvSpPr>
            <a:spLocks noChangeArrowheads="1"/>
          </p:cNvSpPr>
          <p:nvPr/>
        </p:nvSpPr>
        <p:spPr bwMode="auto">
          <a:xfrm>
            <a:off x="3560763" y="574675"/>
            <a:ext cx="1954212" cy="588963"/>
          </a:xfrm>
          <a:prstGeom prst="rect">
            <a:avLst/>
          </a:prstGeom>
          <a:noFill/>
          <a:ln w="12700">
            <a:noFill/>
            <a:miter lim="800000"/>
            <a:headEnd/>
            <a:tailEnd/>
          </a:ln>
          <a:effectLst/>
        </p:spPr>
        <p:txBody>
          <a:bodyPr wrap="none" lIns="90488" tIns="44450" rIns="90488" bIns="44450">
            <a:spAutoFit/>
          </a:bodyPr>
          <a:lstStyle/>
          <a:p>
            <a:r>
              <a:rPr lang="en-US" sz="3200" b="1">
                <a:solidFill>
                  <a:srgbClr val="00279F"/>
                </a:solidFill>
              </a:rPr>
              <a:t>Reflection</a:t>
            </a:r>
          </a:p>
        </p:txBody>
      </p:sp>
      <p:sp>
        <p:nvSpPr>
          <p:cNvPr id="4" name="Date Placeholder 3"/>
          <p:cNvSpPr>
            <a:spLocks noGrp="1"/>
          </p:cNvSpPr>
          <p:nvPr>
            <p:ph type="dt" sz="half" idx="10"/>
          </p:nvPr>
        </p:nvSpPr>
        <p:spPr/>
        <p:txBody>
          <a:bodyPr/>
          <a:lstStyle/>
          <a:p>
            <a:fld id="{380D9786-76E8-4859-894F-48F8559AB2A7}" type="datetime1">
              <a:rPr lang="en-US" smtClean="0"/>
              <a:pPr/>
              <a:t>2/17/2025</a:t>
            </a:fld>
            <a:endParaRPr lang="en-US"/>
          </a:p>
        </p:txBody>
      </p:sp>
      <p:sp>
        <p:nvSpPr>
          <p:cNvPr id="5" name="Slide Number Placeholder 4"/>
          <p:cNvSpPr>
            <a:spLocks noGrp="1"/>
          </p:cNvSpPr>
          <p:nvPr>
            <p:ph type="sldNum" sz="quarter" idx="12"/>
          </p:nvPr>
        </p:nvSpPr>
        <p:spPr/>
        <p:txBody>
          <a:bodyPr/>
          <a:lstStyle/>
          <a:p>
            <a:fld id="{857C5837-A0B7-41A4-9E8A-25F26DBF1776}" type="slidenum">
              <a:rPr lang="en-US" smtClean="0"/>
              <a:pPr/>
              <a:t>27</a:t>
            </a:fld>
            <a:endParaRPr lang="en-US"/>
          </a:p>
        </p:txBody>
      </p:sp>
      <p:sp>
        <p:nvSpPr>
          <p:cNvPr id="6" name="Footer Placeholder 5"/>
          <p:cNvSpPr>
            <a:spLocks noGrp="1"/>
          </p:cNvSpPr>
          <p:nvPr>
            <p:ph type="ftr" sz="quarter" idx="11"/>
          </p:nvPr>
        </p:nvSpPr>
        <p:spPr/>
        <p:txBody>
          <a:bodyPr/>
          <a:lstStyle/>
          <a:p>
            <a:r>
              <a:rPr lang="en-US"/>
              <a:t>A K Panchasara,Lecturer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rrowheads="1"/>
          </p:cNvPicPr>
          <p:nvPr/>
        </p:nvPicPr>
        <p:blipFill>
          <a:blip r:embed="rId2"/>
          <a:srcRect/>
          <a:stretch>
            <a:fillRect/>
          </a:stretch>
        </p:blipFill>
        <p:spPr bwMode="auto">
          <a:xfrm>
            <a:off x="690563" y="1870075"/>
            <a:ext cx="7585075" cy="3486150"/>
          </a:xfrm>
          <a:prstGeom prst="rect">
            <a:avLst/>
          </a:prstGeom>
          <a:noFill/>
          <a:ln w="12700">
            <a:noFill/>
            <a:miter lim="800000"/>
            <a:headEnd/>
            <a:tailEnd/>
          </a:ln>
          <a:effectLst/>
        </p:spPr>
      </p:pic>
      <p:sp>
        <p:nvSpPr>
          <p:cNvPr id="19459" name="Rectangle 3"/>
          <p:cNvSpPr>
            <a:spLocks noChangeArrowheads="1"/>
          </p:cNvSpPr>
          <p:nvPr/>
        </p:nvSpPr>
        <p:spPr bwMode="auto">
          <a:xfrm>
            <a:off x="2646363" y="650875"/>
            <a:ext cx="4108450" cy="588963"/>
          </a:xfrm>
          <a:prstGeom prst="rect">
            <a:avLst/>
          </a:prstGeom>
          <a:noFill/>
          <a:ln w="12700">
            <a:noFill/>
            <a:miter lim="800000"/>
            <a:headEnd/>
            <a:tailEnd/>
          </a:ln>
          <a:effectLst/>
        </p:spPr>
        <p:txBody>
          <a:bodyPr wrap="none" lIns="90488" tIns="44450" rIns="90488" bIns="44450">
            <a:spAutoFit/>
          </a:bodyPr>
          <a:lstStyle/>
          <a:p>
            <a:r>
              <a:rPr lang="en-US" sz="3200" b="1">
                <a:solidFill>
                  <a:srgbClr val="00279F"/>
                </a:solidFill>
              </a:rPr>
              <a:t>Multimode Step-Index</a:t>
            </a:r>
          </a:p>
        </p:txBody>
      </p:sp>
      <p:sp>
        <p:nvSpPr>
          <p:cNvPr id="4" name="Date Placeholder 3"/>
          <p:cNvSpPr>
            <a:spLocks noGrp="1"/>
          </p:cNvSpPr>
          <p:nvPr>
            <p:ph type="dt" sz="half" idx="10"/>
          </p:nvPr>
        </p:nvSpPr>
        <p:spPr/>
        <p:txBody>
          <a:bodyPr/>
          <a:lstStyle/>
          <a:p>
            <a:fld id="{5E4A6E4F-9BB1-47FA-B198-2C22EFF0B1A4}" type="datetime1">
              <a:rPr lang="en-US" smtClean="0"/>
              <a:pPr/>
              <a:t>2/17/2025</a:t>
            </a:fld>
            <a:endParaRPr lang="en-US"/>
          </a:p>
        </p:txBody>
      </p:sp>
      <p:sp>
        <p:nvSpPr>
          <p:cNvPr id="5" name="Slide Number Placeholder 4"/>
          <p:cNvSpPr>
            <a:spLocks noGrp="1"/>
          </p:cNvSpPr>
          <p:nvPr>
            <p:ph type="sldNum" sz="quarter" idx="12"/>
          </p:nvPr>
        </p:nvSpPr>
        <p:spPr/>
        <p:txBody>
          <a:bodyPr/>
          <a:lstStyle/>
          <a:p>
            <a:fld id="{857C5837-A0B7-41A4-9E8A-25F26DBF1776}" type="slidenum">
              <a:rPr lang="en-US" smtClean="0"/>
              <a:pPr/>
              <a:t>28</a:t>
            </a:fld>
            <a:endParaRPr lang="en-US"/>
          </a:p>
        </p:txBody>
      </p:sp>
      <p:sp>
        <p:nvSpPr>
          <p:cNvPr id="6" name="Footer Placeholder 5"/>
          <p:cNvSpPr>
            <a:spLocks noGrp="1"/>
          </p:cNvSpPr>
          <p:nvPr>
            <p:ph type="ftr" sz="quarter" idx="11"/>
          </p:nvPr>
        </p:nvSpPr>
        <p:spPr/>
        <p:txBody>
          <a:bodyPr/>
          <a:lstStyle/>
          <a:p>
            <a:r>
              <a:rPr lang="en-US"/>
              <a:t>A K Panchasara,Lecturer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rrowheads="1"/>
          </p:cNvPicPr>
          <p:nvPr/>
        </p:nvPicPr>
        <p:blipFill>
          <a:blip r:embed="rId2"/>
          <a:srcRect/>
          <a:stretch>
            <a:fillRect/>
          </a:stretch>
        </p:blipFill>
        <p:spPr bwMode="auto">
          <a:xfrm>
            <a:off x="1320800" y="2362200"/>
            <a:ext cx="6502400" cy="2984500"/>
          </a:xfrm>
          <a:prstGeom prst="rect">
            <a:avLst/>
          </a:prstGeom>
          <a:noFill/>
          <a:ln w="12700">
            <a:noFill/>
            <a:miter lim="800000"/>
            <a:headEnd/>
            <a:tailEnd/>
          </a:ln>
          <a:effectLst/>
        </p:spPr>
      </p:pic>
      <p:sp>
        <p:nvSpPr>
          <p:cNvPr id="20483" name="Rectangle 3"/>
          <p:cNvSpPr>
            <a:spLocks noChangeArrowheads="1"/>
          </p:cNvSpPr>
          <p:nvPr/>
        </p:nvSpPr>
        <p:spPr bwMode="auto">
          <a:xfrm>
            <a:off x="2112963" y="1108075"/>
            <a:ext cx="4673600" cy="588963"/>
          </a:xfrm>
          <a:prstGeom prst="rect">
            <a:avLst/>
          </a:prstGeom>
          <a:noFill/>
          <a:ln w="12700">
            <a:noFill/>
            <a:miter lim="800000"/>
            <a:headEnd/>
            <a:tailEnd/>
          </a:ln>
          <a:effectLst/>
        </p:spPr>
        <p:txBody>
          <a:bodyPr wrap="none" lIns="90488" tIns="44450" rIns="90488" bIns="44450">
            <a:spAutoFit/>
          </a:bodyPr>
          <a:lstStyle/>
          <a:p>
            <a:r>
              <a:rPr lang="en-US" sz="3200" b="1">
                <a:solidFill>
                  <a:srgbClr val="00279F"/>
                </a:solidFill>
              </a:rPr>
              <a:t>Multimode Graded-Index</a:t>
            </a:r>
          </a:p>
        </p:txBody>
      </p:sp>
      <p:sp>
        <p:nvSpPr>
          <p:cNvPr id="4" name="Date Placeholder 3"/>
          <p:cNvSpPr>
            <a:spLocks noGrp="1"/>
          </p:cNvSpPr>
          <p:nvPr>
            <p:ph type="dt" sz="half" idx="10"/>
          </p:nvPr>
        </p:nvSpPr>
        <p:spPr/>
        <p:txBody>
          <a:bodyPr/>
          <a:lstStyle/>
          <a:p>
            <a:fld id="{90D02B34-6D10-4661-9197-8BAD24567156}" type="datetime1">
              <a:rPr lang="en-US" smtClean="0"/>
              <a:pPr/>
              <a:t>2/17/2025</a:t>
            </a:fld>
            <a:endParaRPr lang="en-US"/>
          </a:p>
        </p:txBody>
      </p:sp>
      <p:sp>
        <p:nvSpPr>
          <p:cNvPr id="5" name="Slide Number Placeholder 4"/>
          <p:cNvSpPr>
            <a:spLocks noGrp="1"/>
          </p:cNvSpPr>
          <p:nvPr>
            <p:ph type="sldNum" sz="quarter" idx="12"/>
          </p:nvPr>
        </p:nvSpPr>
        <p:spPr/>
        <p:txBody>
          <a:bodyPr/>
          <a:lstStyle/>
          <a:p>
            <a:fld id="{857C5837-A0B7-41A4-9E8A-25F26DBF1776}" type="slidenum">
              <a:rPr lang="en-US" smtClean="0"/>
              <a:pPr/>
              <a:t>29</a:t>
            </a:fld>
            <a:endParaRPr lang="en-US"/>
          </a:p>
        </p:txBody>
      </p:sp>
      <p:sp>
        <p:nvSpPr>
          <p:cNvPr id="6" name="Footer Placeholder 5"/>
          <p:cNvSpPr>
            <a:spLocks noGrp="1"/>
          </p:cNvSpPr>
          <p:nvPr>
            <p:ph type="ftr" sz="quarter" idx="11"/>
          </p:nvPr>
        </p:nvSpPr>
        <p:spPr/>
        <p:txBody>
          <a:bodyPr/>
          <a:lstStyle/>
          <a:p>
            <a:r>
              <a:rPr lang="en-US"/>
              <a:t>A K Panchasara,Lecturer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rrowheads="1"/>
          </p:cNvPicPr>
          <p:nvPr/>
        </p:nvPicPr>
        <p:blipFill>
          <a:blip r:embed="rId2"/>
          <a:srcRect/>
          <a:stretch>
            <a:fillRect/>
          </a:stretch>
        </p:blipFill>
        <p:spPr bwMode="auto">
          <a:xfrm>
            <a:off x="698500" y="1689100"/>
            <a:ext cx="7581900" cy="3860800"/>
          </a:xfrm>
          <a:prstGeom prst="rect">
            <a:avLst/>
          </a:prstGeom>
          <a:noFill/>
          <a:ln w="12700">
            <a:noFill/>
            <a:miter lim="800000"/>
            <a:headEnd/>
            <a:tailEnd/>
          </a:ln>
          <a:effectLst/>
        </p:spPr>
      </p:pic>
      <p:sp>
        <p:nvSpPr>
          <p:cNvPr id="21507" name="Rectangle 3"/>
          <p:cNvSpPr>
            <a:spLocks noChangeArrowheads="1"/>
          </p:cNvSpPr>
          <p:nvPr/>
        </p:nvSpPr>
        <p:spPr bwMode="auto">
          <a:xfrm>
            <a:off x="3408363" y="650875"/>
            <a:ext cx="2349500" cy="588963"/>
          </a:xfrm>
          <a:prstGeom prst="rect">
            <a:avLst/>
          </a:prstGeom>
          <a:noFill/>
          <a:ln w="12700">
            <a:noFill/>
            <a:miter lim="800000"/>
            <a:headEnd/>
            <a:tailEnd/>
          </a:ln>
          <a:effectLst/>
        </p:spPr>
        <p:txBody>
          <a:bodyPr wrap="none" lIns="90488" tIns="44450" rIns="90488" bIns="44450">
            <a:spAutoFit/>
          </a:bodyPr>
          <a:lstStyle/>
          <a:p>
            <a:r>
              <a:rPr lang="en-US" sz="3200" b="1">
                <a:solidFill>
                  <a:srgbClr val="00279F"/>
                </a:solidFill>
              </a:rPr>
              <a:t>Single Mode</a:t>
            </a:r>
          </a:p>
        </p:txBody>
      </p:sp>
      <p:sp>
        <p:nvSpPr>
          <p:cNvPr id="4" name="Date Placeholder 3"/>
          <p:cNvSpPr>
            <a:spLocks noGrp="1"/>
          </p:cNvSpPr>
          <p:nvPr>
            <p:ph type="dt" sz="half" idx="10"/>
          </p:nvPr>
        </p:nvSpPr>
        <p:spPr/>
        <p:txBody>
          <a:bodyPr/>
          <a:lstStyle/>
          <a:p>
            <a:fld id="{5F69E51F-CDC9-4762-BEB7-8160BA4AEEBD}" type="datetime1">
              <a:rPr lang="en-US" smtClean="0"/>
              <a:pPr/>
              <a:t>2/17/2025</a:t>
            </a:fld>
            <a:endParaRPr lang="en-US"/>
          </a:p>
        </p:txBody>
      </p:sp>
      <p:sp>
        <p:nvSpPr>
          <p:cNvPr id="5" name="Slide Number Placeholder 4"/>
          <p:cNvSpPr>
            <a:spLocks noGrp="1"/>
          </p:cNvSpPr>
          <p:nvPr>
            <p:ph type="sldNum" sz="quarter" idx="12"/>
          </p:nvPr>
        </p:nvSpPr>
        <p:spPr/>
        <p:txBody>
          <a:bodyPr/>
          <a:lstStyle/>
          <a:p>
            <a:fld id="{857C5837-A0B7-41A4-9E8A-25F26DBF1776}" type="slidenum">
              <a:rPr lang="en-US" smtClean="0"/>
              <a:pPr/>
              <a:t>30</a:t>
            </a:fld>
            <a:endParaRPr lang="en-US"/>
          </a:p>
        </p:txBody>
      </p:sp>
      <p:sp>
        <p:nvSpPr>
          <p:cNvPr id="6" name="Footer Placeholder 5"/>
          <p:cNvSpPr>
            <a:spLocks noGrp="1"/>
          </p:cNvSpPr>
          <p:nvPr>
            <p:ph type="ftr" sz="quarter" idx="11"/>
          </p:nvPr>
        </p:nvSpPr>
        <p:spPr/>
        <p:txBody>
          <a:bodyPr/>
          <a:lstStyle/>
          <a:p>
            <a:r>
              <a:rPr lang="en-US"/>
              <a:t>A K Panchasara,Lecturer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US" sz="2400" b="1" dirty="0"/>
              <a:t>Advantages of FOC</a:t>
            </a:r>
          </a:p>
          <a:p>
            <a:pPr algn="just"/>
            <a:r>
              <a:rPr lang="en-US" sz="2400" i="1" dirty="0">
                <a:solidFill>
                  <a:srgbClr val="FF0000"/>
                </a:solidFill>
              </a:rPr>
              <a:t>Higher bandwidth</a:t>
            </a:r>
            <a:r>
              <a:rPr lang="en-US" sz="2400" dirty="0">
                <a:solidFill>
                  <a:srgbClr val="FF0000"/>
                </a:solidFill>
              </a:rPr>
              <a:t>: </a:t>
            </a:r>
            <a:r>
              <a:rPr lang="en-US" sz="2400" dirty="0"/>
              <a:t>It can support dramatically higher bandwidths.</a:t>
            </a:r>
            <a:endParaRPr lang="en-US" sz="2400" i="1" dirty="0"/>
          </a:p>
          <a:p>
            <a:pPr algn="just"/>
            <a:r>
              <a:rPr lang="en-US" sz="2400" i="1" dirty="0">
                <a:solidFill>
                  <a:srgbClr val="FF0000"/>
                </a:solidFill>
              </a:rPr>
              <a:t>Light weight</a:t>
            </a:r>
            <a:r>
              <a:rPr lang="en-US" sz="2400" dirty="0">
                <a:solidFill>
                  <a:srgbClr val="FF0000"/>
                </a:solidFill>
              </a:rPr>
              <a:t>: </a:t>
            </a:r>
            <a:r>
              <a:rPr lang="en-US" sz="2400" dirty="0"/>
              <a:t>Fiber-optic cables are much lighters than copper cables.</a:t>
            </a:r>
          </a:p>
          <a:p>
            <a:pPr algn="just"/>
            <a:r>
              <a:rPr lang="en-US" sz="2400" i="1" dirty="0">
                <a:solidFill>
                  <a:srgbClr val="FF0000"/>
                </a:solidFill>
              </a:rPr>
              <a:t>Longer Distance</a:t>
            </a:r>
            <a:r>
              <a:rPr lang="en-US" sz="2400" dirty="0">
                <a:solidFill>
                  <a:srgbClr val="FF0000"/>
                </a:solidFill>
              </a:rPr>
              <a:t>: </a:t>
            </a:r>
            <a:r>
              <a:rPr lang="en-US" sz="2400" dirty="0"/>
              <a:t>in it, optical cables are capable of providing low power loss, which enables signals can be transmitted to a longer distance than copper cables.</a:t>
            </a:r>
            <a:endParaRPr lang="en-US" sz="2400" i="1" dirty="0"/>
          </a:p>
          <a:p>
            <a:pPr algn="just"/>
            <a:r>
              <a:rPr lang="en-US" sz="2400" i="1" dirty="0">
                <a:solidFill>
                  <a:srgbClr val="FF0000"/>
                </a:solidFill>
              </a:rPr>
              <a:t>Faster speed: </a:t>
            </a:r>
            <a:r>
              <a:rPr lang="en-US" sz="2400" dirty="0"/>
              <a:t>speed of data transmission is much higher in it.</a:t>
            </a:r>
            <a:endParaRPr lang="en-US" sz="2400" i="1" dirty="0"/>
          </a:p>
          <a:p>
            <a:pPr algn="just"/>
            <a:r>
              <a:rPr lang="en-IN" sz="2400" i="1" dirty="0">
                <a:solidFill>
                  <a:srgbClr val="FF0000"/>
                </a:solidFill>
              </a:rPr>
              <a:t>Excellent Security</a:t>
            </a:r>
            <a:r>
              <a:rPr lang="en-IN" sz="2400" dirty="0">
                <a:solidFill>
                  <a:srgbClr val="FF0000"/>
                </a:solidFill>
              </a:rPr>
              <a:t>: </a:t>
            </a:r>
            <a:r>
              <a:rPr lang="en-IN" sz="2400" dirty="0"/>
              <a:t>it provides excellent security because they do not leak light and it is quite difficult to tap (</a:t>
            </a:r>
            <a:r>
              <a:rPr lang="gu-IN" sz="2400" dirty="0"/>
              <a:t>વચ્ચેથી સ્ંદેશો સાંભળવો</a:t>
            </a:r>
            <a:r>
              <a:rPr lang="en-IN" sz="2400" dirty="0"/>
              <a:t>).</a:t>
            </a:r>
            <a:endParaRPr lang="gu-IN" sz="2400" dirty="0"/>
          </a:p>
          <a:p>
            <a:pPr algn="just"/>
            <a:r>
              <a:rPr lang="en-IN" sz="2400" i="1" dirty="0">
                <a:solidFill>
                  <a:srgbClr val="FF0000"/>
                </a:solidFill>
              </a:rPr>
              <a:t>Noise Resistance</a:t>
            </a:r>
            <a:r>
              <a:rPr lang="en-IN" sz="2400" dirty="0">
                <a:solidFill>
                  <a:srgbClr val="FF0000"/>
                </a:solidFill>
              </a:rPr>
              <a:t>: </a:t>
            </a:r>
            <a:r>
              <a:rPr lang="en-IN" sz="2400" dirty="0"/>
              <a:t>because </a:t>
            </a:r>
            <a:r>
              <a:rPr lang="en-IN" sz="2400" dirty="0" err="1"/>
              <a:t>fiber</a:t>
            </a:r>
            <a:r>
              <a:rPr lang="en-IN" sz="2400" dirty="0"/>
              <a:t> optic transmission uses light rather than electricity, noise is not damaging the signal.</a:t>
            </a:r>
          </a:p>
          <a:p>
            <a:pPr algn="just"/>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IN" sz="2400" i="1" dirty="0">
                <a:solidFill>
                  <a:srgbClr val="FF0000"/>
                </a:solidFill>
              </a:rPr>
              <a:t>Better reliability</a:t>
            </a:r>
            <a:r>
              <a:rPr lang="en-IN" sz="2400" dirty="0">
                <a:solidFill>
                  <a:srgbClr val="FF0000"/>
                </a:solidFill>
              </a:rPr>
              <a:t>: </a:t>
            </a:r>
            <a:r>
              <a:rPr lang="en-IN" sz="2400" dirty="0"/>
              <a:t>FOC is immune (</a:t>
            </a:r>
            <a:r>
              <a:rPr lang="gu-IN" sz="2400" dirty="0"/>
              <a:t>મુક્ત</a:t>
            </a:r>
            <a:r>
              <a:rPr lang="en-IN" sz="2400" dirty="0"/>
              <a:t>)</a:t>
            </a:r>
            <a:r>
              <a:rPr lang="en-US" sz="2400" dirty="0"/>
              <a:t>  to temperature changes, severe weather and moisture and it’s not bothered about electromagnetic interference (EMI) which can interrupt the data.</a:t>
            </a:r>
            <a:endParaRPr lang="en-US" sz="2400" b="1" dirty="0"/>
          </a:p>
          <a:p>
            <a:pPr algn="just">
              <a:buFont typeface="Wingdings 3" pitchFamily="18" charset="2"/>
              <a:buChar char="Ê"/>
            </a:pPr>
            <a:r>
              <a:rPr lang="en-US" sz="2400" b="1" dirty="0"/>
              <a:t>Disadvantages </a:t>
            </a:r>
            <a:r>
              <a:rPr lang="en-US" sz="2400" b="1" i="1" dirty="0"/>
              <a:t>of</a:t>
            </a:r>
            <a:r>
              <a:rPr lang="en-US" sz="2400" b="1" dirty="0"/>
              <a:t> FOC</a:t>
            </a:r>
          </a:p>
          <a:p>
            <a:pPr algn="just"/>
            <a:r>
              <a:rPr lang="en-US" sz="2400" i="1" dirty="0">
                <a:solidFill>
                  <a:schemeClr val="accent6"/>
                </a:solidFill>
              </a:rPr>
              <a:t>Difficult to install: </a:t>
            </a:r>
            <a:r>
              <a:rPr lang="en-US" sz="2400" dirty="0"/>
              <a:t>special skills are required to install and maintain fiber optic cables.</a:t>
            </a:r>
          </a:p>
          <a:p>
            <a:pPr algn="just"/>
            <a:r>
              <a:rPr lang="en-US" sz="2400" i="1" dirty="0">
                <a:solidFill>
                  <a:schemeClr val="accent6"/>
                </a:solidFill>
              </a:rPr>
              <a:t>Higher cost</a:t>
            </a:r>
            <a:r>
              <a:rPr lang="en-US" sz="2400" dirty="0">
                <a:solidFill>
                  <a:schemeClr val="accent6"/>
                </a:solidFill>
              </a:rPr>
              <a:t>: </a:t>
            </a:r>
            <a:r>
              <a:rPr lang="en-US" sz="2400" dirty="0"/>
              <a:t>it is expensive compare to other cables.</a:t>
            </a:r>
          </a:p>
          <a:p>
            <a:pPr algn="just"/>
            <a:r>
              <a:rPr lang="en-IN" sz="2400" i="1" dirty="0">
                <a:solidFill>
                  <a:schemeClr val="accent6"/>
                </a:solidFill>
              </a:rPr>
              <a:t>Unidirectional (one direction)</a:t>
            </a:r>
            <a:r>
              <a:rPr lang="en-IN" sz="2400" dirty="0">
                <a:solidFill>
                  <a:schemeClr val="accent6"/>
                </a:solidFill>
              </a:rPr>
              <a:t>: </a:t>
            </a:r>
            <a:r>
              <a:rPr lang="en-IN" sz="2400" dirty="0"/>
              <a:t>propagation of light is unidirectional. If we need bidirectional communication then two fibers are needed.</a:t>
            </a:r>
          </a:p>
          <a:p>
            <a:pPr algn="just"/>
            <a:r>
              <a:rPr lang="en-IN" sz="2400" i="1" dirty="0">
                <a:solidFill>
                  <a:schemeClr val="accent6"/>
                </a:solidFill>
              </a:rPr>
              <a:t>Fragility</a:t>
            </a:r>
            <a:r>
              <a:rPr lang="en-IN" sz="2400" dirty="0">
                <a:solidFill>
                  <a:schemeClr val="accent6"/>
                </a:solidFill>
              </a:rPr>
              <a:t>: </a:t>
            </a:r>
            <a:r>
              <a:rPr lang="en-IN" sz="2400" dirty="0"/>
              <a:t>it is made up with glass, so is can be easily broken and it is less useful for application where portability required. </a:t>
            </a:r>
          </a:p>
          <a:p>
            <a:pPr algn="just"/>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fontScale="92500" lnSpcReduction="10000"/>
          </a:bodyPr>
          <a:lstStyle/>
          <a:p>
            <a:pPr algn="just">
              <a:buFont typeface="Symbol" pitchFamily="18" charset="2"/>
              <a:buChar char=""/>
            </a:pPr>
            <a:r>
              <a:rPr lang="en-IN" sz="2400" b="1" dirty="0">
                <a:solidFill>
                  <a:srgbClr val="C00000"/>
                </a:solidFill>
              </a:rPr>
              <a:t>Fiber optic connectors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IN" sz="2400" dirty="0"/>
              <a:t>Fiber optic cables use three different connectors as shown in above figure.</a:t>
            </a:r>
          </a:p>
          <a:p>
            <a:pPr marL="457200" indent="-457200" algn="just">
              <a:buFont typeface="+mj-lt"/>
              <a:buAutoNum type="arabicPeriod"/>
            </a:pPr>
            <a:r>
              <a:rPr lang="en-IN" sz="2400" b="1" dirty="0"/>
              <a:t>The subscriber channel (SC):</a:t>
            </a:r>
            <a:r>
              <a:rPr lang="en-IN" sz="2400" dirty="0"/>
              <a:t> connector is used for cable TV. It uses a push/pull locking system.</a:t>
            </a:r>
          </a:p>
          <a:p>
            <a:pPr marL="457200" indent="-457200" algn="just">
              <a:buFont typeface="+mj-lt"/>
              <a:buAutoNum type="arabicPeriod"/>
            </a:pPr>
            <a:r>
              <a:rPr lang="en-IN" sz="2400" b="1" dirty="0"/>
              <a:t>The straight-tip (ST):</a:t>
            </a:r>
            <a:r>
              <a:rPr lang="en-IN" sz="2400" dirty="0"/>
              <a:t> connector is used for connecting cable to networking devices.</a:t>
            </a:r>
          </a:p>
          <a:p>
            <a:pPr marL="457200" indent="-457200" algn="just">
              <a:buFont typeface="+mj-lt"/>
              <a:buAutoNum type="arabicPeriod"/>
            </a:pPr>
            <a:r>
              <a:rPr lang="en-IN" sz="2400" b="1" dirty="0"/>
              <a:t>MT-RJ (Mechanical Transfer Registered jack):</a:t>
            </a:r>
            <a:r>
              <a:rPr lang="en-IN" sz="2400" dirty="0"/>
              <a:t> is a new connector with same size as RJ45</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descr="D:\my CUSP\CN\Figures frm Net\Unit3\FOC3.png"/>
          <p:cNvPicPr>
            <a:picLocks noChangeAspect="1" noChangeArrowheads="1"/>
          </p:cNvPicPr>
          <p:nvPr/>
        </p:nvPicPr>
        <p:blipFill>
          <a:blip r:embed="rId3"/>
          <a:srcRect/>
          <a:stretch>
            <a:fillRect/>
          </a:stretch>
        </p:blipFill>
        <p:spPr bwMode="auto">
          <a:xfrm>
            <a:off x="609600" y="609600"/>
            <a:ext cx="7772400" cy="27432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lnSpcReduction="10000"/>
          </a:bodyPr>
          <a:lstStyle/>
          <a:p>
            <a:pPr algn="just">
              <a:buFont typeface="Wingdings 3" pitchFamily="18" charset="2"/>
              <a:buChar char="Ê"/>
            </a:pPr>
            <a:r>
              <a:rPr lang="en-IN" sz="2400" b="1" dirty="0">
                <a:solidFill>
                  <a:srgbClr val="0070C0"/>
                </a:solidFill>
              </a:rPr>
              <a:t>Fiber optic communication</a:t>
            </a:r>
          </a:p>
          <a:p>
            <a:pPr algn="just"/>
            <a:r>
              <a:rPr lang="en-US" sz="2400" dirty="0"/>
              <a:t>Fiber-optic communication is a method of transmitting information from one place to another by sending pulses of light through an optical fiber.</a:t>
            </a:r>
          </a:p>
          <a:p>
            <a:pPr algn="just"/>
            <a:r>
              <a:rPr lang="en-US" sz="2400" dirty="0"/>
              <a:t>There are three main basic elements of fiber optic communication system.</a:t>
            </a:r>
          </a:p>
          <a:p>
            <a:pPr indent="339725" algn="just">
              <a:buFont typeface="+mj-lt"/>
              <a:buAutoNum type="arabicPeriod"/>
            </a:pPr>
            <a:r>
              <a:rPr lang="en-US" sz="2400" dirty="0"/>
              <a:t>Light source</a:t>
            </a:r>
          </a:p>
          <a:p>
            <a:pPr marL="682625" indent="0" algn="just">
              <a:buNone/>
            </a:pPr>
            <a:r>
              <a:rPr lang="en-US" sz="2000" dirty="0"/>
              <a:t>Two components are used as light sources: light emitting diodes (LED’s) and LASER diodes, in which LEDs are used for  short distances and low data rate applications and LASER is used for longer distances and high data rate transmission.</a:t>
            </a:r>
            <a:endParaRPr lang="en-US" sz="2400" dirty="0"/>
          </a:p>
          <a:p>
            <a:pPr indent="339725" algn="just">
              <a:buFont typeface="+mj-lt"/>
              <a:buAutoNum type="arabicPeriod" startAt="2"/>
            </a:pPr>
            <a:r>
              <a:rPr lang="en-US" sz="2400" dirty="0"/>
              <a:t>Optical fiber as a medium</a:t>
            </a:r>
          </a:p>
          <a:p>
            <a:pPr indent="339725" algn="just">
              <a:buNone/>
            </a:pPr>
            <a:r>
              <a:rPr lang="en-US" sz="2000" dirty="0"/>
              <a:t>For data transmission, ultra thin optical fiber cable is used.</a:t>
            </a:r>
            <a:endParaRPr lang="en-US" sz="2400" dirty="0"/>
          </a:p>
          <a:p>
            <a:pPr indent="339725" algn="just">
              <a:buFont typeface="Wingdings" pitchFamily="2" charset="2"/>
              <a:buChar char="ü"/>
            </a:pPr>
            <a:r>
              <a:rPr lang="en-US" sz="2400" dirty="0"/>
              <a:t>Photo detector</a:t>
            </a:r>
          </a:p>
          <a:p>
            <a:pPr marL="682625" indent="0" algn="just">
              <a:buNone/>
            </a:pPr>
            <a:r>
              <a:rPr lang="en-US" sz="2000" dirty="0"/>
              <a:t>The purpose of photo detectors is to convert the light signal back to an electrical signal. Two types of photo detectors are mainly used for optical receiver in optical communication system: </a:t>
            </a:r>
            <a:r>
              <a:rPr lang="en-US" sz="2000" b="1" dirty="0"/>
              <a:t>PN photo diode and avalanche photo diode.</a:t>
            </a:r>
            <a:endParaRPr lang="en-US" sz="2400" b="1" dirty="0"/>
          </a:p>
          <a:p>
            <a:pPr algn="just"/>
            <a:endParaRPr lang="en-US" sz="2400" dirty="0"/>
          </a:p>
          <a:p>
            <a:pPr algn="just"/>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ctr">
              <a:buNone/>
            </a:pPr>
            <a:r>
              <a:rPr lang="en-IN" sz="3600" b="1" dirty="0">
                <a:solidFill>
                  <a:srgbClr val="FF0000"/>
                </a:solidFill>
              </a:rPr>
              <a:t>(Just for information)</a:t>
            </a:r>
            <a:endParaRPr lang="en-IN" sz="2400" b="1" dirty="0">
              <a:solidFill>
                <a:srgbClr val="FF000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D:\my CUSP\CN\Figures frm Net\Unit3\etra.jpg"/>
          <p:cNvPicPr>
            <a:picLocks noChangeAspect="1" noChangeArrowheads="1"/>
          </p:cNvPicPr>
          <p:nvPr/>
        </p:nvPicPr>
        <p:blipFill>
          <a:blip r:embed="rId3"/>
          <a:srcRect/>
          <a:stretch>
            <a:fillRect/>
          </a:stretch>
        </p:blipFill>
        <p:spPr bwMode="auto">
          <a:xfrm>
            <a:off x="475288" y="1081314"/>
            <a:ext cx="8193424" cy="4695372"/>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buFont typeface="Wingdings" pitchFamily="2" charset="2"/>
              <a:buChar char="v"/>
            </a:pPr>
            <a:r>
              <a:rPr lang="en-IN" sz="2800" b="1" dirty="0"/>
              <a:t>Most common types of Ethernet cabling</a:t>
            </a:r>
            <a:endParaRPr lang="en-IN" sz="2400" b="1" dirty="0"/>
          </a:p>
          <a:p>
            <a:pPr>
              <a:buNone/>
            </a:pPr>
            <a:endParaRPr lang="en-IN" sz="2400" b="1" dirty="0"/>
          </a:p>
          <a:p>
            <a:pPr>
              <a:buNone/>
            </a:pPr>
            <a:endParaRPr lang="en-IN" sz="2400" b="1" dirty="0"/>
          </a:p>
          <a:p>
            <a:pPr>
              <a:buNone/>
            </a:pPr>
            <a:endParaRPr lang="en-IN" sz="2400" b="1" dirty="0"/>
          </a:p>
          <a:p>
            <a:pPr>
              <a:buNone/>
            </a:pPr>
            <a:endParaRPr lang="en-IN" sz="2400" b="1"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p:cNvGraphicFramePr>
            <a:graphicFrameLocks noGrp="1"/>
          </p:cNvGraphicFramePr>
          <p:nvPr/>
        </p:nvGraphicFramePr>
        <p:xfrm>
          <a:off x="685800" y="1397000"/>
          <a:ext cx="8001000" cy="23926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2362200">
                  <a:extLst>
                    <a:ext uri="{9D8B030D-6E8A-4147-A177-3AD203B41FA5}">
                      <a16:colId xmlns:a16="http://schemas.microsoft.com/office/drawing/2014/main" val="20004"/>
                    </a:ext>
                  </a:extLst>
                </a:gridCol>
              </a:tblGrid>
              <a:tr h="370840">
                <a:tc>
                  <a:txBody>
                    <a:bodyPr/>
                    <a:lstStyle/>
                    <a:p>
                      <a:pPr algn="ctr"/>
                      <a:r>
                        <a:rPr lang="en-US" dirty="0"/>
                        <a:t>Name</a:t>
                      </a:r>
                    </a:p>
                  </a:txBody>
                  <a:tcPr/>
                </a:tc>
                <a:tc>
                  <a:txBody>
                    <a:bodyPr/>
                    <a:lstStyle/>
                    <a:p>
                      <a:pPr algn="ctr"/>
                      <a:r>
                        <a:rPr lang="en-US" dirty="0"/>
                        <a:t>Cable</a:t>
                      </a:r>
                    </a:p>
                  </a:txBody>
                  <a:tcPr/>
                </a:tc>
                <a:tc>
                  <a:txBody>
                    <a:bodyPr/>
                    <a:lstStyle/>
                    <a:p>
                      <a:pPr algn="ctr"/>
                      <a:r>
                        <a:rPr lang="en-US" dirty="0"/>
                        <a:t>Max</a:t>
                      </a:r>
                    </a:p>
                    <a:p>
                      <a:pPr algn="ctr"/>
                      <a:r>
                        <a:rPr lang="en-US" dirty="0"/>
                        <a:t>Segment</a:t>
                      </a:r>
                    </a:p>
                  </a:txBody>
                  <a:tcPr/>
                </a:tc>
                <a:tc>
                  <a:txBody>
                    <a:bodyPr/>
                    <a:lstStyle/>
                    <a:p>
                      <a:pPr algn="ctr"/>
                      <a:r>
                        <a:rPr lang="en-US" dirty="0"/>
                        <a:t>Nodes</a:t>
                      </a:r>
                    </a:p>
                  </a:txBody>
                  <a:tcPr/>
                </a:tc>
                <a:tc>
                  <a:txBody>
                    <a:bodyPr/>
                    <a:lstStyle/>
                    <a:p>
                      <a:pPr algn="ctr"/>
                      <a:r>
                        <a:rPr lang="en-US" dirty="0"/>
                        <a:t>Advantages</a:t>
                      </a:r>
                    </a:p>
                  </a:txBody>
                  <a:tcPr/>
                </a:tc>
                <a:extLst>
                  <a:ext uri="{0D108BD9-81ED-4DB2-BD59-A6C34878D82A}">
                    <a16:rowId xmlns:a16="http://schemas.microsoft.com/office/drawing/2014/main" val="10000"/>
                  </a:ext>
                </a:extLst>
              </a:tr>
              <a:tr h="370840">
                <a:tc>
                  <a:txBody>
                    <a:bodyPr/>
                    <a:lstStyle/>
                    <a:p>
                      <a:r>
                        <a:rPr lang="en-US" dirty="0"/>
                        <a:t>10Base2</a:t>
                      </a:r>
                    </a:p>
                  </a:txBody>
                  <a:tcPr/>
                </a:tc>
                <a:tc>
                  <a:txBody>
                    <a:bodyPr/>
                    <a:lstStyle/>
                    <a:p>
                      <a:r>
                        <a:rPr lang="en-US" dirty="0"/>
                        <a:t>Thin Coax	</a:t>
                      </a:r>
                    </a:p>
                  </a:txBody>
                  <a:tcPr/>
                </a:tc>
                <a:tc>
                  <a:txBody>
                    <a:bodyPr/>
                    <a:lstStyle/>
                    <a:p>
                      <a:r>
                        <a:rPr lang="en-US" dirty="0"/>
                        <a:t>185 m</a:t>
                      </a:r>
                    </a:p>
                  </a:txBody>
                  <a:tcPr/>
                </a:tc>
                <a:tc>
                  <a:txBody>
                    <a:bodyPr/>
                    <a:lstStyle/>
                    <a:p>
                      <a:r>
                        <a:rPr lang="en-US" dirty="0"/>
                        <a:t>30</a:t>
                      </a:r>
                    </a:p>
                  </a:txBody>
                  <a:tcPr/>
                </a:tc>
                <a:tc>
                  <a:txBody>
                    <a:bodyPr/>
                    <a:lstStyle/>
                    <a:p>
                      <a:r>
                        <a:rPr lang="en-US" dirty="0"/>
                        <a:t>No hub</a:t>
                      </a:r>
                      <a:r>
                        <a:rPr lang="en-US" baseline="0" dirty="0"/>
                        <a:t> needed</a:t>
                      </a:r>
                      <a:endParaRPr lang="en-US" dirty="0"/>
                    </a:p>
                  </a:txBody>
                  <a:tcPr/>
                </a:tc>
                <a:extLst>
                  <a:ext uri="{0D108BD9-81ED-4DB2-BD59-A6C34878D82A}">
                    <a16:rowId xmlns:a16="http://schemas.microsoft.com/office/drawing/2014/main" val="10001"/>
                  </a:ext>
                </a:extLst>
              </a:tr>
              <a:tr h="370840">
                <a:tc>
                  <a:txBody>
                    <a:bodyPr/>
                    <a:lstStyle/>
                    <a:p>
                      <a:r>
                        <a:rPr lang="en-US" dirty="0"/>
                        <a:t>10Base5</a:t>
                      </a:r>
                    </a:p>
                  </a:txBody>
                  <a:tcPr/>
                </a:tc>
                <a:tc>
                  <a:txBody>
                    <a:bodyPr/>
                    <a:lstStyle/>
                    <a:p>
                      <a:r>
                        <a:rPr lang="en-US" dirty="0"/>
                        <a:t>Thick Coax</a:t>
                      </a:r>
                    </a:p>
                  </a:txBody>
                  <a:tcPr/>
                </a:tc>
                <a:tc>
                  <a:txBody>
                    <a:bodyPr/>
                    <a:lstStyle/>
                    <a:p>
                      <a:r>
                        <a:rPr lang="en-US" dirty="0"/>
                        <a:t>500</a:t>
                      </a:r>
                      <a:r>
                        <a:rPr lang="en-US" baseline="0" dirty="0"/>
                        <a:t> m</a:t>
                      </a:r>
                      <a:endParaRPr lang="en-US" dirty="0"/>
                    </a:p>
                  </a:txBody>
                  <a:tcPr/>
                </a:tc>
                <a:tc>
                  <a:txBody>
                    <a:bodyPr/>
                    <a:lstStyle/>
                    <a:p>
                      <a:r>
                        <a:rPr lang="en-US" dirty="0"/>
                        <a:t>100</a:t>
                      </a:r>
                    </a:p>
                  </a:txBody>
                  <a:tcPr/>
                </a:tc>
                <a:tc>
                  <a:txBody>
                    <a:bodyPr/>
                    <a:lstStyle/>
                    <a:p>
                      <a:r>
                        <a:rPr lang="en-US" dirty="0"/>
                        <a:t>Original cable, now obsolete</a:t>
                      </a:r>
                    </a:p>
                  </a:txBody>
                  <a:tcPr/>
                </a:tc>
                <a:extLst>
                  <a:ext uri="{0D108BD9-81ED-4DB2-BD59-A6C34878D82A}">
                    <a16:rowId xmlns:a16="http://schemas.microsoft.com/office/drawing/2014/main" val="10002"/>
                  </a:ext>
                </a:extLst>
              </a:tr>
              <a:tr h="370840">
                <a:tc>
                  <a:txBody>
                    <a:bodyPr/>
                    <a:lstStyle/>
                    <a:p>
                      <a:r>
                        <a:rPr lang="en-US" dirty="0"/>
                        <a:t>10BaseT</a:t>
                      </a:r>
                    </a:p>
                  </a:txBody>
                  <a:tcPr/>
                </a:tc>
                <a:tc>
                  <a:txBody>
                    <a:bodyPr/>
                    <a:lstStyle/>
                    <a:p>
                      <a:r>
                        <a:rPr lang="en-US" dirty="0"/>
                        <a:t>Twisted pair</a:t>
                      </a:r>
                    </a:p>
                  </a:txBody>
                  <a:tcPr/>
                </a:tc>
                <a:tc>
                  <a:txBody>
                    <a:bodyPr/>
                    <a:lstStyle/>
                    <a:p>
                      <a:r>
                        <a:rPr lang="en-US" dirty="0"/>
                        <a:t>100</a:t>
                      </a:r>
                      <a:r>
                        <a:rPr lang="en-US" baseline="0" dirty="0"/>
                        <a:t> m</a:t>
                      </a:r>
                      <a:endParaRPr lang="en-US" dirty="0"/>
                    </a:p>
                  </a:txBody>
                  <a:tcPr/>
                </a:tc>
                <a:tc>
                  <a:txBody>
                    <a:bodyPr/>
                    <a:lstStyle/>
                    <a:p>
                      <a:r>
                        <a:rPr lang="en-US" dirty="0"/>
                        <a:t>1024</a:t>
                      </a:r>
                    </a:p>
                  </a:txBody>
                  <a:tcPr/>
                </a:tc>
                <a:tc>
                  <a:txBody>
                    <a:bodyPr/>
                    <a:lstStyle/>
                    <a:p>
                      <a:r>
                        <a:rPr lang="en-US" dirty="0"/>
                        <a:t>Cheapest</a:t>
                      </a:r>
                      <a:r>
                        <a:rPr lang="en-US" baseline="0" dirty="0"/>
                        <a:t> system</a:t>
                      </a:r>
                      <a:endParaRPr lang="en-US" dirty="0"/>
                    </a:p>
                  </a:txBody>
                  <a:tcPr/>
                </a:tc>
                <a:extLst>
                  <a:ext uri="{0D108BD9-81ED-4DB2-BD59-A6C34878D82A}">
                    <a16:rowId xmlns:a16="http://schemas.microsoft.com/office/drawing/2014/main" val="10003"/>
                  </a:ext>
                </a:extLst>
              </a:tr>
              <a:tr h="370840">
                <a:tc>
                  <a:txBody>
                    <a:bodyPr/>
                    <a:lstStyle/>
                    <a:p>
                      <a:r>
                        <a:rPr lang="en-US" dirty="0"/>
                        <a:t>10BaseF</a:t>
                      </a:r>
                    </a:p>
                  </a:txBody>
                  <a:tcPr/>
                </a:tc>
                <a:tc>
                  <a:txBody>
                    <a:bodyPr/>
                    <a:lstStyle/>
                    <a:p>
                      <a:r>
                        <a:rPr lang="en-US" dirty="0"/>
                        <a:t>Fiber optics</a:t>
                      </a:r>
                    </a:p>
                  </a:txBody>
                  <a:tcPr/>
                </a:tc>
                <a:tc>
                  <a:txBody>
                    <a:bodyPr/>
                    <a:lstStyle/>
                    <a:p>
                      <a:r>
                        <a:rPr lang="en-US" dirty="0"/>
                        <a:t>2000 m</a:t>
                      </a:r>
                    </a:p>
                  </a:txBody>
                  <a:tcPr/>
                </a:tc>
                <a:tc>
                  <a:txBody>
                    <a:bodyPr/>
                    <a:lstStyle/>
                    <a:p>
                      <a:r>
                        <a:rPr lang="en-US" dirty="0"/>
                        <a:t>1024</a:t>
                      </a:r>
                    </a:p>
                  </a:txBody>
                  <a:tcPr/>
                </a:tc>
                <a:tc>
                  <a:txBody>
                    <a:bodyPr/>
                    <a:lstStyle/>
                    <a:p>
                      <a:r>
                        <a:rPr lang="en-US" dirty="0"/>
                        <a:t>Best between</a:t>
                      </a:r>
                      <a:r>
                        <a:rPr lang="en-US" baseline="0" dirty="0"/>
                        <a:t> buildings</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FA7A-4160-4B4D-AB4A-5FFC99D71AEB}"/>
              </a:ext>
            </a:extLst>
          </p:cNvPr>
          <p:cNvSpPr>
            <a:spLocks noGrp="1"/>
          </p:cNvSpPr>
          <p:nvPr>
            <p:ph type="title"/>
          </p:nvPr>
        </p:nvSpPr>
        <p:spPr/>
        <p:txBody>
          <a:bodyPr/>
          <a:lstStyle/>
          <a:p>
            <a:r>
              <a:rPr lang="en-US" dirty="0"/>
              <a:t>LEARNING OUTCOME</a:t>
            </a:r>
            <a:endParaRPr lang="en-IN" dirty="0"/>
          </a:p>
        </p:txBody>
      </p:sp>
      <p:sp>
        <p:nvSpPr>
          <p:cNvPr id="3" name="Content Placeholder 2">
            <a:extLst>
              <a:ext uri="{FF2B5EF4-FFF2-40B4-BE49-F238E27FC236}">
                <a16:creationId xmlns:a16="http://schemas.microsoft.com/office/drawing/2014/main" id="{9AC03160-D6E8-4FFF-BFFF-69E63971BD09}"/>
              </a:ext>
            </a:extLst>
          </p:cNvPr>
          <p:cNvSpPr>
            <a:spLocks noGrp="1"/>
          </p:cNvSpPr>
          <p:nvPr>
            <p:ph idx="1"/>
          </p:nvPr>
        </p:nvSpPr>
        <p:spPr/>
        <p:txBody>
          <a:bodyPr>
            <a:normAutofit/>
          </a:bodyPr>
          <a:lstStyle/>
          <a:p>
            <a:pPr algn="just">
              <a:lnSpc>
                <a:spcPct val="150000"/>
              </a:lnSpc>
            </a:pPr>
            <a:r>
              <a:rPr lang="en-US" sz="4000" dirty="0"/>
              <a:t>After the completion of this session, students will be able to….</a:t>
            </a:r>
            <a:r>
              <a:rPr lang="en-US" sz="4000" dirty="0">
                <a:latin typeface="Times New Roman" panose="02020603050405020304" pitchFamily="18" charset="0"/>
              </a:rPr>
              <a:t> </a:t>
            </a:r>
            <a:r>
              <a:rPr lang="en-US" sz="4000" i="1" dirty="0">
                <a:solidFill>
                  <a:srgbClr val="FF0000"/>
                </a:solidFill>
              </a:rPr>
              <a:t>select appropriate </a:t>
            </a:r>
            <a:r>
              <a:rPr lang="en-US" sz="4000" i="1" dirty="0">
                <a:solidFill>
                  <a:srgbClr val="0099FF"/>
                </a:solidFill>
              </a:rPr>
              <a:t>unguided</a:t>
            </a:r>
            <a:r>
              <a:rPr lang="en-US" sz="4000" i="1" dirty="0">
                <a:solidFill>
                  <a:srgbClr val="FF0000"/>
                </a:solidFill>
              </a:rPr>
              <a:t> transmission media for given network.</a:t>
            </a:r>
          </a:p>
          <a:p>
            <a:pPr marL="457200" lvl="1" indent="0">
              <a:buNone/>
            </a:pPr>
            <a:endParaRPr lang="en-IN" dirty="0"/>
          </a:p>
        </p:txBody>
      </p:sp>
      <p:sp>
        <p:nvSpPr>
          <p:cNvPr id="4" name="Slide Number Placeholder 3">
            <a:extLst>
              <a:ext uri="{FF2B5EF4-FFF2-40B4-BE49-F238E27FC236}">
                <a16:creationId xmlns:a16="http://schemas.microsoft.com/office/drawing/2014/main" id="{3F42AE74-D48A-441A-9862-FDD71D42A63A}"/>
              </a:ext>
            </a:extLst>
          </p:cNvPr>
          <p:cNvSpPr>
            <a:spLocks noGrp="1"/>
          </p:cNvSpPr>
          <p:nvPr>
            <p:ph type="sldNum" sz="quarter" idx="12"/>
          </p:nvPr>
        </p:nvSpPr>
        <p:spPr/>
        <p:txBody>
          <a:bodyPr/>
          <a:lstStyle/>
          <a:p>
            <a:fld id="{B6F15528-21DE-4FAA-801E-634DDDAF4B2B}" type="slidenum">
              <a:rPr lang="en-US" smtClean="0"/>
              <a:pPr/>
              <a:t>37</a:t>
            </a:fld>
            <a:endParaRPr lang="en-US" dirty="0"/>
          </a:p>
        </p:txBody>
      </p:sp>
    </p:spTree>
    <p:extLst>
      <p:ext uri="{BB962C8B-B14F-4D97-AF65-F5344CB8AC3E}">
        <p14:creationId xmlns:p14="http://schemas.microsoft.com/office/powerpoint/2010/main" val="309379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rrowheads="1"/>
          </p:cNvPicPr>
          <p:nvPr/>
        </p:nvPicPr>
        <p:blipFill>
          <a:blip r:embed="rId3"/>
          <a:srcRect/>
          <a:stretch>
            <a:fillRect/>
          </a:stretch>
        </p:blipFill>
        <p:spPr bwMode="auto">
          <a:xfrm>
            <a:off x="381000" y="4572000"/>
            <a:ext cx="8458200" cy="2057400"/>
          </a:xfrm>
          <a:prstGeom prst="rect">
            <a:avLst/>
          </a:prstGeom>
          <a:noFill/>
          <a:ln w="12700">
            <a:noFill/>
            <a:miter lim="800000"/>
            <a:headEnd/>
            <a:tailEnd/>
          </a:ln>
          <a:effectLst/>
        </p:spPr>
      </p:pic>
      <p:sp>
        <p:nvSpPr>
          <p:cNvPr id="3" name="Content Placeholder 2"/>
          <p:cNvSpPr>
            <a:spLocks noGrp="1"/>
          </p:cNvSpPr>
          <p:nvPr>
            <p:ph idx="1"/>
          </p:nvPr>
        </p:nvSpPr>
        <p:spPr>
          <a:xfrm>
            <a:off x="304800" y="838200"/>
            <a:ext cx="8686800" cy="5867400"/>
          </a:xfrm>
        </p:spPr>
        <p:txBody>
          <a:bodyPr>
            <a:normAutofit/>
          </a:bodyPr>
          <a:lstStyle/>
          <a:p>
            <a:pPr lvl="0" algn="just">
              <a:spcBef>
                <a:spcPts val="400"/>
              </a:spcBef>
              <a:spcAft>
                <a:spcPts val="200"/>
              </a:spcAft>
            </a:pPr>
            <a:r>
              <a:rPr lang="en-US" sz="2400" dirty="0"/>
              <a:t>Unguided media transport electromagnetic waves without using a physical conductor.</a:t>
            </a:r>
          </a:p>
          <a:p>
            <a:pPr lvl="0" algn="just">
              <a:spcBef>
                <a:spcPts val="400"/>
              </a:spcBef>
              <a:spcAft>
                <a:spcPts val="200"/>
              </a:spcAft>
            </a:pPr>
            <a:r>
              <a:rPr lang="en-US" sz="2400" dirty="0"/>
              <a:t>In it, </a:t>
            </a:r>
            <a:r>
              <a:rPr lang="en-IN" sz="2400" dirty="0"/>
              <a:t>signals are normally broadcast through air and thus are available to anyone who has a device capable of receiving them.</a:t>
            </a:r>
          </a:p>
          <a:p>
            <a:pPr lvl="0" algn="just">
              <a:spcBef>
                <a:spcPts val="400"/>
              </a:spcBef>
              <a:spcAft>
                <a:spcPts val="200"/>
              </a:spcAft>
            </a:pPr>
            <a:r>
              <a:rPr lang="en-IN" sz="2400" dirty="0"/>
              <a:t>This type of communication is often referred to as wireless communication.</a:t>
            </a:r>
          </a:p>
          <a:p>
            <a:pPr lvl="0" algn="just">
              <a:spcBef>
                <a:spcPts val="400"/>
              </a:spcBef>
              <a:spcAft>
                <a:spcPts val="200"/>
              </a:spcAft>
            </a:pPr>
            <a:r>
              <a:rPr lang="en-IN" sz="2400" dirty="0"/>
              <a:t>In some situations where it is impossible to use cables, unguided media are good alternatives.</a:t>
            </a:r>
          </a:p>
          <a:p>
            <a:pPr lvl="0" algn="just">
              <a:spcBef>
                <a:spcPts val="400"/>
              </a:spcBef>
              <a:spcAft>
                <a:spcPts val="200"/>
              </a:spcAft>
            </a:pPr>
            <a:r>
              <a:rPr lang="en-IN" sz="2400" dirty="0"/>
              <a:t>Electromagnetic spectrum for unguided media is shown below</a:t>
            </a:r>
            <a:endParaRPr lang="en-US" sz="2400" dirty="0"/>
          </a:p>
          <a:p>
            <a:pPr lvl="0" algn="just">
              <a:spcBef>
                <a:spcPts val="400"/>
              </a:spcBef>
              <a:spcAft>
                <a:spcPts val="200"/>
              </a:spcAft>
            </a:pPr>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dirty="0"/>
          </a:p>
        </p:txBody>
      </p:sp>
      <p:sp>
        <p:nvSpPr>
          <p:cNvPr id="6" name="Rounded Rectangle 5"/>
          <p:cNvSpPr/>
          <p:nvPr/>
        </p:nvSpPr>
        <p:spPr>
          <a:xfrm>
            <a:off x="533400" y="152400"/>
            <a:ext cx="81534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3.3 Un guided media</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IN" sz="2400" b="1" dirty="0">
                <a:solidFill>
                  <a:srgbClr val="0070C0"/>
                </a:solidFill>
              </a:rPr>
              <a:t>Signal transmission in unguided media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2"/>
          <p:cNvPicPr>
            <a:picLocks noChangeArrowheads="1"/>
          </p:cNvPicPr>
          <p:nvPr/>
        </p:nvPicPr>
        <p:blipFill>
          <a:blip r:embed="rId3"/>
          <a:srcRect/>
          <a:stretch>
            <a:fillRect/>
          </a:stretch>
        </p:blipFill>
        <p:spPr bwMode="auto">
          <a:xfrm>
            <a:off x="1219200" y="1204686"/>
            <a:ext cx="6629400" cy="5043713"/>
          </a:xfrm>
          <a:prstGeom prst="rect">
            <a:avLst/>
          </a:prstGeom>
          <a:noFill/>
          <a:ln w="12700">
            <a:noFill/>
            <a:miter lim="800000"/>
            <a:headEnd/>
            <a:tailEnd/>
          </a:ln>
          <a:effectLst/>
        </p:spPr>
      </p:pic>
      <p:sp>
        <p:nvSpPr>
          <p:cNvPr id="7" name="TextBox 6"/>
          <p:cNvSpPr txBox="1"/>
          <p:nvPr/>
        </p:nvSpPr>
        <p:spPr>
          <a:xfrm>
            <a:off x="152400" y="4050268"/>
            <a:ext cx="2438400" cy="369332"/>
          </a:xfrm>
          <a:prstGeom prst="rect">
            <a:avLst/>
          </a:prstGeom>
          <a:noFill/>
          <a:ln>
            <a:solidFill>
              <a:schemeClr val="accent1"/>
            </a:solidFill>
          </a:ln>
        </p:spPr>
        <p:txBody>
          <a:bodyPr wrap="square" rtlCol="0">
            <a:spAutoFit/>
          </a:bodyPr>
          <a:lstStyle/>
          <a:p>
            <a:pPr algn="ctr"/>
            <a:r>
              <a:rPr lang="en-US" dirty="0"/>
              <a:t>Ground propagation</a:t>
            </a:r>
          </a:p>
        </p:txBody>
      </p:sp>
      <p:sp>
        <p:nvSpPr>
          <p:cNvPr id="8" name="TextBox 7"/>
          <p:cNvSpPr txBox="1"/>
          <p:nvPr/>
        </p:nvSpPr>
        <p:spPr>
          <a:xfrm>
            <a:off x="2438400" y="3733800"/>
            <a:ext cx="2438400" cy="369332"/>
          </a:xfrm>
          <a:prstGeom prst="rect">
            <a:avLst/>
          </a:prstGeom>
          <a:noFill/>
          <a:ln>
            <a:solidFill>
              <a:schemeClr val="accent1"/>
            </a:solidFill>
          </a:ln>
        </p:spPr>
        <p:txBody>
          <a:bodyPr wrap="square" rtlCol="0">
            <a:spAutoFit/>
          </a:bodyPr>
          <a:lstStyle/>
          <a:p>
            <a:pPr algn="ctr"/>
            <a:r>
              <a:rPr lang="en-US" dirty="0"/>
              <a:t>Sky propagation</a:t>
            </a:r>
          </a:p>
        </p:txBody>
      </p:sp>
      <p:sp>
        <p:nvSpPr>
          <p:cNvPr id="9" name="TextBox 8"/>
          <p:cNvSpPr txBox="1"/>
          <p:nvPr/>
        </p:nvSpPr>
        <p:spPr>
          <a:xfrm>
            <a:off x="228600" y="6096000"/>
            <a:ext cx="2438400" cy="646331"/>
          </a:xfrm>
          <a:prstGeom prst="rect">
            <a:avLst/>
          </a:prstGeom>
          <a:noFill/>
          <a:ln>
            <a:solidFill>
              <a:schemeClr val="accent1"/>
            </a:solidFill>
          </a:ln>
        </p:spPr>
        <p:txBody>
          <a:bodyPr wrap="square" rtlCol="0">
            <a:spAutoFit/>
          </a:bodyPr>
          <a:lstStyle/>
          <a:p>
            <a:pPr algn="ctr"/>
            <a:r>
              <a:rPr lang="en-US" dirty="0"/>
              <a:t>Line-of-sight propagation</a:t>
            </a:r>
          </a:p>
        </p:txBody>
      </p:sp>
      <p:cxnSp>
        <p:nvCxnSpPr>
          <p:cNvPr id="11" name="Straight Arrow Connector 10"/>
          <p:cNvCxnSpPr/>
          <p:nvPr/>
        </p:nvCxnSpPr>
        <p:spPr>
          <a:xfrm rot="5400000" flipH="1" flipV="1">
            <a:off x="1752600" y="5257800"/>
            <a:ext cx="457200" cy="1066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685800" y="3276600"/>
            <a:ext cx="838200" cy="762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0"/>
          </p:cNvCxnSpPr>
          <p:nvPr/>
        </p:nvCxnSpPr>
        <p:spPr>
          <a:xfrm rot="5400000" flipH="1" flipV="1">
            <a:off x="3581400" y="3276600"/>
            <a:ext cx="533400" cy="381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IN" sz="2400" b="1" dirty="0">
                <a:solidFill>
                  <a:srgbClr val="0070C0"/>
                </a:solidFill>
              </a:rPr>
              <a:t>Signal transmission in unguided media</a:t>
            </a:r>
          </a:p>
          <a:p>
            <a:pPr algn="just"/>
            <a:r>
              <a:rPr lang="en-IN" sz="2400" dirty="0"/>
              <a:t>Unguided signals can travel from source to destination in several ways: </a:t>
            </a:r>
            <a:r>
              <a:rPr lang="en-IN" sz="2400" i="1" dirty="0"/>
              <a:t>ground propagation, sky propagation, and line-of sight propagation.</a:t>
            </a:r>
          </a:p>
          <a:p>
            <a:pPr algn="just">
              <a:buFont typeface="Symbol" pitchFamily="18" charset="2"/>
              <a:buChar char=""/>
            </a:pPr>
            <a:r>
              <a:rPr lang="en-IN" sz="2400" b="1" dirty="0"/>
              <a:t>Ground propagation</a:t>
            </a:r>
          </a:p>
          <a:p>
            <a:pPr algn="just"/>
            <a:r>
              <a:rPr lang="en-IN" sz="2400" dirty="0"/>
              <a:t>In this propagation, radio waves travel through lowest portion of atmosphere, hugging the earth.</a:t>
            </a:r>
          </a:p>
          <a:p>
            <a:pPr algn="just"/>
            <a:r>
              <a:rPr lang="en-IN" sz="2400" dirty="0"/>
              <a:t>These </a:t>
            </a:r>
            <a:r>
              <a:rPr lang="en-IN" sz="2400" dirty="0">
                <a:solidFill>
                  <a:srgbClr val="FF0000"/>
                </a:solidFill>
              </a:rPr>
              <a:t>low-frequency </a:t>
            </a:r>
            <a:r>
              <a:rPr lang="en-IN" sz="2400" dirty="0"/>
              <a:t>signals </a:t>
            </a:r>
            <a:r>
              <a:rPr lang="en-IN" sz="2400" dirty="0">
                <a:solidFill>
                  <a:srgbClr val="FF0000"/>
                </a:solidFill>
              </a:rPr>
              <a:t>emanate (</a:t>
            </a:r>
            <a:r>
              <a:rPr lang="gu-IN" sz="2400" dirty="0">
                <a:solidFill>
                  <a:srgbClr val="FF0000"/>
                </a:solidFill>
              </a:rPr>
              <a:t>માંથી પસાર થવુ</a:t>
            </a:r>
            <a:r>
              <a:rPr lang="en-IN" sz="2400" dirty="0">
                <a:solidFill>
                  <a:srgbClr val="FF0000"/>
                </a:solidFill>
              </a:rPr>
              <a:t>) in all directions</a:t>
            </a:r>
            <a:r>
              <a:rPr lang="en-IN" sz="2400" dirty="0"/>
              <a:t> from the transmitting antenna and follow the curvature of planet.</a:t>
            </a:r>
            <a:endParaRPr lang="gu-IN" sz="2400" dirty="0"/>
          </a:p>
          <a:p>
            <a:pPr algn="just"/>
            <a:r>
              <a:rPr lang="en-IN" sz="2400" dirty="0"/>
              <a:t>Distance depends on the amount of</a:t>
            </a:r>
            <a:r>
              <a:rPr lang="gu-IN" sz="2400" dirty="0"/>
              <a:t> </a:t>
            </a:r>
            <a:r>
              <a:rPr lang="en-IN" sz="2400" dirty="0"/>
              <a:t>power</a:t>
            </a:r>
            <a:r>
              <a:rPr lang="gu-IN" sz="2400" dirty="0"/>
              <a:t> </a:t>
            </a:r>
            <a:r>
              <a:rPr lang="en-US" sz="2400" dirty="0"/>
              <a:t>in the signal: </a:t>
            </a:r>
            <a:r>
              <a:rPr lang="en-US" sz="2400" dirty="0">
                <a:solidFill>
                  <a:srgbClr val="FF0000"/>
                </a:solidFill>
              </a:rPr>
              <a:t>greater the power, the greater the distance.</a:t>
            </a:r>
          </a:p>
          <a:p>
            <a:pPr algn="just">
              <a:buFont typeface="Symbol" pitchFamily="18" charset="2"/>
              <a:buChar char="¨"/>
            </a:pPr>
            <a:r>
              <a:rPr lang="en-IN" sz="2400" b="1" dirty="0"/>
              <a:t>Sky Propagation</a:t>
            </a:r>
          </a:p>
          <a:p>
            <a:pPr algn="just"/>
            <a:r>
              <a:rPr lang="en-IN" sz="2400" dirty="0"/>
              <a:t>In this propagation, </a:t>
            </a:r>
            <a:r>
              <a:rPr lang="en-IN" sz="2400" dirty="0">
                <a:solidFill>
                  <a:srgbClr val="FF0000"/>
                </a:solidFill>
              </a:rPr>
              <a:t>higher-frequency</a:t>
            </a:r>
            <a:r>
              <a:rPr lang="en-IN" sz="2400" dirty="0"/>
              <a:t> radio waves radiate upward into the ionosphere (the layer of atmosphere where particles exist as ions) where they are reflected back to earth.</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IN" sz="2400" dirty="0"/>
              <a:t>This type of transmission allows for greater distances with lower power output.</a:t>
            </a:r>
            <a:endParaRPr lang="en-US" sz="2400" dirty="0"/>
          </a:p>
          <a:p>
            <a:pPr algn="just">
              <a:buFont typeface="Symbol" pitchFamily="18" charset="2"/>
              <a:buChar char="¨"/>
            </a:pPr>
            <a:r>
              <a:rPr lang="en-IN" sz="2400" b="1" dirty="0"/>
              <a:t>Line of sight Propagation</a:t>
            </a:r>
          </a:p>
          <a:p>
            <a:pPr algn="just"/>
            <a:r>
              <a:rPr lang="en-IN" sz="2400" dirty="0"/>
              <a:t>In this propagation, </a:t>
            </a:r>
            <a:r>
              <a:rPr lang="en-IN" sz="2400" dirty="0">
                <a:solidFill>
                  <a:srgbClr val="FF0000"/>
                </a:solidFill>
              </a:rPr>
              <a:t>very high-frequency </a:t>
            </a:r>
            <a:r>
              <a:rPr lang="en-IN" sz="2400" dirty="0"/>
              <a:t>signals are transmitted in straight lines </a:t>
            </a:r>
            <a:r>
              <a:rPr lang="en-IN" sz="2400" dirty="0">
                <a:solidFill>
                  <a:srgbClr val="FF0000"/>
                </a:solidFill>
              </a:rPr>
              <a:t>directly from antenna to antenna</a:t>
            </a:r>
            <a:r>
              <a:rPr lang="en-IN" sz="2400" dirty="0"/>
              <a:t>.</a:t>
            </a:r>
          </a:p>
          <a:p>
            <a:pPr algn="just"/>
            <a:r>
              <a:rPr lang="en-IN" sz="2400" dirty="0"/>
              <a:t>Antennas must be directional, facing each other and either tall enough or close enough together not to be affected by curvature of earth.</a:t>
            </a:r>
          </a:p>
          <a:p>
            <a:pPr algn="just"/>
            <a:r>
              <a:rPr lang="en-IN" sz="2400" dirty="0"/>
              <a:t>Line-of-sight propagation is tricky because radio transmission cannot be completely focused.</a:t>
            </a:r>
          </a:p>
          <a:p>
            <a:pPr algn="just"/>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ctr">
              <a:buNone/>
            </a:pPr>
            <a:r>
              <a:rPr lang="en-IN" sz="2400" b="1" u="sng" dirty="0"/>
              <a:t>Frequency band for unguided media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p:cNvGraphicFramePr>
            <a:graphicFrameLocks noGrp="1"/>
          </p:cNvGraphicFramePr>
          <p:nvPr/>
        </p:nvGraphicFramePr>
        <p:xfrm>
          <a:off x="685800" y="914399"/>
          <a:ext cx="7924800" cy="5334002"/>
        </p:xfrm>
        <a:graphic>
          <a:graphicData uri="http://schemas.openxmlformats.org/drawingml/2006/table">
            <a:tbl>
              <a:tblPr/>
              <a:tblGrid>
                <a:gridCol w="2570462">
                  <a:extLst>
                    <a:ext uri="{9D8B030D-6E8A-4147-A177-3AD203B41FA5}">
                      <a16:colId xmlns:a16="http://schemas.microsoft.com/office/drawing/2014/main" val="20000"/>
                    </a:ext>
                  </a:extLst>
                </a:gridCol>
                <a:gridCol w="1753962">
                  <a:extLst>
                    <a:ext uri="{9D8B030D-6E8A-4147-A177-3AD203B41FA5}">
                      <a16:colId xmlns:a16="http://schemas.microsoft.com/office/drawing/2014/main" val="20001"/>
                    </a:ext>
                  </a:extLst>
                </a:gridCol>
                <a:gridCol w="1577704">
                  <a:extLst>
                    <a:ext uri="{9D8B030D-6E8A-4147-A177-3AD203B41FA5}">
                      <a16:colId xmlns:a16="http://schemas.microsoft.com/office/drawing/2014/main" val="20002"/>
                    </a:ext>
                  </a:extLst>
                </a:gridCol>
                <a:gridCol w="2022672">
                  <a:extLst>
                    <a:ext uri="{9D8B030D-6E8A-4147-A177-3AD203B41FA5}">
                      <a16:colId xmlns:a16="http://schemas.microsoft.com/office/drawing/2014/main" val="20003"/>
                    </a:ext>
                  </a:extLst>
                </a:gridCol>
              </a:tblGrid>
              <a:tr h="377461">
                <a:tc>
                  <a:txBody>
                    <a:bodyPr/>
                    <a:lstStyle/>
                    <a:p>
                      <a:pPr marL="0" marR="0" algn="ctr">
                        <a:lnSpc>
                          <a:spcPct val="115000"/>
                        </a:lnSpc>
                        <a:spcBef>
                          <a:spcPts val="0"/>
                        </a:spcBef>
                        <a:spcAft>
                          <a:spcPts val="0"/>
                        </a:spcAft>
                      </a:pPr>
                      <a:r>
                        <a:rPr lang="en-US" sz="1800" dirty="0">
                          <a:latin typeface="Bookman Old Style"/>
                          <a:ea typeface="Times New Roman"/>
                          <a:cs typeface="Times New Roman"/>
                        </a:rPr>
                        <a:t>Band</a:t>
                      </a:r>
                      <a:endParaRPr lang="en-US" sz="18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5">
                      <a:fgClr>
                        <a:srgbClr val="FFFFFF"/>
                      </a:fgClr>
                      <a:bgClr>
                        <a:srgbClr val="BFBFBF"/>
                      </a:bgClr>
                    </a:pattFill>
                  </a:tcPr>
                </a:tc>
                <a:tc>
                  <a:txBody>
                    <a:bodyPr/>
                    <a:lstStyle/>
                    <a:p>
                      <a:pPr marL="0" marR="0" algn="ctr">
                        <a:lnSpc>
                          <a:spcPct val="115000"/>
                        </a:lnSpc>
                        <a:spcBef>
                          <a:spcPts val="0"/>
                        </a:spcBef>
                        <a:spcAft>
                          <a:spcPts val="0"/>
                        </a:spcAft>
                      </a:pPr>
                      <a:r>
                        <a:rPr lang="en-US" sz="1800" dirty="0">
                          <a:latin typeface="Bookman Old Style"/>
                          <a:ea typeface="Times New Roman"/>
                          <a:cs typeface="Times New Roman"/>
                        </a:rPr>
                        <a:t>Range</a:t>
                      </a:r>
                      <a:endParaRPr lang="en-US" sz="18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5">
                      <a:fgClr>
                        <a:srgbClr val="FFFFFF"/>
                      </a:fgClr>
                      <a:bgClr>
                        <a:srgbClr val="BFBFBF"/>
                      </a:bgClr>
                    </a:pattFill>
                  </a:tcPr>
                </a:tc>
                <a:tc>
                  <a:txBody>
                    <a:bodyPr/>
                    <a:lstStyle/>
                    <a:p>
                      <a:pPr marL="0" marR="0" algn="ctr">
                        <a:lnSpc>
                          <a:spcPct val="115000"/>
                        </a:lnSpc>
                        <a:spcBef>
                          <a:spcPts val="0"/>
                        </a:spcBef>
                        <a:spcAft>
                          <a:spcPts val="0"/>
                        </a:spcAft>
                      </a:pPr>
                      <a:r>
                        <a:rPr lang="en-US" sz="1800" dirty="0">
                          <a:latin typeface="Bookman Old Style"/>
                          <a:ea typeface="Times New Roman"/>
                          <a:cs typeface="Times New Roman"/>
                        </a:rPr>
                        <a:t>Propagation</a:t>
                      </a:r>
                      <a:endParaRPr lang="en-US" sz="18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5">
                      <a:fgClr>
                        <a:srgbClr val="FFFFFF"/>
                      </a:fgClr>
                      <a:bgClr>
                        <a:srgbClr val="BFBFBF"/>
                      </a:bgClr>
                    </a:pattFill>
                  </a:tcPr>
                </a:tc>
                <a:tc>
                  <a:txBody>
                    <a:bodyPr/>
                    <a:lstStyle/>
                    <a:p>
                      <a:pPr marL="0" marR="0" algn="ctr">
                        <a:lnSpc>
                          <a:spcPct val="115000"/>
                        </a:lnSpc>
                        <a:spcBef>
                          <a:spcPts val="0"/>
                        </a:spcBef>
                        <a:spcAft>
                          <a:spcPts val="0"/>
                        </a:spcAft>
                      </a:pPr>
                      <a:r>
                        <a:rPr lang="en-US" sz="1800" dirty="0">
                          <a:latin typeface="Bookman Old Style"/>
                          <a:ea typeface="Times New Roman"/>
                          <a:cs typeface="Times New Roman"/>
                        </a:rPr>
                        <a:t>Application</a:t>
                      </a:r>
                      <a:endParaRPr lang="en-US" sz="18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5">
                      <a:fgClr>
                        <a:srgbClr val="FFFFFF"/>
                      </a:fgClr>
                      <a:bgClr>
                        <a:srgbClr val="BFBFBF"/>
                      </a:bgClr>
                    </a:pattFill>
                  </a:tcPr>
                </a:tc>
                <a:extLst>
                  <a:ext uri="{0D108BD9-81ED-4DB2-BD59-A6C34878D82A}">
                    <a16:rowId xmlns:a16="http://schemas.microsoft.com/office/drawing/2014/main" val="10000"/>
                  </a:ext>
                </a:extLst>
              </a:tr>
              <a:tr h="522639">
                <a:tc>
                  <a:txBody>
                    <a:bodyPr/>
                    <a:lstStyle/>
                    <a:p>
                      <a:pPr marL="0" marR="0">
                        <a:lnSpc>
                          <a:spcPct val="115000"/>
                        </a:lnSpc>
                        <a:spcBef>
                          <a:spcPts val="0"/>
                        </a:spcBef>
                        <a:spcAft>
                          <a:spcPts val="0"/>
                        </a:spcAft>
                      </a:pPr>
                      <a:r>
                        <a:rPr lang="en-US" sz="1400" dirty="0">
                          <a:latin typeface="Bookman Old Style"/>
                          <a:ea typeface="Times New Roman"/>
                          <a:cs typeface="Times New Roman"/>
                        </a:rPr>
                        <a:t>VLF (very low frequency) </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400">
                          <a:latin typeface="Bookman Old Style"/>
                          <a:ea typeface="Calibri"/>
                          <a:cs typeface="Times New Roman"/>
                        </a:rPr>
                        <a:t>3 - 30 kHz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400">
                          <a:latin typeface="Bookman Old Style"/>
                          <a:ea typeface="Calibri"/>
                          <a:cs typeface="Times New Roman"/>
                        </a:rPr>
                        <a:t>Ground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400">
                          <a:latin typeface="Bookman Old Style"/>
                          <a:ea typeface="Calibri"/>
                          <a:cs typeface="Times New Roman"/>
                        </a:rPr>
                        <a:t>Long-range radio</a:t>
                      </a:r>
                      <a:endParaRPr lang="en-US" sz="1400">
                        <a:latin typeface="Calibri"/>
                        <a:ea typeface="Calibri"/>
                        <a:cs typeface="Shruti"/>
                      </a:endParaRPr>
                    </a:p>
                    <a:p>
                      <a:pPr marL="0" marR="0">
                        <a:lnSpc>
                          <a:spcPct val="115000"/>
                        </a:lnSpc>
                        <a:spcBef>
                          <a:spcPts val="0"/>
                        </a:spcBef>
                        <a:spcAft>
                          <a:spcPts val="0"/>
                        </a:spcAft>
                      </a:pPr>
                      <a:r>
                        <a:rPr lang="en-US" sz="1400">
                          <a:latin typeface="Bookman Old Style"/>
                          <a:ea typeface="Calibri"/>
                          <a:cs typeface="Times New Roman"/>
                        </a:rPr>
                        <a:t>navigation</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0904">
                <a:tc>
                  <a:txBody>
                    <a:bodyPr/>
                    <a:lstStyle/>
                    <a:p>
                      <a:pPr marL="0" marR="0">
                        <a:lnSpc>
                          <a:spcPct val="115000"/>
                        </a:lnSpc>
                        <a:spcBef>
                          <a:spcPts val="0"/>
                        </a:spcBef>
                        <a:spcAft>
                          <a:spcPts val="0"/>
                        </a:spcAft>
                      </a:pPr>
                      <a:r>
                        <a:rPr lang="en-US" sz="1400" dirty="0">
                          <a:latin typeface="Bookman Old Style"/>
                          <a:ea typeface="Times New Roman"/>
                          <a:cs typeface="Times New Roman"/>
                        </a:rPr>
                        <a:t>LF (low frequency) </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latin typeface="Bookman Old Style"/>
                          <a:ea typeface="Calibri"/>
                          <a:cs typeface="Times New Roman"/>
                        </a:rPr>
                        <a:t>30 - 300 kHz </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a:latin typeface="Bookman Old Style"/>
                          <a:ea typeface="Calibri"/>
                          <a:cs typeface="Times New Roman"/>
                        </a:rPr>
                        <a:t>Ground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a:latin typeface="Bookman Old Style"/>
                          <a:ea typeface="Calibri"/>
                          <a:cs typeface="Times New Roman"/>
                        </a:rPr>
                        <a:t>Radio beacons and</a:t>
                      </a:r>
                      <a:endParaRPr lang="en-US" sz="1400">
                        <a:latin typeface="Calibri"/>
                        <a:ea typeface="Calibri"/>
                        <a:cs typeface="Shruti"/>
                      </a:endParaRPr>
                    </a:p>
                    <a:p>
                      <a:pPr marL="0" marR="0">
                        <a:lnSpc>
                          <a:spcPct val="115000"/>
                        </a:lnSpc>
                        <a:spcBef>
                          <a:spcPts val="0"/>
                        </a:spcBef>
                        <a:spcAft>
                          <a:spcPts val="0"/>
                        </a:spcAft>
                      </a:pPr>
                      <a:r>
                        <a:rPr lang="en-US" sz="1400">
                          <a:latin typeface="Bookman Old Style"/>
                          <a:ea typeface="Calibri"/>
                          <a:cs typeface="Times New Roman"/>
                        </a:rPr>
                        <a:t>navigational locator</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2639">
                <a:tc>
                  <a:txBody>
                    <a:bodyPr/>
                    <a:lstStyle/>
                    <a:p>
                      <a:pPr marL="0" marR="0">
                        <a:lnSpc>
                          <a:spcPct val="115000"/>
                        </a:lnSpc>
                        <a:spcBef>
                          <a:spcPts val="0"/>
                        </a:spcBef>
                        <a:spcAft>
                          <a:spcPts val="0"/>
                        </a:spcAft>
                      </a:pPr>
                      <a:r>
                        <a:rPr lang="en-US" sz="1400">
                          <a:latin typeface="Bookman Old Style"/>
                          <a:ea typeface="Times New Roman"/>
                          <a:cs typeface="Times New Roman"/>
                        </a:rPr>
                        <a:t>MF (middle frequency)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dirty="0">
                          <a:latin typeface="Bookman Old Style"/>
                          <a:ea typeface="Calibri"/>
                          <a:cs typeface="Times New Roman"/>
                        </a:rPr>
                        <a:t>300 kHz - 3 MHz</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a:latin typeface="Bookman Old Style"/>
                          <a:ea typeface="Calibri"/>
                          <a:cs typeface="Times New Roman"/>
                        </a:rPr>
                        <a:t>Sky</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a:latin typeface="Bookman Old Style"/>
                          <a:ea typeface="Calibri"/>
                          <a:cs typeface="Times New Roman"/>
                        </a:rPr>
                        <a:t>AM radio</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36221">
                <a:tc>
                  <a:txBody>
                    <a:bodyPr/>
                    <a:lstStyle/>
                    <a:p>
                      <a:pPr marL="0" marR="0">
                        <a:lnSpc>
                          <a:spcPct val="115000"/>
                        </a:lnSpc>
                        <a:spcBef>
                          <a:spcPts val="0"/>
                        </a:spcBef>
                        <a:spcAft>
                          <a:spcPts val="0"/>
                        </a:spcAft>
                      </a:pPr>
                      <a:r>
                        <a:rPr lang="en-US" sz="1400" dirty="0">
                          <a:latin typeface="Bookman Old Style"/>
                          <a:ea typeface="Times New Roman"/>
                          <a:cs typeface="Times New Roman"/>
                        </a:rPr>
                        <a:t>HF (high frequency) </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Bookman Old Style"/>
                          <a:ea typeface="Calibri"/>
                          <a:cs typeface="Times New Roman"/>
                        </a:rPr>
                        <a:t>3 - 30 MHz</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Bookman Old Style"/>
                          <a:ea typeface="Calibri"/>
                          <a:cs typeface="Times New Roman"/>
                        </a:rPr>
                        <a:t>Sky</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a:latin typeface="Bookman Old Style"/>
                          <a:ea typeface="Calibri"/>
                          <a:cs typeface="Times New Roman"/>
                        </a:rPr>
                        <a:t>Citizens band (CB),</a:t>
                      </a:r>
                      <a:endParaRPr lang="en-US" sz="1400">
                        <a:latin typeface="Calibri"/>
                        <a:ea typeface="Calibri"/>
                        <a:cs typeface="Shruti"/>
                      </a:endParaRPr>
                    </a:p>
                    <a:p>
                      <a:pPr marL="0" marR="0">
                        <a:lnSpc>
                          <a:spcPct val="115000"/>
                        </a:lnSpc>
                        <a:spcBef>
                          <a:spcPts val="0"/>
                        </a:spcBef>
                        <a:spcAft>
                          <a:spcPts val="0"/>
                        </a:spcAft>
                      </a:pPr>
                      <a:r>
                        <a:rPr lang="en-US" sz="1400">
                          <a:latin typeface="Bookman Old Style"/>
                          <a:ea typeface="Calibri"/>
                          <a:cs typeface="Times New Roman"/>
                        </a:rPr>
                        <a:t>Ship / aircraft</a:t>
                      </a:r>
                      <a:endParaRPr lang="en-US" sz="1400">
                        <a:latin typeface="Calibri"/>
                        <a:ea typeface="Calibri"/>
                        <a:cs typeface="Shruti"/>
                      </a:endParaRPr>
                    </a:p>
                    <a:p>
                      <a:pPr marL="0" marR="0">
                        <a:lnSpc>
                          <a:spcPct val="115000"/>
                        </a:lnSpc>
                        <a:spcBef>
                          <a:spcPts val="0"/>
                        </a:spcBef>
                        <a:spcAft>
                          <a:spcPts val="0"/>
                        </a:spcAft>
                      </a:pPr>
                      <a:r>
                        <a:rPr lang="en-US" sz="1400">
                          <a:latin typeface="Bookman Old Style"/>
                          <a:ea typeface="Calibri"/>
                          <a:cs typeface="Times New Roman"/>
                        </a:rPr>
                        <a:t>communication</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22639">
                <a:tc>
                  <a:txBody>
                    <a:bodyPr/>
                    <a:lstStyle/>
                    <a:p>
                      <a:pPr marL="0" marR="0">
                        <a:lnSpc>
                          <a:spcPct val="115000"/>
                        </a:lnSpc>
                        <a:spcBef>
                          <a:spcPts val="0"/>
                        </a:spcBef>
                        <a:spcAft>
                          <a:spcPts val="0"/>
                        </a:spcAft>
                      </a:pPr>
                      <a:r>
                        <a:rPr lang="en-US" sz="1400">
                          <a:latin typeface="Bookman Old Style"/>
                          <a:ea typeface="Times New Roman"/>
                          <a:cs typeface="Times New Roman"/>
                        </a:rPr>
                        <a:t>VHF (very high frequency)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a:latin typeface="Bookman Old Style"/>
                          <a:ea typeface="Calibri"/>
                          <a:cs typeface="Times New Roman"/>
                        </a:rPr>
                        <a:t>30 - 300 MHz</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a:latin typeface="Bookman Old Style"/>
                          <a:ea typeface="Calibri"/>
                          <a:cs typeface="Times New Roman"/>
                        </a:rPr>
                        <a:t>Sky and  </a:t>
                      </a:r>
                      <a:endParaRPr lang="en-US" sz="1400">
                        <a:latin typeface="Calibri"/>
                        <a:ea typeface="Calibri"/>
                        <a:cs typeface="Shruti"/>
                      </a:endParaRPr>
                    </a:p>
                    <a:p>
                      <a:pPr marL="0" marR="0" algn="just">
                        <a:lnSpc>
                          <a:spcPct val="115000"/>
                        </a:lnSpc>
                        <a:spcBef>
                          <a:spcPts val="0"/>
                        </a:spcBef>
                        <a:spcAft>
                          <a:spcPts val="0"/>
                        </a:spcAft>
                      </a:pPr>
                      <a:r>
                        <a:rPr lang="en-US" sz="1400">
                          <a:latin typeface="Bookman Old Style"/>
                          <a:ea typeface="Calibri"/>
                          <a:cs typeface="Times New Roman"/>
                        </a:rPr>
                        <a:t>Line-of-sight</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400" dirty="0">
                          <a:latin typeface="Bookman Old Style"/>
                          <a:ea typeface="Calibri"/>
                          <a:cs typeface="Times New Roman"/>
                        </a:rPr>
                        <a:t>VHF TV, FM radio</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836221">
                <a:tc>
                  <a:txBody>
                    <a:bodyPr/>
                    <a:lstStyle/>
                    <a:p>
                      <a:pPr marL="0" marR="0">
                        <a:lnSpc>
                          <a:spcPct val="115000"/>
                        </a:lnSpc>
                        <a:spcBef>
                          <a:spcPts val="0"/>
                        </a:spcBef>
                        <a:spcAft>
                          <a:spcPts val="0"/>
                        </a:spcAft>
                      </a:pPr>
                      <a:r>
                        <a:rPr lang="en-US" sz="1400">
                          <a:latin typeface="Bookman Old Style"/>
                          <a:ea typeface="Times New Roman"/>
                          <a:cs typeface="Times New Roman"/>
                        </a:rPr>
                        <a:t>UHF (ultra high frequency)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a:latin typeface="Bookman Old Style"/>
                          <a:ea typeface="Calibri"/>
                          <a:cs typeface="Times New Roman"/>
                        </a:rPr>
                        <a:t>300 MHz - 3 GHz</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a:latin typeface="Bookman Old Style"/>
                          <a:ea typeface="Calibri"/>
                          <a:cs typeface="Times New Roman"/>
                        </a:rPr>
                        <a:t>Line-of-sight</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latin typeface="Bookman Old Style"/>
                          <a:ea typeface="Calibri"/>
                          <a:cs typeface="Times New Roman"/>
                        </a:rPr>
                        <a:t>UHFTV, cellular phones, satellite</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22639">
                <a:tc>
                  <a:txBody>
                    <a:bodyPr/>
                    <a:lstStyle/>
                    <a:p>
                      <a:pPr marL="0" marR="0">
                        <a:lnSpc>
                          <a:spcPct val="115000"/>
                        </a:lnSpc>
                        <a:spcBef>
                          <a:spcPts val="0"/>
                        </a:spcBef>
                        <a:spcAft>
                          <a:spcPts val="0"/>
                        </a:spcAft>
                      </a:pPr>
                      <a:r>
                        <a:rPr lang="en-US" sz="1400">
                          <a:latin typeface="Bookman Old Style"/>
                          <a:ea typeface="Times New Roman"/>
                          <a:cs typeface="Times New Roman"/>
                        </a:rPr>
                        <a:t>SHF (super high frequency) </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a:latin typeface="Bookman Old Style"/>
                          <a:ea typeface="Calibri"/>
                          <a:cs typeface="Times New Roman"/>
                        </a:rPr>
                        <a:t>3 - 30 GHz</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400">
                          <a:latin typeface="Bookman Old Style"/>
                          <a:ea typeface="Calibri"/>
                          <a:cs typeface="Times New Roman"/>
                        </a:rPr>
                        <a:t>Line-of-sight</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400" dirty="0">
                          <a:latin typeface="Bookman Old Style"/>
                          <a:ea typeface="Calibri"/>
                          <a:cs typeface="Times New Roman"/>
                        </a:rPr>
                        <a:t>Satellite communication</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2639">
                <a:tc>
                  <a:txBody>
                    <a:bodyPr/>
                    <a:lstStyle/>
                    <a:p>
                      <a:pPr marL="0" marR="0">
                        <a:lnSpc>
                          <a:spcPct val="115000"/>
                        </a:lnSpc>
                        <a:spcBef>
                          <a:spcPts val="0"/>
                        </a:spcBef>
                        <a:spcAft>
                          <a:spcPts val="0"/>
                        </a:spcAft>
                      </a:pPr>
                      <a:r>
                        <a:rPr lang="en-US" sz="1400">
                          <a:latin typeface="Bookman Old Style"/>
                          <a:ea typeface="Times New Roman"/>
                          <a:cs typeface="Times New Roman"/>
                        </a:rPr>
                        <a:t>EHF (extremely high frequency)</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a:latin typeface="Bookman Old Style"/>
                          <a:ea typeface="Calibri"/>
                          <a:cs typeface="Times New Roman"/>
                        </a:rPr>
                        <a:t>30 - 300 GHz</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a:latin typeface="Bookman Old Style"/>
                          <a:ea typeface="Calibri"/>
                          <a:cs typeface="Times New Roman"/>
                        </a:rPr>
                        <a:t>Line-of-sight</a:t>
                      </a:r>
                      <a:endParaRPr lang="en-US" sz="140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latin typeface="Bookman Old Style"/>
                          <a:ea typeface="Calibri"/>
                          <a:cs typeface="Times New Roman"/>
                        </a:rPr>
                        <a:t>Radar, satellite</a:t>
                      </a:r>
                      <a:endParaRPr lang="en-US" sz="1400" dirty="0">
                        <a:latin typeface="Calibri"/>
                        <a:ea typeface="Calibri"/>
                        <a:cs typeface="Shruti"/>
                      </a:endParaRPr>
                    </a:p>
                  </a:txBody>
                  <a:tcPr marL="61438" marR="614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Symbol" pitchFamily="18" charset="2"/>
              <a:buChar char="¨"/>
            </a:pPr>
            <a:r>
              <a:rPr lang="en-IN" sz="2400" b="1" dirty="0">
                <a:solidFill>
                  <a:srgbClr val="C00000"/>
                </a:solidFill>
              </a:rPr>
              <a:t>Classification of unguided media</a:t>
            </a:r>
          </a:p>
          <a:p>
            <a:pPr algn="just"/>
            <a:r>
              <a:rPr lang="en-IN" sz="2400" dirty="0"/>
              <a:t>Main three categories are there </a:t>
            </a:r>
            <a:r>
              <a:rPr lang="en-IN" sz="2400" dirty="0">
                <a:sym typeface="Wingdings" pitchFamily="2" charset="2"/>
              </a:rPr>
              <a:t> 1. Radio wave and Micro wave, 2. Infrared waves and 3. LASER</a:t>
            </a:r>
          </a:p>
          <a:p>
            <a:pPr algn="ctr">
              <a:buFont typeface="Wingdings" pitchFamily="2" charset="2"/>
              <a:buChar char="v"/>
            </a:pPr>
            <a:r>
              <a:rPr lang="en-IN" sz="2800" b="1" dirty="0">
                <a:solidFill>
                  <a:schemeClr val="accent3">
                    <a:lumMod val="60000"/>
                    <a:lumOff val="40000"/>
                  </a:schemeClr>
                </a:solidFill>
                <a:sym typeface="Wingdings" pitchFamily="2" charset="2"/>
              </a:rPr>
              <a:t>Radio wave </a:t>
            </a:r>
            <a:r>
              <a:rPr lang="en-IN" sz="2400" b="1" dirty="0">
                <a:solidFill>
                  <a:schemeClr val="accent3">
                    <a:lumMod val="60000"/>
                    <a:lumOff val="40000"/>
                  </a:schemeClr>
                </a:solidFill>
              </a:rPr>
              <a:t>transmission</a:t>
            </a:r>
            <a:endParaRPr lang="en-IN" sz="2400" b="1" dirty="0">
              <a:solidFill>
                <a:schemeClr val="accent3">
                  <a:lumMod val="60000"/>
                  <a:lumOff val="40000"/>
                </a:schemeClr>
              </a:solidFill>
              <a:sym typeface="Wingdings" pitchFamily="2" charset="2"/>
            </a:endParaRP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r>
              <a:rPr lang="en-IN" sz="2400" dirty="0"/>
              <a:t>Radio  waves  are  electromagnetic  waves  occurring  on  radio  frequency  portion  of the electromagnetic spectrum.</a:t>
            </a:r>
          </a:p>
          <a:p>
            <a:pPr algn="just"/>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076" name="Picture 4" descr="D:\my CUSP\CN\Figures frm Net\Unit3\radio2.jpg"/>
          <p:cNvPicPr>
            <a:picLocks noChangeAspect="1" noChangeArrowheads="1"/>
          </p:cNvPicPr>
          <p:nvPr/>
        </p:nvPicPr>
        <p:blipFill>
          <a:blip r:embed="rId3"/>
          <a:srcRect/>
          <a:stretch>
            <a:fillRect/>
          </a:stretch>
        </p:blipFill>
        <p:spPr bwMode="auto">
          <a:xfrm>
            <a:off x="156488" y="2057400"/>
            <a:ext cx="4110712" cy="3100972"/>
          </a:xfrm>
          <a:prstGeom prst="rect">
            <a:avLst/>
          </a:prstGeom>
          <a:noFill/>
        </p:spPr>
      </p:pic>
      <p:pic>
        <p:nvPicPr>
          <p:cNvPr id="3077" name="Picture 5" descr="D:\my CUSP\CN\Figures frm Net\Unit3\radio.jpg"/>
          <p:cNvPicPr>
            <a:picLocks noChangeAspect="1" noChangeArrowheads="1"/>
          </p:cNvPicPr>
          <p:nvPr/>
        </p:nvPicPr>
        <p:blipFill>
          <a:blip r:embed="rId4"/>
          <a:srcRect/>
          <a:stretch>
            <a:fillRect/>
          </a:stretch>
        </p:blipFill>
        <p:spPr bwMode="auto">
          <a:xfrm>
            <a:off x="4724400" y="2895600"/>
            <a:ext cx="4419600" cy="158115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IN" sz="2400" dirty="0"/>
              <a:t>These electromagnetic waves are ranging in frequency between </a:t>
            </a:r>
            <a:r>
              <a:rPr lang="en-IN" sz="2400" dirty="0">
                <a:solidFill>
                  <a:srgbClr val="FF0000"/>
                </a:solidFill>
              </a:rPr>
              <a:t>3KHz and 1GHz</a:t>
            </a:r>
            <a:r>
              <a:rPr lang="en-IN" sz="2400" dirty="0"/>
              <a:t>.</a:t>
            </a:r>
          </a:p>
          <a:p>
            <a:pPr algn="just"/>
            <a:r>
              <a:rPr lang="en-IN" sz="2400" dirty="0"/>
              <a:t>A common use is to transport information through the atmosphere or outer space without wires.</a:t>
            </a:r>
          </a:p>
          <a:p>
            <a:pPr algn="just"/>
            <a:r>
              <a:rPr lang="en-IN" sz="2400" dirty="0"/>
              <a:t>Radio waves are </a:t>
            </a:r>
            <a:r>
              <a:rPr lang="en-IN" sz="2400" dirty="0">
                <a:solidFill>
                  <a:srgbClr val="FF0000"/>
                </a:solidFill>
              </a:rPr>
              <a:t>Omni directional</a:t>
            </a:r>
            <a:r>
              <a:rPr lang="en-IN" sz="2400" dirty="0"/>
              <a:t>, means they </a:t>
            </a:r>
            <a:r>
              <a:rPr lang="en-IN" sz="2400" dirty="0">
                <a:solidFill>
                  <a:srgbClr val="FF0000"/>
                </a:solidFill>
              </a:rPr>
              <a:t>can travel in all direction from the source.</a:t>
            </a:r>
            <a:r>
              <a:rPr lang="en-IN" sz="2400" dirty="0"/>
              <a:t> So transmitter and receiver </a:t>
            </a:r>
            <a:r>
              <a:rPr lang="en-IN" sz="2400" dirty="0">
                <a:solidFill>
                  <a:srgbClr val="FF0000"/>
                </a:solidFill>
              </a:rPr>
              <a:t>do not have to be aligned physically.</a:t>
            </a:r>
          </a:p>
          <a:p>
            <a:pPr algn="just"/>
            <a:r>
              <a:rPr lang="en-IN" sz="2400" dirty="0"/>
              <a:t>Radio waves are easy to generate, can travel long distance and can penetrate (</a:t>
            </a:r>
            <a:r>
              <a:rPr lang="gu-IN" sz="2400" dirty="0"/>
              <a:t>માંથી પસાર થવું</a:t>
            </a:r>
            <a:r>
              <a:rPr lang="en-IN" sz="2400" dirty="0"/>
              <a:t>)</a:t>
            </a:r>
            <a:r>
              <a:rPr lang="gu-IN" sz="2400" dirty="0"/>
              <a:t> </a:t>
            </a:r>
            <a:r>
              <a:rPr lang="en-US" sz="2400" dirty="0"/>
              <a:t>buildings. So they are widely used for communication </a:t>
            </a:r>
            <a:r>
              <a:rPr lang="en-US" sz="2400" dirty="0">
                <a:solidFill>
                  <a:srgbClr val="FF0000"/>
                </a:solidFill>
              </a:rPr>
              <a:t>in both indoors and outdoors</a:t>
            </a:r>
            <a:r>
              <a:rPr lang="en-US" sz="2400" dirty="0"/>
              <a:t>.</a:t>
            </a:r>
            <a:endParaRPr lang="en-IN" sz="2400" dirty="0"/>
          </a:p>
          <a:p>
            <a:pPr algn="just"/>
            <a:r>
              <a:rPr lang="en-IN" sz="2400" dirty="0"/>
              <a:t>Radio waves are of ‘sky propagation’.</a:t>
            </a:r>
          </a:p>
          <a:p>
            <a:pPr algn="just">
              <a:buFont typeface="Wingdings 3" pitchFamily="18" charset="2"/>
              <a:buChar char="Ê"/>
            </a:pPr>
            <a:r>
              <a:rPr lang="en-IN" sz="2400" b="1" dirty="0"/>
              <a:t>Advantages of radio waves</a:t>
            </a:r>
          </a:p>
          <a:p>
            <a:pPr algn="just"/>
            <a:r>
              <a:rPr lang="en-US" sz="2400" dirty="0"/>
              <a:t>It can travel long distance (for ex. AM radio).</a:t>
            </a:r>
          </a:p>
          <a:p>
            <a:pPr algn="just"/>
            <a:r>
              <a:rPr lang="en-US" sz="2400" dirty="0"/>
              <a:t>Widely used for communication in both indoors and outdoors.</a:t>
            </a:r>
          </a:p>
          <a:p>
            <a:pPr algn="just"/>
            <a:r>
              <a:rPr lang="en-IN" sz="2400" dirty="0"/>
              <a:t>Radio waves can travel in omni direction, so no need to aligned antennas physically.</a:t>
            </a:r>
          </a:p>
          <a:p>
            <a:pPr algn="just">
              <a:buFont typeface="Wingdings 3" pitchFamily="18" charset="2"/>
              <a:buChar char="Ê"/>
            </a:pPr>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IN" sz="2400" b="1" dirty="0"/>
              <a:t>Disadvantages of radio waves</a:t>
            </a:r>
            <a:endParaRPr lang="en-IN" sz="2400" dirty="0"/>
          </a:p>
          <a:p>
            <a:pPr algn="just"/>
            <a:r>
              <a:rPr lang="en-US" sz="2400" dirty="0"/>
              <a:t>Because of omni directional antenna, the signal sent by one antenna can be interfered by another antenna that may be using same frequency or band.</a:t>
            </a:r>
          </a:p>
          <a:p>
            <a:pPr algn="just"/>
            <a:r>
              <a:rPr lang="en-US" sz="2400" dirty="0"/>
              <a:t>They can penetrate walls, so we can not isolate whether the communication to just inside or outside the building.</a:t>
            </a:r>
          </a:p>
          <a:p>
            <a:pPr algn="just"/>
            <a:r>
              <a:rPr lang="en-US" sz="2400" dirty="0"/>
              <a:t>Due to the narrow side bands (up to 1GHz), there is low data rate for digital communication.</a:t>
            </a:r>
            <a:endParaRPr lang="en-IN" sz="2400" b="1" dirty="0"/>
          </a:p>
          <a:p>
            <a:pPr algn="just">
              <a:buFont typeface="Wingdings 3" pitchFamily="18" charset="2"/>
              <a:buChar char="Ê"/>
            </a:pPr>
            <a:r>
              <a:rPr lang="en-IN" sz="2400" b="1" dirty="0"/>
              <a:t>Applications of radio waves</a:t>
            </a:r>
          </a:p>
          <a:p>
            <a:pPr marL="406400" indent="-349250" algn="just"/>
            <a:r>
              <a:rPr lang="en-US" sz="2400" dirty="0"/>
              <a:t>AM and FM radio</a:t>
            </a:r>
          </a:p>
          <a:p>
            <a:pPr marL="406400" indent="-349250" algn="just"/>
            <a:r>
              <a:rPr lang="en-IN" sz="2400" dirty="0"/>
              <a:t>GPS service</a:t>
            </a:r>
          </a:p>
          <a:p>
            <a:pPr marL="406400" indent="-349250" algn="just"/>
            <a:r>
              <a:rPr lang="en-IN" sz="2400" dirty="0"/>
              <a:t>Cordless phone</a:t>
            </a:r>
          </a:p>
          <a:p>
            <a:pPr marL="406400" indent="-349250" algn="just"/>
            <a:r>
              <a:rPr lang="en-IN" sz="2400" dirty="0"/>
              <a:t>Police radio</a:t>
            </a:r>
          </a:p>
          <a:p>
            <a:pPr marL="406400" indent="-349250" algn="just"/>
            <a:r>
              <a:rPr lang="en-IN" sz="2400" dirty="0"/>
              <a:t>Television broadcast.</a:t>
            </a:r>
          </a:p>
          <a:p>
            <a:pPr algn="just">
              <a:buNone/>
            </a:pPr>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ctr">
              <a:buFont typeface="Wingdings" pitchFamily="2" charset="2"/>
              <a:buChar char="v"/>
            </a:pPr>
            <a:r>
              <a:rPr lang="en-IN" sz="2800" b="1" dirty="0">
                <a:solidFill>
                  <a:schemeClr val="accent3">
                    <a:lumMod val="60000"/>
                    <a:lumOff val="40000"/>
                  </a:schemeClr>
                </a:solidFill>
              </a:rPr>
              <a:t>Micro waves </a:t>
            </a:r>
            <a:r>
              <a:rPr lang="en-IN" sz="2400" b="1" dirty="0">
                <a:solidFill>
                  <a:schemeClr val="accent3">
                    <a:lumMod val="60000"/>
                    <a:lumOff val="40000"/>
                  </a:schemeClr>
                </a:solidFill>
              </a:rPr>
              <a:t>transmission</a:t>
            </a: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r>
              <a:rPr lang="en-IN" sz="2400" dirty="0"/>
              <a:t>These electromagnetic waves are ranging in frequency between </a:t>
            </a:r>
            <a:r>
              <a:rPr lang="en-IN" sz="2400" dirty="0">
                <a:solidFill>
                  <a:srgbClr val="FF0000"/>
                </a:solidFill>
              </a:rPr>
              <a:t>1GHz and 300GHz</a:t>
            </a:r>
            <a:r>
              <a:rPr lang="en-IN" sz="2400" dirty="0"/>
              <a:t>.</a:t>
            </a:r>
          </a:p>
          <a:p>
            <a:pPr algn="just"/>
            <a:r>
              <a:rPr lang="en-IN" sz="2400" dirty="0"/>
              <a:t>These waves are </a:t>
            </a:r>
            <a:r>
              <a:rPr lang="en-IN" sz="2400" dirty="0">
                <a:solidFill>
                  <a:srgbClr val="FF0000"/>
                </a:solidFill>
              </a:rPr>
              <a:t>unidirectional</a:t>
            </a:r>
            <a:r>
              <a:rPr lang="en-IN" sz="2400" dirty="0"/>
              <a:t>, </a:t>
            </a:r>
            <a:r>
              <a:rPr lang="en-US" sz="2400" dirty="0"/>
              <a:t>means when an antenna transmits microwaves, the sending and receiving antenna </a:t>
            </a:r>
            <a:r>
              <a:rPr lang="en-US" sz="2400" dirty="0">
                <a:solidFill>
                  <a:srgbClr val="FF0000"/>
                </a:solidFill>
              </a:rPr>
              <a:t>need to be aligned</a:t>
            </a:r>
            <a:r>
              <a:rPr lang="en-IN" sz="2400" dirty="0"/>
              <a:t>. Signals of micro waves are </a:t>
            </a:r>
            <a:r>
              <a:rPr lang="en-IN" sz="2400" dirty="0">
                <a:solidFill>
                  <a:srgbClr val="FF0000"/>
                </a:solidFill>
              </a:rPr>
              <a:t>narrowly focused</a:t>
            </a:r>
            <a:r>
              <a:rPr lang="en-IN" sz="2400" dirty="0"/>
              <a:t>.</a:t>
            </a:r>
          </a:p>
          <a:p>
            <a:pPr algn="just"/>
            <a:r>
              <a:rPr lang="en-IN" sz="2400" dirty="0"/>
              <a:t>Micro waves are of ‘line-of-sight’ propagation.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descr="D:\my CUSP\CN\Figures frm Net\Unit3\micro.jpg"/>
          <p:cNvPicPr>
            <a:picLocks noChangeAspect="1" noChangeArrowheads="1"/>
          </p:cNvPicPr>
          <p:nvPr/>
        </p:nvPicPr>
        <p:blipFill>
          <a:blip r:embed="rId3"/>
          <a:srcRect/>
          <a:stretch>
            <a:fillRect/>
          </a:stretch>
        </p:blipFill>
        <p:spPr bwMode="auto">
          <a:xfrm>
            <a:off x="1279650" y="975179"/>
            <a:ext cx="6584702" cy="2145392"/>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lnSpcReduction="10000"/>
          </a:bodyPr>
          <a:lstStyle/>
          <a:p>
            <a:pPr algn="just">
              <a:buFont typeface="Wingdings 3" pitchFamily="18" charset="2"/>
              <a:buChar char="Ê"/>
            </a:pPr>
            <a:r>
              <a:rPr lang="en-IN" sz="2400" b="1" dirty="0"/>
              <a:t>Advantages of micro waves</a:t>
            </a:r>
          </a:p>
          <a:p>
            <a:pPr algn="just"/>
            <a:r>
              <a:rPr lang="en-US" sz="2400" dirty="0"/>
              <a:t>There is no interference of another pair of aligned antennas.</a:t>
            </a:r>
          </a:p>
          <a:p>
            <a:pPr algn="just"/>
            <a:r>
              <a:rPr lang="en-US" sz="2400" dirty="0"/>
              <a:t>As </a:t>
            </a:r>
            <a:r>
              <a:rPr lang="en-US" sz="2400" dirty="0">
                <a:solidFill>
                  <a:srgbClr val="FF0000"/>
                </a:solidFill>
              </a:rPr>
              <a:t>band is wider than radio waves</a:t>
            </a:r>
            <a:r>
              <a:rPr lang="en-US" sz="2400" dirty="0"/>
              <a:t>, high data rate for digital communications.</a:t>
            </a:r>
          </a:p>
          <a:p>
            <a:pPr algn="just"/>
            <a:r>
              <a:rPr lang="en-US" sz="2400" dirty="0"/>
              <a:t>Inexpensive and easy to install.</a:t>
            </a:r>
            <a:endParaRPr lang="en-IN" sz="2400" dirty="0"/>
          </a:p>
          <a:p>
            <a:pPr algn="just">
              <a:buFont typeface="Wingdings 3" pitchFamily="18" charset="2"/>
              <a:buChar char="Ê"/>
            </a:pPr>
            <a:r>
              <a:rPr lang="en-IN" sz="2400" b="1" dirty="0"/>
              <a:t>Disadvantages of micro waves</a:t>
            </a:r>
            <a:endParaRPr lang="en-IN" sz="2400" dirty="0"/>
          </a:p>
          <a:p>
            <a:pPr algn="just"/>
            <a:r>
              <a:rPr lang="en-IN" sz="2400" dirty="0"/>
              <a:t>These waves are unidirectional, so sending and receiving antennas must be aligned.</a:t>
            </a:r>
          </a:p>
          <a:p>
            <a:pPr algn="just"/>
            <a:r>
              <a:rPr lang="en-IN" sz="2400" dirty="0"/>
              <a:t>Repeaters are required for longer distance.</a:t>
            </a:r>
          </a:p>
          <a:p>
            <a:pPr algn="just"/>
            <a:r>
              <a:rPr lang="en-US" sz="2400" dirty="0"/>
              <a:t>Very high frequency waves can not penetrate the walls, so receivers inside the buildings can not communicate.</a:t>
            </a:r>
          </a:p>
          <a:p>
            <a:pPr algn="just">
              <a:buFont typeface="Wingdings 3" pitchFamily="18" charset="2"/>
              <a:buChar char="Ê"/>
            </a:pPr>
            <a:r>
              <a:rPr lang="en-IN" sz="2400" b="1" dirty="0"/>
              <a:t>Applications of micro waves</a:t>
            </a:r>
            <a:endParaRPr lang="en-US" sz="2400" dirty="0"/>
          </a:p>
          <a:p>
            <a:pPr marL="401638" algn="just"/>
            <a:r>
              <a:rPr lang="en-IN" sz="2200" dirty="0"/>
              <a:t>These waves are used for </a:t>
            </a:r>
            <a:r>
              <a:rPr lang="en-IN" sz="2200" dirty="0" err="1"/>
              <a:t>unicasting</a:t>
            </a:r>
            <a:r>
              <a:rPr lang="en-IN" sz="2200" dirty="0"/>
              <a:t> (one sender and one receiver).</a:t>
            </a:r>
          </a:p>
          <a:p>
            <a:pPr marL="401638"/>
            <a:r>
              <a:rPr lang="en-US" sz="2200" dirty="0"/>
              <a:t>Cellular phones</a:t>
            </a:r>
          </a:p>
          <a:p>
            <a:pPr marL="401638"/>
            <a:r>
              <a:rPr lang="en-US" sz="2200" dirty="0"/>
              <a:t>Satellite networks</a:t>
            </a:r>
          </a:p>
          <a:p>
            <a:pPr marL="401638"/>
            <a:r>
              <a:rPr lang="en-US" sz="2200" dirty="0"/>
              <a:t>Wireless LANs</a:t>
            </a:r>
            <a:endParaRPr lang="en-IN" sz="22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ctr">
              <a:buFont typeface="Wingdings" pitchFamily="2" charset="2"/>
              <a:buChar char="v"/>
            </a:pPr>
            <a:r>
              <a:rPr lang="en-IN" sz="2800" b="1" dirty="0">
                <a:solidFill>
                  <a:schemeClr val="accent3">
                    <a:lumMod val="60000"/>
                    <a:lumOff val="40000"/>
                  </a:schemeClr>
                </a:solidFill>
              </a:rPr>
              <a:t>Infrared waves </a:t>
            </a:r>
            <a:r>
              <a:rPr lang="en-IN" sz="2400" b="1" dirty="0">
                <a:solidFill>
                  <a:schemeClr val="accent3">
                    <a:lumMod val="60000"/>
                    <a:lumOff val="40000"/>
                  </a:schemeClr>
                </a:solidFill>
              </a:rPr>
              <a:t>transmission</a:t>
            </a: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r>
              <a:rPr lang="en-IN" sz="2400" dirty="0"/>
              <a:t>These electromagnetic waves are ranging in </a:t>
            </a:r>
            <a:r>
              <a:rPr lang="en-IN" sz="2400" dirty="0">
                <a:solidFill>
                  <a:srgbClr val="FF0000"/>
                </a:solidFill>
              </a:rPr>
              <a:t>frequency between 300GHz and 400THz.</a:t>
            </a:r>
          </a:p>
          <a:p>
            <a:pPr algn="just"/>
            <a:r>
              <a:rPr lang="en-IN" sz="2400" dirty="0"/>
              <a:t>These waves are </a:t>
            </a:r>
            <a:r>
              <a:rPr lang="en-IN" sz="2400" dirty="0">
                <a:solidFill>
                  <a:srgbClr val="FF0000"/>
                </a:solidFill>
              </a:rPr>
              <a:t>used for </a:t>
            </a:r>
            <a:r>
              <a:rPr lang="en-US" sz="2400" dirty="0">
                <a:solidFill>
                  <a:srgbClr val="FF0000"/>
                </a:solidFill>
              </a:rPr>
              <a:t>short range communication.</a:t>
            </a:r>
          </a:p>
          <a:p>
            <a:pPr algn="just"/>
            <a:r>
              <a:rPr lang="en-US" sz="2400" dirty="0"/>
              <a:t>Examples of infrared are </a:t>
            </a:r>
            <a:r>
              <a:rPr lang="en-US" sz="2400" dirty="0">
                <a:sym typeface="Wingdings" pitchFamily="2" charset="2"/>
              </a:rPr>
              <a:t> </a:t>
            </a:r>
            <a:r>
              <a:rPr lang="en-IN" sz="2400" dirty="0"/>
              <a:t>remote controls used on televisions, VCRs, </a:t>
            </a:r>
            <a:r>
              <a:rPr lang="en-IN" sz="2400"/>
              <a:t>and stereos.</a:t>
            </a:r>
            <a:endParaRPr lang="en-IN" sz="2400" dirty="0"/>
          </a:p>
          <a:p>
            <a:pPr algn="just"/>
            <a:r>
              <a:rPr lang="en-IN" sz="2400" dirty="0"/>
              <a:t>Infrared waves are of ‘line-of-sight propagation’.</a:t>
            </a:r>
          </a:p>
          <a:p>
            <a:pPr algn="just">
              <a:buFont typeface="Wingdings 3" pitchFamily="18" charset="2"/>
              <a:buChar char="Ê"/>
            </a:pPr>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D:\my CUSP\CN\Figures frm Net\Unit3\infrared.gif"/>
          <p:cNvPicPr>
            <a:picLocks noChangeAspect="1" noChangeArrowheads="1"/>
          </p:cNvPicPr>
          <p:nvPr/>
        </p:nvPicPr>
        <p:blipFill>
          <a:blip r:embed="rId3"/>
          <a:srcRect/>
          <a:stretch>
            <a:fillRect/>
          </a:stretch>
        </p:blipFill>
        <p:spPr bwMode="auto">
          <a:xfrm>
            <a:off x="3181350" y="724728"/>
            <a:ext cx="3295650" cy="3009072"/>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IN" sz="2400" b="1" dirty="0"/>
              <a:t>Advantages of infrared waves</a:t>
            </a:r>
          </a:p>
          <a:p>
            <a:pPr algn="just"/>
            <a:r>
              <a:rPr lang="en-IN" sz="2400" dirty="0"/>
              <a:t>Infrared waves are </a:t>
            </a:r>
            <a:r>
              <a:rPr lang="en-IN" sz="2400" dirty="0">
                <a:solidFill>
                  <a:srgbClr val="FF0000"/>
                </a:solidFill>
              </a:rPr>
              <a:t>relatively directional</a:t>
            </a:r>
            <a:r>
              <a:rPr lang="en-IN" sz="2400" dirty="0"/>
              <a:t>, cheap, and easy to build.</a:t>
            </a:r>
          </a:p>
          <a:p>
            <a:pPr algn="just"/>
            <a:r>
              <a:rPr lang="en-IN" sz="2400" dirty="0"/>
              <a:t>Infrared waves having </a:t>
            </a:r>
            <a:r>
              <a:rPr lang="en-IN" sz="2400" dirty="0">
                <a:solidFill>
                  <a:srgbClr val="FF0000"/>
                </a:solidFill>
              </a:rPr>
              <a:t>high frequency</a:t>
            </a:r>
            <a:r>
              <a:rPr lang="en-IN" sz="2400" dirty="0"/>
              <a:t>, so they are </a:t>
            </a:r>
            <a:r>
              <a:rPr lang="en-IN" sz="2400" dirty="0">
                <a:solidFill>
                  <a:srgbClr val="FF0000"/>
                </a:solidFill>
              </a:rPr>
              <a:t>not able to penetrate the walls</a:t>
            </a:r>
            <a:r>
              <a:rPr lang="en-IN" sz="2400" dirty="0"/>
              <a:t>, so in a room infrared systems can’t be interfered.</a:t>
            </a:r>
          </a:p>
          <a:p>
            <a:pPr algn="just"/>
            <a:r>
              <a:rPr lang="en-IN" sz="2400" dirty="0"/>
              <a:t>Infrared waves are useful for short range communication. It is more secure against taping.</a:t>
            </a:r>
          </a:p>
          <a:p>
            <a:pPr algn="just">
              <a:buFont typeface="Wingdings 3" pitchFamily="18" charset="2"/>
              <a:buChar char="Ê"/>
            </a:pPr>
            <a:r>
              <a:rPr lang="en-IN" sz="2400" b="1" dirty="0"/>
              <a:t>Disadvantages of infrared waves</a:t>
            </a:r>
          </a:p>
          <a:p>
            <a:pPr algn="just"/>
            <a:r>
              <a:rPr lang="en-IN" sz="2400" dirty="0"/>
              <a:t>These waves are useless</a:t>
            </a:r>
            <a:r>
              <a:rPr lang="en-US" sz="2400" dirty="0"/>
              <a:t> for long range communication.</a:t>
            </a:r>
          </a:p>
          <a:p>
            <a:pPr algn="just"/>
            <a:r>
              <a:rPr lang="en-IN" sz="2400" dirty="0"/>
              <a:t>They </a:t>
            </a:r>
            <a:r>
              <a:rPr lang="en-IN" sz="2400" dirty="0">
                <a:solidFill>
                  <a:srgbClr val="FF0000"/>
                </a:solidFill>
              </a:rPr>
              <a:t>do not pass through solid objects</a:t>
            </a:r>
            <a:r>
              <a:rPr lang="en-IN" sz="2400" dirty="0"/>
              <a:t>.</a:t>
            </a:r>
          </a:p>
          <a:p>
            <a:pPr algn="just"/>
            <a:r>
              <a:rPr lang="en-IN" sz="2400" dirty="0"/>
              <a:t>Sun’s ray can interfere the radio waves, so it is not good to use infrared outside the buildings.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49</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IN" sz="2400" b="1" dirty="0"/>
              <a:t>Applications of infrared waves</a:t>
            </a:r>
          </a:p>
          <a:p>
            <a:pPr algn="just"/>
            <a:r>
              <a:rPr lang="en-IN" sz="2400" dirty="0"/>
              <a:t>Used in short range wireless communication devices (e.g. Wireless mouse or keyboard).</a:t>
            </a:r>
          </a:p>
          <a:p>
            <a:pPr algn="just"/>
            <a:r>
              <a:rPr lang="en-IN" sz="2400" dirty="0"/>
              <a:t>Used in remote controls of TV, VCRs and stereos based on infrared.</a:t>
            </a:r>
          </a:p>
          <a:p>
            <a:pPr algn="just"/>
            <a:r>
              <a:rPr lang="en-IN" sz="2400" dirty="0"/>
              <a:t>Used in thermal efficiency analysis, remote temperature sensing, weather forecasting.</a:t>
            </a:r>
          </a:p>
          <a:p>
            <a:pPr algn="just"/>
            <a:r>
              <a:rPr lang="en-US" sz="2400" dirty="0"/>
              <a:t>Also used in military applications: target acquisition, surveillance, tracking.</a:t>
            </a:r>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ctr">
              <a:buFont typeface="Wingdings" pitchFamily="2" charset="2"/>
              <a:buChar char="v"/>
            </a:pPr>
            <a:r>
              <a:rPr lang="en-IN" sz="2800" b="1" dirty="0">
                <a:solidFill>
                  <a:schemeClr val="accent3">
                    <a:lumMod val="60000"/>
                    <a:lumOff val="40000"/>
                  </a:schemeClr>
                </a:solidFill>
              </a:rPr>
              <a:t>LASER transmission</a:t>
            </a:r>
            <a:endParaRPr lang="en-IN" sz="2400" b="1" dirty="0">
              <a:solidFill>
                <a:schemeClr val="accent3">
                  <a:lumMod val="60000"/>
                  <a:lumOff val="40000"/>
                </a:schemeClr>
              </a:solidFill>
            </a:endParaRP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r>
              <a:rPr lang="en-IN" sz="2400" dirty="0"/>
              <a:t>The full form of LASER is </a:t>
            </a:r>
            <a:r>
              <a:rPr lang="en-IN" sz="2400" dirty="0">
                <a:sym typeface="Wingdings" pitchFamily="2" charset="2"/>
              </a:rPr>
              <a:t> </a:t>
            </a:r>
            <a:r>
              <a:rPr lang="en-US" sz="2400" dirty="0">
                <a:solidFill>
                  <a:srgbClr val="FF0000"/>
                </a:solidFill>
              </a:rPr>
              <a:t>L</a:t>
            </a:r>
            <a:r>
              <a:rPr lang="en-US" sz="2400" dirty="0"/>
              <a:t>ight </a:t>
            </a:r>
            <a:r>
              <a:rPr lang="en-US" sz="2400" dirty="0">
                <a:solidFill>
                  <a:srgbClr val="FF0000"/>
                </a:solidFill>
              </a:rPr>
              <a:t>A</a:t>
            </a:r>
            <a:r>
              <a:rPr lang="en-US" sz="2400" dirty="0"/>
              <a:t>mplification </a:t>
            </a:r>
            <a:r>
              <a:rPr lang="en-US" sz="2400" dirty="0">
                <a:solidFill>
                  <a:srgbClr val="FF0000"/>
                </a:solidFill>
              </a:rPr>
              <a:t>S</a:t>
            </a:r>
            <a:r>
              <a:rPr lang="en-US" sz="2400" dirty="0"/>
              <a:t>timulated </a:t>
            </a:r>
            <a:r>
              <a:rPr lang="en-US" sz="2400" dirty="0">
                <a:solidFill>
                  <a:srgbClr val="FF0000"/>
                </a:solidFill>
              </a:rPr>
              <a:t>E</a:t>
            </a:r>
            <a:r>
              <a:rPr lang="en-US" sz="2400" dirty="0"/>
              <a:t>mission of </a:t>
            </a:r>
            <a:r>
              <a:rPr lang="en-US" sz="2400" dirty="0">
                <a:solidFill>
                  <a:srgbClr val="FF0000"/>
                </a:solidFill>
              </a:rPr>
              <a:t>R</a:t>
            </a:r>
            <a:r>
              <a:rPr lang="en-US" sz="2400" dirty="0"/>
              <a:t>adiation.</a:t>
            </a:r>
          </a:p>
          <a:p>
            <a:pPr algn="just"/>
            <a:r>
              <a:rPr lang="en-US" sz="2400" dirty="0"/>
              <a:t>Laser beams are unidirectional, therefore this type of transmission system use ‘line-of-sight’ propagation.</a:t>
            </a:r>
            <a:r>
              <a:rPr lang="en-IN" sz="2400" dirty="0"/>
              <a:t> So sender and receiver must be aligned</a:t>
            </a:r>
          </a:p>
          <a:p>
            <a:pPr algn="just"/>
            <a:r>
              <a:rPr lang="en-IN" sz="2400" dirty="0"/>
              <a:t>It is </a:t>
            </a:r>
            <a:r>
              <a:rPr lang="en-US" sz="2400" dirty="0"/>
              <a:t>similar to infrared technology but can transmit signal to long distance.</a:t>
            </a:r>
          </a:p>
          <a:p>
            <a:pPr algn="just"/>
            <a:endParaRPr lang="en-US" sz="2400" dirty="0"/>
          </a:p>
          <a:p>
            <a:pPr algn="just">
              <a:buFont typeface="Wingdings 3" pitchFamily="18" charset="2"/>
              <a:buChar char="Ê"/>
            </a:pPr>
            <a:endParaRPr lang="en-IN"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D:\my CUSP\CN\Figures frm Net\Unit3\laser.jpg"/>
          <p:cNvPicPr>
            <a:picLocks noChangeAspect="1" noChangeArrowheads="1"/>
          </p:cNvPicPr>
          <p:nvPr/>
        </p:nvPicPr>
        <p:blipFill>
          <a:blip r:embed="rId3"/>
          <a:srcRect/>
          <a:stretch>
            <a:fillRect/>
          </a:stretch>
        </p:blipFill>
        <p:spPr bwMode="auto">
          <a:xfrm>
            <a:off x="1990725" y="838200"/>
            <a:ext cx="5162550" cy="281940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US" sz="2400" i="1" dirty="0">
                <a:highlight>
                  <a:srgbClr val="FFFF00"/>
                </a:highlight>
              </a:rPr>
              <a:t>Lasers cannot penetrate obstacles such as walls, rain, and thick fog. Additionally, laser beam is distorted by wind, atmosphere temperature, or variation in temperature in the path.</a:t>
            </a:r>
          </a:p>
          <a:p>
            <a:pPr algn="just"/>
            <a:r>
              <a:rPr lang="en-US" sz="2400" dirty="0"/>
              <a:t>In such a transmission system, </a:t>
            </a:r>
            <a:r>
              <a:rPr lang="en-US" sz="2400" i="1" dirty="0">
                <a:highlight>
                  <a:srgbClr val="FFFF00"/>
                </a:highlight>
              </a:rPr>
              <a:t>a photo detector and laser is set on both sender and receiver side.</a:t>
            </a:r>
          </a:p>
          <a:p>
            <a:pPr algn="just"/>
            <a:r>
              <a:rPr lang="en-US" sz="2400" dirty="0"/>
              <a:t>The carrier used for the transmission signal is typically generated by laser diode.</a:t>
            </a:r>
            <a:endParaRPr lang="en-IN" sz="2400" b="1" dirty="0"/>
          </a:p>
          <a:p>
            <a:pPr algn="just">
              <a:buFont typeface="Wingdings 3" pitchFamily="18" charset="2"/>
              <a:buChar char="Ê"/>
            </a:pPr>
            <a:r>
              <a:rPr lang="en-IN" sz="2400" b="1" dirty="0"/>
              <a:t>Advantages of laser</a:t>
            </a:r>
          </a:p>
          <a:p>
            <a:pPr algn="just"/>
            <a:r>
              <a:rPr lang="en-US" sz="2400" dirty="0"/>
              <a:t>Laser is safe for data transmission as it is </a:t>
            </a:r>
            <a:r>
              <a:rPr lang="en-US" sz="2400" dirty="0">
                <a:highlight>
                  <a:srgbClr val="FFFF00"/>
                </a:highlight>
              </a:rPr>
              <a:t>very difficult to tap 1mm wide laser</a:t>
            </a:r>
            <a:r>
              <a:rPr lang="en-US" sz="2400" dirty="0"/>
              <a:t> without interrupting the communication channel.</a:t>
            </a:r>
          </a:p>
          <a:p>
            <a:pPr algn="just"/>
            <a:r>
              <a:rPr lang="en-US" sz="2400" dirty="0"/>
              <a:t>It offers very high band width at a very low cost.</a:t>
            </a:r>
          </a:p>
          <a:p>
            <a:pPr algn="just"/>
            <a:r>
              <a:rPr lang="en-US" sz="2400" dirty="0"/>
              <a:t>It is free from electro-magnetic interference. This phenomenon is used in optical wireless communication through free space for telecommunication as well as computer networking</a:t>
            </a:r>
          </a:p>
          <a:p>
            <a:pPr algn="just"/>
            <a:r>
              <a:rPr lang="en-US" sz="2400" dirty="0"/>
              <a:t>High speed.</a:t>
            </a:r>
          </a:p>
          <a:p>
            <a:pPr algn="just"/>
            <a:r>
              <a:rPr lang="en-US" sz="2400" dirty="0"/>
              <a:t>It has very minimum signal leakage.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IN" sz="2400" dirty="0"/>
              <a:t>Higher data storage is possible because </a:t>
            </a:r>
            <a:r>
              <a:rPr lang="en-US" sz="2400" dirty="0"/>
              <a:t>single laser beam can be focused in areas smaller than 1 micro diameter.</a:t>
            </a:r>
            <a:r>
              <a:rPr lang="en-IN" sz="2400" dirty="0"/>
              <a:t> </a:t>
            </a:r>
          </a:p>
          <a:p>
            <a:pPr algn="just">
              <a:buFont typeface="Wingdings 3" pitchFamily="18" charset="2"/>
              <a:buChar char="Ê"/>
            </a:pPr>
            <a:r>
              <a:rPr lang="en-IN" sz="2400" b="1" dirty="0"/>
              <a:t>Disadvantages of laser</a:t>
            </a:r>
          </a:p>
          <a:p>
            <a:pPr algn="just"/>
            <a:r>
              <a:rPr lang="en-US" sz="2400" dirty="0">
                <a:highlight>
                  <a:srgbClr val="FFFF00"/>
                </a:highlight>
              </a:rPr>
              <a:t>Maintenance is costly </a:t>
            </a:r>
            <a:r>
              <a:rPr lang="en-US" sz="2400" dirty="0"/>
              <a:t>and difficult.</a:t>
            </a:r>
          </a:p>
          <a:p>
            <a:pPr algn="just"/>
            <a:r>
              <a:rPr lang="en-US" sz="2400" dirty="0"/>
              <a:t>It is </a:t>
            </a:r>
            <a:r>
              <a:rPr lang="en-US" sz="2400" dirty="0">
                <a:highlight>
                  <a:srgbClr val="FFFF00"/>
                </a:highlight>
              </a:rPr>
              <a:t>harmful to human beings </a:t>
            </a:r>
            <a:r>
              <a:rPr lang="en-US" sz="2400" dirty="0"/>
              <a:t>and often burns them during contacts.</a:t>
            </a:r>
          </a:p>
          <a:p>
            <a:pPr algn="just">
              <a:buFont typeface="Wingdings 3" pitchFamily="18" charset="2"/>
              <a:buChar char="Ê"/>
            </a:pPr>
            <a:r>
              <a:rPr lang="en-US" sz="2400" b="1" dirty="0"/>
              <a:t>Applications of laser</a:t>
            </a:r>
          </a:p>
          <a:p>
            <a:pPr algn="just"/>
            <a:r>
              <a:rPr lang="en-US" sz="2400" dirty="0"/>
              <a:t>Laser communications have been utilized for mass communications including telephone conversations and even television channels.</a:t>
            </a:r>
          </a:p>
          <a:p>
            <a:pPr algn="just"/>
            <a:r>
              <a:rPr lang="en-US" sz="2400" dirty="0"/>
              <a:t>Used in digital data transmission.</a:t>
            </a:r>
          </a:p>
          <a:p>
            <a:pPr algn="just"/>
            <a:r>
              <a:rPr lang="en-US" sz="2400" dirty="0"/>
              <a:t>Effectively used for shorter distance communication.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ctr">
              <a:buFont typeface="Wingdings" pitchFamily="2" charset="2"/>
              <a:buChar char="v"/>
            </a:pPr>
            <a:r>
              <a:rPr lang="en-IN" sz="2800" b="1" dirty="0">
                <a:solidFill>
                  <a:schemeClr val="accent3">
                    <a:lumMod val="60000"/>
                    <a:lumOff val="40000"/>
                  </a:schemeClr>
                </a:solidFill>
                <a:sym typeface="Wingdings" pitchFamily="2" charset="2"/>
              </a:rPr>
              <a:t>Satellite communication</a:t>
            </a:r>
            <a:endParaRPr lang="en-IN" sz="2400" b="1" dirty="0">
              <a:solidFill>
                <a:schemeClr val="accent3">
                  <a:lumMod val="60000"/>
                  <a:lumOff val="40000"/>
                </a:schemeClr>
              </a:solidFill>
              <a:sym typeface="Wingdings" pitchFamily="2" charset="2"/>
            </a:endParaRP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 name="Picture 2"/>
          <p:cNvPicPr>
            <a:picLocks noChangeArrowheads="1"/>
          </p:cNvPicPr>
          <p:nvPr/>
        </p:nvPicPr>
        <p:blipFill>
          <a:blip r:embed="rId3"/>
          <a:srcRect/>
          <a:stretch>
            <a:fillRect/>
          </a:stretch>
        </p:blipFill>
        <p:spPr bwMode="auto">
          <a:xfrm>
            <a:off x="152400" y="715884"/>
            <a:ext cx="5257800" cy="2636916"/>
          </a:xfrm>
          <a:prstGeom prst="rect">
            <a:avLst/>
          </a:prstGeom>
          <a:noFill/>
          <a:ln w="12700">
            <a:noFill/>
            <a:miter lim="800000"/>
            <a:headEnd/>
            <a:tailEnd/>
          </a:ln>
          <a:effectLst/>
        </p:spPr>
      </p:pic>
      <p:pic>
        <p:nvPicPr>
          <p:cNvPr id="1026" name="Picture 2" descr="D:\my CUSP\CN\Figures frm Net\Unit3\Satellite.jpg"/>
          <p:cNvPicPr>
            <a:picLocks noChangeAspect="1" noChangeArrowheads="1"/>
          </p:cNvPicPr>
          <p:nvPr/>
        </p:nvPicPr>
        <p:blipFill>
          <a:blip r:embed="rId4"/>
          <a:srcRect b="9316"/>
          <a:stretch>
            <a:fillRect/>
          </a:stretch>
        </p:blipFill>
        <p:spPr bwMode="auto">
          <a:xfrm>
            <a:off x="2343479" y="3505200"/>
            <a:ext cx="5962321" cy="3329312"/>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IN" sz="2400" dirty="0"/>
              <a:t>The satellite </a:t>
            </a:r>
            <a:r>
              <a:rPr lang="en-US" sz="2400" dirty="0"/>
              <a:t>is man made equipment that is placed in orbit around the earth. They provide communication from one point on the Earth to another.</a:t>
            </a:r>
          </a:p>
          <a:p>
            <a:pPr algn="just"/>
            <a:r>
              <a:rPr lang="en-IN" sz="2400" dirty="0"/>
              <a:t>Satellite work as transmitter/receiver that is launched by rocket and placed in orbit.</a:t>
            </a:r>
            <a:endParaRPr lang="en-US" sz="2400" dirty="0"/>
          </a:p>
          <a:p>
            <a:pPr algn="just"/>
            <a:r>
              <a:rPr lang="en-US" sz="2400" dirty="0"/>
              <a:t>Satellites enable communication over large distance (beyond line of sight).</a:t>
            </a:r>
          </a:p>
          <a:p>
            <a:pPr algn="just"/>
            <a:r>
              <a:rPr lang="en-US" sz="2400" dirty="0">
                <a:highlight>
                  <a:srgbClr val="FFFF00"/>
                </a:highlight>
              </a:rPr>
              <a:t>Used in communication in ships, aircrafts and other mobile vehicles, weather forecasting, television broadcast, internet communication, radio communications and global positioning system (GPS).</a:t>
            </a:r>
          </a:p>
          <a:p>
            <a:pPr algn="just"/>
            <a:r>
              <a:rPr lang="en-US" sz="2400" dirty="0"/>
              <a:t>There are two types of communication satellites </a:t>
            </a:r>
            <a:r>
              <a:rPr lang="en-US" sz="2400" dirty="0">
                <a:sym typeface="Wingdings" pitchFamily="2" charset="2"/>
              </a:rPr>
              <a:t> ACTIVE and PASSIVE.</a:t>
            </a:r>
          </a:p>
          <a:p>
            <a:pPr algn="just"/>
            <a:r>
              <a:rPr lang="en-US" sz="2400" dirty="0"/>
              <a:t>Active satellite acts as a repeater, it amplifies the received signals and retransmits them back to earth.</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r>
              <a:rPr lang="en-US" sz="2400" dirty="0"/>
              <a:t>Passive satellite only reflects</a:t>
            </a:r>
            <a:r>
              <a:rPr lang="en-US" sz="2400" dirty="0">
                <a:solidFill>
                  <a:srgbClr val="FF0000"/>
                </a:solidFill>
              </a:rPr>
              <a:t> </a:t>
            </a:r>
            <a:r>
              <a:rPr lang="en-US" sz="2400" dirty="0"/>
              <a:t>received radio signals back to earth.</a:t>
            </a:r>
          </a:p>
          <a:p>
            <a:pPr algn="just"/>
            <a:r>
              <a:rPr lang="en-US" sz="2400" dirty="0"/>
              <a:t>As we have seen in the figure, earth station transmits signals to the satellite using UP-LINK frequency and the satellite then amplifies the signals, covert them and transmit back to the receiving earth station using DOWN-LINK frequency.</a:t>
            </a:r>
            <a:endParaRPr lang="en-US" sz="2400" b="1" dirty="0"/>
          </a:p>
          <a:p>
            <a:pPr algn="just">
              <a:buFont typeface="Wingdings 3" pitchFamily="18" charset="2"/>
              <a:buChar char="Ê"/>
            </a:pPr>
            <a:r>
              <a:rPr lang="en-US" sz="2400" b="1" dirty="0"/>
              <a:t>Advantages of satellite communication</a:t>
            </a:r>
          </a:p>
          <a:p>
            <a:pPr algn="just"/>
            <a:r>
              <a:rPr lang="en-US" sz="2400" dirty="0"/>
              <a:t>Mobile communication can be easily established by satellite communication.</a:t>
            </a:r>
          </a:p>
          <a:p>
            <a:pPr algn="just"/>
            <a:r>
              <a:rPr lang="en-US" sz="2400" dirty="0"/>
              <a:t>It is best communication for long geographical distance where cable communication is impossible.</a:t>
            </a:r>
          </a:p>
          <a:p>
            <a:pPr algn="just"/>
            <a:r>
              <a:rPr lang="en-US" sz="2400" dirty="0"/>
              <a:t>Effective point-to-multipoint communication.</a:t>
            </a:r>
          </a:p>
          <a:p>
            <a:pPr algn="just"/>
            <a:r>
              <a:rPr lang="en-US" sz="2400" dirty="0"/>
              <a:t>Signal quality is high compared to fiber optics.</a:t>
            </a:r>
          </a:p>
          <a:p>
            <a:pPr algn="just"/>
            <a:r>
              <a:rPr lang="en-US" sz="2400" dirty="0"/>
              <a:t>Low operating cost.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US" sz="2400" b="1" dirty="0"/>
              <a:t>Disadvantages of satellite communication</a:t>
            </a:r>
            <a:endParaRPr lang="en-US" sz="2400" dirty="0"/>
          </a:p>
          <a:p>
            <a:pPr algn="just"/>
            <a:r>
              <a:rPr lang="en-US" sz="2400" dirty="0"/>
              <a:t>Delay in signal transmission.</a:t>
            </a:r>
          </a:p>
          <a:p>
            <a:pPr algn="just"/>
            <a:r>
              <a:rPr lang="en-US" sz="2400" dirty="0"/>
              <a:t>Efficiency reduced in long file transfer.</a:t>
            </a:r>
          </a:p>
          <a:p>
            <a:pPr algn="just"/>
            <a:r>
              <a:rPr lang="en-US" sz="2400" dirty="0"/>
              <a:t>Manufacturing of satellites is expensive.</a:t>
            </a:r>
          </a:p>
          <a:p>
            <a:pPr algn="just">
              <a:buFont typeface="Wingdings 3" pitchFamily="18" charset="2"/>
              <a:buChar char="Ê"/>
            </a:pPr>
            <a:r>
              <a:rPr lang="en-US" sz="2400" b="1" dirty="0"/>
              <a:t>Applications of satellite communication</a:t>
            </a:r>
            <a:endParaRPr lang="en-US" sz="2400" dirty="0"/>
          </a:p>
          <a:p>
            <a:pPr algn="just"/>
            <a:r>
              <a:rPr lang="en-US" sz="2400" dirty="0"/>
              <a:t>TV/radio broadcasting and global mobile communication.</a:t>
            </a:r>
          </a:p>
          <a:p>
            <a:pPr algn="just"/>
            <a:r>
              <a:rPr lang="en-US" sz="2400" dirty="0"/>
              <a:t>Weather forecast, military, navigation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pitchFamily="2" charset="2"/>
              <a:buChar char="v"/>
            </a:pPr>
            <a:r>
              <a:rPr lang="en-US" sz="2800" b="1" dirty="0"/>
              <a:t>Baseband V/S Broadband transmission</a:t>
            </a:r>
            <a:endParaRPr lang="en-US" sz="2400" dirty="0"/>
          </a:p>
          <a:p>
            <a:pPr algn="just">
              <a:buNone/>
            </a:pPr>
            <a:r>
              <a:rPr lang="en-IN" sz="2400" dirty="0"/>
              <a:t>	Data signals can be sent over a network cable in one of two ways: broadband or baseband.</a:t>
            </a:r>
            <a:endParaRPr lang="en-US" sz="2400" b="1" dirty="0"/>
          </a:p>
          <a:p>
            <a:pPr algn="just">
              <a:buFont typeface="Wingdings 3" pitchFamily="18" charset="2"/>
              <a:buChar char="Ê"/>
            </a:pPr>
            <a:r>
              <a:rPr lang="en-US" sz="2400" b="1" dirty="0"/>
              <a:t>Baseband</a:t>
            </a:r>
          </a:p>
          <a:p>
            <a:pPr algn="just"/>
            <a:r>
              <a:rPr lang="en-IN" sz="2400" dirty="0"/>
              <a:t>A baseband transmission is carried over a single wire using digital signalling.</a:t>
            </a:r>
          </a:p>
          <a:p>
            <a:pPr algn="just"/>
            <a:r>
              <a:rPr lang="en-IN" sz="2400" dirty="0"/>
              <a:t>Baseband communications are bidirectional. Signals can be both sent and received (but not simultaneously).</a:t>
            </a:r>
          </a:p>
          <a:p>
            <a:pPr algn="just"/>
            <a:r>
              <a:rPr lang="en-IN" sz="2400" dirty="0"/>
              <a:t>Time Division Multiplexing(TDM) allows multiple signals to be sent via baseband transmission on a single cable. TDM allocates the multiple signals across time slots.</a:t>
            </a:r>
          </a:p>
          <a:p>
            <a:pPr algn="just"/>
            <a:r>
              <a:rPr lang="en-IN" sz="2400" dirty="0"/>
              <a:t>Baseband transmissions use the entire media bandwidth for a single (</a:t>
            </a:r>
            <a:r>
              <a:rPr lang="gu-IN" sz="2400" dirty="0"/>
              <a:t>સિંગલ્</a:t>
            </a:r>
            <a:r>
              <a:rPr lang="en-IN" sz="2400"/>
              <a:t>) </a:t>
            </a:r>
            <a:r>
              <a:rPr lang="en-IN" sz="2400" dirty="0"/>
              <a:t>channel.</a:t>
            </a:r>
          </a:p>
          <a:p>
            <a:pPr algn="just"/>
            <a:r>
              <a:rPr lang="en-IN" sz="2400" dirty="0"/>
              <a:t>Baseband signaling is used on most Ethernet networks.</a:t>
            </a:r>
          </a:p>
          <a:p>
            <a:pPr algn="just"/>
            <a:r>
              <a:rPr lang="en-IN" sz="2400" dirty="0"/>
              <a:t>Most LANs use baseband signaling.</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58</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553200"/>
          </a:xfrm>
        </p:spPr>
        <p:txBody>
          <a:bodyPr>
            <a:normAutofit/>
          </a:bodyPr>
          <a:lstStyle/>
          <a:p>
            <a:pPr algn="just">
              <a:buFont typeface="Wingdings 3" pitchFamily="18" charset="2"/>
              <a:buChar char="Ê"/>
            </a:pPr>
            <a:r>
              <a:rPr lang="en-US" sz="2400" b="1" dirty="0"/>
              <a:t>Broadband</a:t>
            </a:r>
          </a:p>
          <a:p>
            <a:pPr algn="just"/>
            <a:r>
              <a:rPr lang="en-IN" sz="2400" dirty="0"/>
              <a:t>Broadband transmission is </a:t>
            </a:r>
            <a:r>
              <a:rPr lang="en-IN" sz="2400" dirty="0" err="1"/>
              <a:t>analog</a:t>
            </a:r>
            <a:r>
              <a:rPr lang="en-IN" sz="2400" dirty="0"/>
              <a:t> transmissions.</a:t>
            </a:r>
          </a:p>
          <a:p>
            <a:pPr algn="just"/>
            <a:r>
              <a:rPr lang="en-IN" sz="2400" dirty="0"/>
              <a:t>The media used in broadband transmission is split into two channels to allow signals to be both sent and received.</a:t>
            </a:r>
          </a:p>
          <a:p>
            <a:pPr algn="just"/>
            <a:r>
              <a:rPr lang="en-IN" sz="2400" dirty="0"/>
              <a:t>Frequency Division Multiplexing (FDM) is used to create multiple broadband channels.</a:t>
            </a:r>
          </a:p>
          <a:p>
            <a:pPr algn="just"/>
            <a:r>
              <a:rPr lang="en-IN" sz="2400" dirty="0"/>
              <a:t>Broadband transmissions divide the entire media bandwidth into multiple channels.</a:t>
            </a:r>
          </a:p>
          <a:p>
            <a:pPr algn="just"/>
            <a:r>
              <a:rPr lang="en-IN" sz="2400" i="1" dirty="0">
                <a:solidFill>
                  <a:srgbClr val="0070C0"/>
                </a:solidFill>
              </a:rPr>
              <a:t>One good example of broadband signaling would be how you view different channels through your cable box and a single coaxial cable carrying multiple signals in cable television.</a:t>
            </a:r>
            <a:endParaRPr lang="en-US" sz="2400" i="1" dirty="0">
              <a:solidFill>
                <a:srgbClr val="0070C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59</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9600" b="1" dirty="0">
                <a:latin typeface="Bodoni MT" pitchFamily="18" charset="0"/>
              </a:rPr>
              <a:t>T</a:t>
            </a:r>
            <a:r>
              <a:rPr lang="en-US" sz="8000" b="1" dirty="0">
                <a:solidFill>
                  <a:srgbClr val="FF0000"/>
                </a:solidFill>
                <a:latin typeface="Bodoni MT" pitchFamily="18" charset="0"/>
              </a:rPr>
              <a:t>h</a:t>
            </a:r>
            <a:r>
              <a:rPr lang="en-US" sz="7200" b="1" dirty="0">
                <a:solidFill>
                  <a:schemeClr val="accent3">
                    <a:lumMod val="75000"/>
                  </a:schemeClr>
                </a:solidFill>
                <a:latin typeface="Bodoni MT" pitchFamily="18" charset="0"/>
              </a:rPr>
              <a:t>a</a:t>
            </a:r>
            <a:r>
              <a:rPr lang="en-US" sz="6000" b="1" dirty="0">
                <a:latin typeface="Bodoni MT" pitchFamily="18" charset="0"/>
              </a:rPr>
              <a:t>n</a:t>
            </a:r>
            <a:r>
              <a:rPr lang="en-US" sz="6000" b="1" dirty="0">
                <a:solidFill>
                  <a:schemeClr val="bg2">
                    <a:lumMod val="50000"/>
                  </a:schemeClr>
                </a:solidFill>
                <a:latin typeface="Bodoni MT" pitchFamily="18" charset="0"/>
              </a:rPr>
              <a:t>k</a:t>
            </a:r>
            <a:r>
              <a:rPr lang="en-US" sz="6000" b="1" dirty="0">
                <a:latin typeface="Bodoni MT" pitchFamily="18" charset="0"/>
              </a:rPr>
              <a:t> </a:t>
            </a:r>
            <a:r>
              <a:rPr lang="en-US" sz="7200" b="1" dirty="0">
                <a:solidFill>
                  <a:schemeClr val="accent5">
                    <a:lumMod val="75000"/>
                  </a:schemeClr>
                </a:solidFill>
                <a:latin typeface="Bodoni MT" pitchFamily="18" charset="0"/>
              </a:rPr>
              <a:t>Y</a:t>
            </a:r>
            <a:r>
              <a:rPr lang="en-US" sz="11500" b="1" dirty="0">
                <a:solidFill>
                  <a:srgbClr val="FF0000"/>
                </a:solidFill>
                <a:latin typeface="Bodoni MT" pitchFamily="18" charset="0"/>
              </a:rPr>
              <a:t>o</a:t>
            </a:r>
            <a:r>
              <a:rPr lang="en-US" sz="13800" b="1" dirty="0">
                <a:latin typeface="Bodoni MT" pitchFamily="18" charset="0"/>
              </a:rPr>
              <a:t>u</a:t>
            </a:r>
            <a:r>
              <a:rPr lang="en-US" sz="8800" b="1" dirty="0">
                <a:solidFill>
                  <a:srgbClr val="FFC000"/>
                </a:solidFill>
                <a:latin typeface="Bodoni MT" pitchFamily="18" charset="0"/>
              </a:rPr>
              <a:t>…</a:t>
            </a:r>
            <a:endParaRPr lang="en-US" sz="6000" b="1" dirty="0">
              <a:solidFill>
                <a:srgbClr val="FFC000"/>
              </a:solidFill>
              <a:latin typeface="Bodoni MT"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60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31786275</TotalTime>
  <Words>3974</Words>
  <Application>Microsoft Office PowerPoint</Application>
  <PresentationFormat>On-screen Show (4:3)</PresentationFormat>
  <Paragraphs>633</Paragraphs>
  <Slides>60</Slides>
  <Notes>45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60</vt:i4>
      </vt:variant>
    </vt:vector>
  </HeadingPairs>
  <TitlesOfParts>
    <vt:vector size="74" baseType="lpstr">
      <vt:lpstr>Arial</vt:lpstr>
      <vt:lpstr>Baskerville Old Face</vt:lpstr>
      <vt:lpstr>Bodoni MT</vt:lpstr>
      <vt:lpstr>Bookman Old Style</vt:lpstr>
      <vt:lpstr>Brush Script MT</vt:lpstr>
      <vt:lpstr>Calibri</vt:lpstr>
      <vt:lpstr>Calisto MT</vt:lpstr>
      <vt:lpstr>Copperplate Gothic Light</vt:lpstr>
      <vt:lpstr>Courier New</vt:lpstr>
      <vt:lpstr>Symbol</vt:lpstr>
      <vt:lpstr>Times New Roman</vt:lpstr>
      <vt:lpstr>Wingdings</vt:lpstr>
      <vt:lpstr>Wingdings 3</vt:lpstr>
      <vt:lpstr>Office Theme</vt:lpstr>
      <vt:lpstr>Unit : 3  Transmission Media</vt:lpstr>
      <vt:lpstr>COURSE OUTCOME (CO3)</vt:lpstr>
      <vt:lpstr>LEARNING OUTCOME</vt:lpstr>
      <vt:lpstr>PowerPoint Presentation</vt:lpstr>
      <vt:lpstr>LEARNING OUTCOME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 of REFRACTION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OUTCOME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 Sort</dc:title>
  <dc:creator>Ak..!</dc:creator>
  <cp:lastModifiedBy>VJP</cp:lastModifiedBy>
  <cp:revision>3372</cp:revision>
  <dcterms:created xsi:type="dcterms:W3CDTF">2006-08-16T00:00:00Z</dcterms:created>
  <dcterms:modified xsi:type="dcterms:W3CDTF">2025-02-17T08:02:55Z</dcterms:modified>
</cp:coreProperties>
</file>