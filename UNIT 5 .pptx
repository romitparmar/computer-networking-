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375" r:id="rId2"/>
    <p:sldId id="259" r:id="rId3"/>
    <p:sldId id="256" r:id="rId4"/>
    <p:sldId id="257" r:id="rId5"/>
    <p:sldId id="376" r:id="rId6"/>
    <p:sldId id="471" r:id="rId7"/>
    <p:sldId id="556" r:id="rId8"/>
    <p:sldId id="475" r:id="rId9"/>
    <p:sldId id="557" r:id="rId10"/>
    <p:sldId id="558" r:id="rId11"/>
  </p:sldIdLst>
  <p:sldSz cx="9144000" cy="6858000" type="screen4x3"/>
  <p:notesSz cx="6735763" cy="98694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CC00CC"/>
    <a:srgbClr val="FF66FF"/>
    <a:srgbClr val="008000"/>
    <a:srgbClr val="357F48"/>
    <a:srgbClr val="FEFED4"/>
    <a:srgbClr val="7FF84E"/>
    <a:srgbClr val="D5D9FD"/>
    <a:srgbClr val="ACFA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71" autoAdjust="0"/>
    <p:restoredTop sz="94982" autoAdjust="0"/>
  </p:normalViewPr>
  <p:slideViewPr>
    <p:cSldViewPr>
      <p:cViewPr>
        <p:scale>
          <a:sx n="58" d="100"/>
          <a:sy n="58" d="100"/>
        </p:scale>
        <p:origin x="1120" y="68"/>
      </p:cViewPr>
      <p:guideLst>
        <p:guide orient="horz" pos="2160"/>
        <p:guide pos="2880"/>
      </p:guideLst>
    </p:cSldViewPr>
  </p:slideViewPr>
  <p:outlineViewPr>
    <p:cViewPr>
      <p:scale>
        <a:sx n="33" d="100"/>
        <a:sy n="33" d="100"/>
      </p:scale>
      <p:origin x="240" y="23652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123" cy="49282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15178" y="0"/>
            <a:ext cx="2919123" cy="492822"/>
          </a:xfrm>
          <a:prstGeom prst="rect">
            <a:avLst/>
          </a:prstGeom>
        </p:spPr>
        <p:txBody>
          <a:bodyPr vert="horz" lIns="91440" tIns="45720" rIns="91440" bIns="45720" rtlCol="0"/>
          <a:lstStyle>
            <a:lvl1pPr algn="r">
              <a:defRPr sz="1200"/>
            </a:lvl1pPr>
          </a:lstStyle>
          <a:p>
            <a:fld id="{23CA00FA-5D31-4DE9-97BB-9A523ECBBE12}" type="datetimeFigureOut">
              <a:rPr lang="en-US" smtClean="0"/>
              <a:pPr/>
              <a:t>2/25/2025</a:t>
            </a:fld>
            <a:endParaRPr lang="en-US" dirty="0"/>
          </a:p>
        </p:txBody>
      </p:sp>
      <p:sp>
        <p:nvSpPr>
          <p:cNvPr id="4" name="Footer Placeholder 3"/>
          <p:cNvSpPr>
            <a:spLocks noGrp="1"/>
          </p:cNvSpPr>
          <p:nvPr>
            <p:ph type="ftr" sz="quarter" idx="2"/>
          </p:nvPr>
        </p:nvSpPr>
        <p:spPr>
          <a:xfrm>
            <a:off x="0" y="9375035"/>
            <a:ext cx="2919123" cy="492822"/>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15178" y="9375035"/>
            <a:ext cx="2919123" cy="492822"/>
          </a:xfrm>
          <a:prstGeom prst="rect">
            <a:avLst/>
          </a:prstGeom>
        </p:spPr>
        <p:txBody>
          <a:bodyPr vert="horz" lIns="91440" tIns="45720" rIns="91440" bIns="45720" rtlCol="0" anchor="b"/>
          <a:lstStyle>
            <a:lvl1pPr algn="r">
              <a:defRPr sz="1200"/>
            </a:lvl1pPr>
          </a:lstStyle>
          <a:p>
            <a:fld id="{419E2BF3-CB2B-4DFC-803E-27C4F9FF6AB9}"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474"/>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3815373" y="0"/>
            <a:ext cx="2918831" cy="493474"/>
          </a:xfrm>
          <a:prstGeom prst="rect">
            <a:avLst/>
          </a:prstGeom>
        </p:spPr>
        <p:txBody>
          <a:bodyPr vert="horz" lIns="96661" tIns="48331" rIns="96661" bIns="48331" rtlCol="0"/>
          <a:lstStyle>
            <a:lvl1pPr algn="r">
              <a:defRPr sz="1300"/>
            </a:lvl1pPr>
          </a:lstStyle>
          <a:p>
            <a:fld id="{EA5DEEB0-141D-4842-8491-D4D6CF86A14D}" type="datetimeFigureOut">
              <a:rPr lang="en-US" smtClean="0"/>
              <a:pPr/>
              <a:t>2/25/2025</a:t>
            </a:fld>
            <a:endParaRPr lang="en-US" dirty="0"/>
          </a:p>
        </p:txBody>
      </p:sp>
      <p:sp>
        <p:nvSpPr>
          <p:cNvPr id="4" name="Slide Image Placeholder 3"/>
          <p:cNvSpPr>
            <a:spLocks noGrp="1" noRot="1" noChangeAspect="1"/>
          </p:cNvSpPr>
          <p:nvPr>
            <p:ph type="sldImg" idx="2"/>
          </p:nvPr>
        </p:nvSpPr>
        <p:spPr>
          <a:xfrm>
            <a:off x="901700" y="741363"/>
            <a:ext cx="4932363" cy="3700462"/>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673577" y="4688007"/>
            <a:ext cx="5388610" cy="444127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374301"/>
            <a:ext cx="2918831" cy="493474"/>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3815373" y="9374301"/>
            <a:ext cx="2918831" cy="493474"/>
          </a:xfrm>
          <a:prstGeom prst="rect">
            <a:avLst/>
          </a:prstGeom>
        </p:spPr>
        <p:txBody>
          <a:bodyPr vert="horz" lIns="96661" tIns="48331" rIns="96661" bIns="48331" rtlCol="0" anchor="b"/>
          <a:lstStyle>
            <a:lvl1pPr algn="r">
              <a:defRPr sz="1300"/>
            </a:lvl1pPr>
          </a:lstStyle>
          <a:p>
            <a:fld id="{75666D00-04F4-4955-A468-CAC788ADF1F7}"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5666D00-04F4-4955-A468-CAC788ADF1F7}" type="slidenum">
              <a:rPr lang="en-US" smtClean="0"/>
              <a:pPr/>
              <a:t>1</a:t>
            </a:fld>
            <a:endParaRPr lang="en-US" dirty="0"/>
          </a:p>
        </p:txBody>
      </p:sp>
    </p:spTree>
    <p:extLst>
      <p:ext uri="{BB962C8B-B14F-4D97-AF65-F5344CB8AC3E}">
        <p14:creationId xmlns:p14="http://schemas.microsoft.com/office/powerpoint/2010/main" val="1993650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46A8780-3095-DB45-A3D0-1F7D0F09BD34}" type="slidenum">
              <a:rPr lang="en-US" smtClean="0"/>
              <a:pPr/>
              <a:t>3</a:t>
            </a:fld>
            <a:endParaRPr lang="en-US"/>
          </a:p>
        </p:txBody>
      </p:sp>
    </p:spTree>
    <p:extLst>
      <p:ext uri="{BB962C8B-B14F-4D97-AF65-F5344CB8AC3E}">
        <p14:creationId xmlns:p14="http://schemas.microsoft.com/office/powerpoint/2010/main" val="1623380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0E54C08-B1DF-4D36-BC5A-9A772D188CA2}" type="datetime1">
              <a:rPr lang="en-US" smtClean="0"/>
              <a:pPr/>
              <a:t>2/25/2025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FCB5E8-9A08-4D51-AF6A-1A92EE464FA3}" type="datetime1">
              <a:rPr lang="en-US" smtClean="0"/>
              <a:pPr/>
              <a:t>2/25/2025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CADA46-ED6F-4D13-B5DA-77D11DC6257D}" type="datetime1">
              <a:rPr lang="en-US" smtClean="0"/>
              <a:pPr/>
              <a:t>2/25/2025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0D98EBE-5BFB-4E0D-A769-551D918BFBF6}" type="datetime1">
              <a:rPr lang="en-US" smtClean="0"/>
              <a:pPr/>
              <a:t>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9F69B3-0E93-4BB1-9FED-FFB5164B78B4}" type="datetime1">
              <a:rPr lang="en-US" smtClean="0"/>
              <a:pPr/>
              <a:t>2/25/2025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D800DAE-8687-443C-BC75-53EE46CCD3F6}" type="datetime1">
              <a:rPr lang="en-US" smtClean="0"/>
              <a:pPr/>
              <a:t>2/25/2025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68E5F4-D904-47F7-A078-CDF03115AD04}" type="datetime1">
              <a:rPr lang="en-US" smtClean="0"/>
              <a:pPr/>
              <a:t>2/25/2025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7168F7-A4F2-4835-AB1C-25291C278ACE}" type="datetime1">
              <a:rPr lang="en-US" smtClean="0"/>
              <a:pPr/>
              <a:t>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9B36C0E-722A-4258-BCE2-2558341360DB}" type="datetime1">
              <a:rPr lang="en-US" smtClean="0"/>
              <a:pPr/>
              <a:t>2/25/2025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1ADC56-E096-47E9-98B0-6162F8AA79EB}" type="datetime1">
              <a:rPr lang="en-US" smtClean="0"/>
              <a:pPr/>
              <a:t>2/25/2025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B2E7B9-325F-405E-8154-7B2AB641BBC3}" type="datetime1">
              <a:rPr lang="en-US" smtClean="0"/>
              <a:pPr/>
              <a:t>2/25/2025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FE71B7-12C2-4E37-9607-6FAAB2424452}" type="datetime1">
              <a:rPr lang="en-US" smtClean="0"/>
              <a:pPr/>
              <a:t>2/25/2025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3000">
              <a:schemeClr val="accent3">
                <a:lumMod val="75000"/>
                <a:alpha val="69000"/>
              </a:schemeClr>
            </a:gs>
            <a:gs pos="50000">
              <a:srgbClr val="008000">
                <a:alpha val="45000"/>
              </a:srgbClr>
            </a:gs>
            <a:gs pos="100000">
              <a:srgbClr val="FFC000">
                <a:alpha val="79000"/>
              </a:srgb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0"/>
            <a:ext cx="7772400" cy="2079625"/>
          </a:xfrm>
        </p:spPr>
        <p:txBody>
          <a:bodyPr>
            <a:noAutofit/>
          </a:bodyPr>
          <a:lstStyle/>
          <a:p>
            <a:r>
              <a:rPr lang="en-US" sz="6600" b="1" dirty="0">
                <a:solidFill>
                  <a:srgbClr val="0070C0"/>
                </a:solidFill>
                <a:latin typeface="Baskerville Old Face" pitchFamily="18" charset="0"/>
              </a:rPr>
              <a:t>Unit : 5</a:t>
            </a:r>
            <a:br>
              <a:rPr lang="en-US" sz="6600" dirty="0">
                <a:solidFill>
                  <a:srgbClr val="FF0000"/>
                </a:solidFill>
                <a:latin typeface="Baskerville Old Face" pitchFamily="18" charset="0"/>
              </a:rPr>
            </a:br>
            <a:r>
              <a:rPr lang="en-US" sz="6600" dirty="0">
                <a:latin typeface="Baskerville Old Face" pitchFamily="18" charset="0"/>
              </a:rPr>
              <a:t> </a:t>
            </a:r>
            <a:r>
              <a:rPr lang="en-US" sz="4800" b="1" dirty="0">
                <a:solidFill>
                  <a:schemeClr val="tx2">
                    <a:lumMod val="75000"/>
                  </a:schemeClr>
                </a:solidFill>
                <a:latin typeface="Baskerville Old Face" pitchFamily="18" charset="0"/>
              </a:rPr>
              <a:t>Network Security Aspects </a:t>
            </a:r>
            <a:endParaRPr lang="en-US" sz="6600" b="1" dirty="0">
              <a:solidFill>
                <a:schemeClr val="tx2">
                  <a:lumMod val="75000"/>
                </a:schemeClr>
              </a:solidFill>
              <a:latin typeface="Baskerville Old Face" pitchFamily="18" charset="0"/>
            </a:endParaRPr>
          </a:p>
        </p:txBody>
      </p:sp>
      <p:sp>
        <p:nvSpPr>
          <p:cNvPr id="3" name="Subtitle 2"/>
          <p:cNvSpPr>
            <a:spLocks noGrp="1"/>
          </p:cNvSpPr>
          <p:nvPr>
            <p:ph type="subTitle" idx="1"/>
          </p:nvPr>
        </p:nvSpPr>
        <p:spPr>
          <a:xfrm>
            <a:off x="838200" y="3749675"/>
            <a:ext cx="7315200" cy="2133600"/>
          </a:xfrm>
        </p:spPr>
        <p:txBody>
          <a:bodyPr>
            <a:normAutofit/>
          </a:bodyPr>
          <a:lstStyle/>
          <a:p>
            <a:endParaRPr lang="en-US" dirty="0"/>
          </a:p>
          <a:p>
            <a:r>
              <a:rPr lang="en-US" sz="4000" dirty="0">
                <a:solidFill>
                  <a:schemeClr val="accent1">
                    <a:lumMod val="75000"/>
                  </a:schemeClr>
                </a:solidFill>
                <a:latin typeface="Brush Script MT" pitchFamily="66" charset="0"/>
                <a:cs typeface="David Transparent" pitchFamily="2" charset="-79"/>
              </a:rPr>
              <a:t>Prepared By</a:t>
            </a:r>
            <a:r>
              <a:rPr lang="en-US" sz="4000" dirty="0">
                <a:solidFill>
                  <a:schemeClr val="tx1"/>
                </a:solidFill>
                <a:latin typeface="Brush Script MT" pitchFamily="66" charset="0"/>
                <a:cs typeface="David Transparent" pitchFamily="2" charset="-79"/>
              </a:rPr>
              <a:t>:</a:t>
            </a:r>
            <a:endParaRPr lang="en-US" b="1" dirty="0">
              <a:solidFill>
                <a:srgbClr val="C00000"/>
              </a:solidFill>
              <a:latin typeface="Copperplate Gothic Light" pitchFamily="34" charset="0"/>
              <a:cs typeface="David Transparent" pitchFamily="2" charset="-79"/>
            </a:endParaRPr>
          </a:p>
          <a:p>
            <a:r>
              <a:rPr lang="en-US" b="1" dirty="0">
                <a:solidFill>
                  <a:srgbClr val="C00000"/>
                </a:solidFill>
                <a:latin typeface="Copperplate Gothic Light" pitchFamily="34" charset="0"/>
                <a:cs typeface="David Transparent" pitchFamily="2" charset="-79"/>
              </a:rPr>
              <a:t>		       J.B.VALA</a:t>
            </a:r>
          </a:p>
          <a:p>
            <a:endParaRPr lang="en-US" sz="2400" dirty="0">
              <a:solidFill>
                <a:schemeClr val="tx2">
                  <a:lumMod val="75000"/>
                </a:schemeClr>
              </a:solidFill>
              <a:latin typeface="Calisto MT" pitchFamily="18" charset="0"/>
              <a:cs typeface="David Transparent" pitchFamily="2" charset="-79"/>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33546"/>
            <a:ext cx="7886700" cy="730333"/>
          </a:xfrm>
        </p:spPr>
        <p:txBody>
          <a:bodyPr>
            <a:normAutofit fontScale="90000"/>
          </a:bodyPr>
          <a:lstStyle/>
          <a:p>
            <a:r>
              <a:rPr lang="en-US" b="1" dirty="0">
                <a:solidFill>
                  <a:srgbClr val="FF0000"/>
                </a:solidFill>
              </a:rPr>
              <a:t>The CIA of Security </a:t>
            </a:r>
          </a:p>
        </p:txBody>
      </p:sp>
      <p:sp>
        <p:nvSpPr>
          <p:cNvPr id="3" name="Content Placeholder 2"/>
          <p:cNvSpPr>
            <a:spLocks noGrp="1"/>
          </p:cNvSpPr>
          <p:nvPr>
            <p:ph idx="1"/>
          </p:nvPr>
        </p:nvSpPr>
        <p:spPr>
          <a:xfrm>
            <a:off x="190500" y="1066800"/>
            <a:ext cx="8877300" cy="5036870"/>
          </a:xfrm>
        </p:spPr>
        <p:txBody>
          <a:bodyPr>
            <a:normAutofit lnSpcReduction="10000"/>
          </a:bodyPr>
          <a:lstStyle/>
          <a:p>
            <a:pPr>
              <a:buFont typeface="Wingdings" panose="05000000000000000000" pitchFamily="2" charset="2"/>
              <a:buChar char="v"/>
            </a:pPr>
            <a:r>
              <a:rPr lang="en-US" dirty="0">
                <a:solidFill>
                  <a:srgbClr val="0099FF"/>
                </a:solidFill>
              </a:rPr>
              <a:t> Confidentiality </a:t>
            </a:r>
          </a:p>
          <a:p>
            <a:pPr marL="0" indent="0">
              <a:buNone/>
            </a:pPr>
            <a:r>
              <a:rPr lang="en-US" dirty="0"/>
              <a:t>( Information kept private and secure )</a:t>
            </a:r>
          </a:p>
          <a:p>
            <a:pPr>
              <a:buFont typeface="Wingdings" panose="05000000000000000000" pitchFamily="2" charset="2"/>
              <a:buChar char="v"/>
            </a:pPr>
            <a:r>
              <a:rPr lang="en-US" dirty="0">
                <a:solidFill>
                  <a:srgbClr val="0099FF"/>
                </a:solidFill>
              </a:rPr>
              <a:t> Integrity </a:t>
            </a:r>
          </a:p>
          <a:p>
            <a:pPr marL="0" indent="0">
              <a:buNone/>
            </a:pPr>
            <a:r>
              <a:rPr lang="en-US" dirty="0"/>
              <a:t>( Involves maintaining the Consistency, accuracy, and </a:t>
            </a:r>
          </a:p>
          <a:p>
            <a:pPr marL="0" indent="0">
              <a:buNone/>
            </a:pPr>
            <a:r>
              <a:rPr lang="en-US" dirty="0"/>
              <a:t>  trust worthness of data over the entire life Cycle . )</a:t>
            </a:r>
          </a:p>
          <a:p>
            <a:pPr>
              <a:buFont typeface="Wingdings" panose="05000000000000000000" pitchFamily="2" charset="2"/>
              <a:buChar char="v"/>
            </a:pPr>
            <a:r>
              <a:rPr lang="en-US" dirty="0">
                <a:solidFill>
                  <a:srgbClr val="0099FF"/>
                </a:solidFill>
              </a:rPr>
              <a:t> Availability </a:t>
            </a:r>
          </a:p>
          <a:p>
            <a:pPr marL="0" indent="0">
              <a:buNone/>
            </a:pPr>
            <a:r>
              <a:rPr lang="en-US" dirty="0"/>
              <a:t>( Systems available to whom requires them ) or </a:t>
            </a:r>
          </a:p>
          <a:p>
            <a:pPr marL="0" indent="0">
              <a:buNone/>
            </a:pPr>
            <a:r>
              <a:rPr lang="en-US" dirty="0"/>
              <a:t>  authorized Users can access only.</a:t>
            </a:r>
          </a:p>
          <a:p>
            <a:pPr marL="0" indent="0">
              <a:buNone/>
            </a:pPr>
            <a:r>
              <a:rPr lang="en-US" dirty="0"/>
              <a:t>Protection = Prevention  + (Detection + Response ) </a:t>
            </a:r>
          </a:p>
          <a:p>
            <a:pPr marL="0" indent="0">
              <a:buNone/>
            </a:pPr>
            <a:endParaRPr lang="en-US" dirty="0"/>
          </a:p>
        </p:txBody>
      </p:sp>
    </p:spTree>
    <p:extLst>
      <p:ext uri="{BB962C8B-B14F-4D97-AF65-F5344CB8AC3E}">
        <p14:creationId xmlns:p14="http://schemas.microsoft.com/office/powerpoint/2010/main" val="1987235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8780" y="158296"/>
            <a:ext cx="8404761" cy="939526"/>
          </a:xfrm>
        </p:spPr>
        <p:txBody>
          <a:bodyPr/>
          <a:lstStyle/>
          <a:p>
            <a:r>
              <a:rPr lang="en-US" dirty="0">
                <a:solidFill>
                  <a:srgbClr val="FF0000"/>
                </a:solidFill>
              </a:rPr>
              <a:t>Introduction and Security Threats </a:t>
            </a:r>
          </a:p>
        </p:txBody>
      </p:sp>
      <p:sp>
        <p:nvSpPr>
          <p:cNvPr id="3" name="Subtitle 2"/>
          <p:cNvSpPr>
            <a:spLocks noGrp="1"/>
          </p:cNvSpPr>
          <p:nvPr>
            <p:ph type="subTitle" idx="1"/>
          </p:nvPr>
        </p:nvSpPr>
        <p:spPr>
          <a:xfrm>
            <a:off x="299666" y="1097822"/>
            <a:ext cx="7362701" cy="5124587"/>
          </a:xfrm>
        </p:spPr>
        <p:txBody>
          <a:bodyPr>
            <a:noAutofit/>
          </a:bodyPr>
          <a:lstStyle/>
          <a:p>
            <a:pPr algn="l"/>
            <a:r>
              <a:rPr lang="en-US" sz="2000" dirty="0">
                <a:solidFill>
                  <a:schemeClr val="tx1"/>
                </a:solidFill>
                <a:latin typeface="Times New Roman" panose="02020603050405020304" pitchFamily="18" charset="0"/>
                <a:cs typeface="Times New Roman" panose="02020603050405020304" pitchFamily="18" charset="0"/>
              </a:rPr>
              <a:t>Virus :-  </a:t>
            </a:r>
          </a:p>
          <a:p>
            <a:pPr marL="257175" indent="-257175" algn="l">
              <a:buFont typeface="Wingdings" charset="2"/>
              <a:buChar char="Ø"/>
            </a:pPr>
            <a:r>
              <a:rPr lang="en-US" sz="2000" dirty="0">
                <a:solidFill>
                  <a:schemeClr val="tx1"/>
                </a:solidFill>
                <a:latin typeface="Times New Roman" panose="02020603050405020304" pitchFamily="18" charset="0"/>
                <a:cs typeface="Times New Roman" panose="02020603050405020304" pitchFamily="18" charset="0"/>
              </a:rPr>
              <a:t>A Virus attaches </a:t>
            </a:r>
            <a:r>
              <a:rPr lang="en-US" sz="2000" dirty="0">
                <a:solidFill>
                  <a:srgbClr val="FF0000"/>
                </a:solidFill>
                <a:latin typeface="Times New Roman" panose="02020603050405020304" pitchFamily="18" charset="0"/>
                <a:cs typeface="Times New Roman" panose="02020603050405020304" pitchFamily="18" charset="0"/>
              </a:rPr>
              <a:t>itself to a program or file enabling it to spread from </a:t>
            </a:r>
            <a:r>
              <a:rPr lang="en-US" sz="2000" dirty="0">
                <a:solidFill>
                  <a:schemeClr val="tx1"/>
                </a:solidFill>
                <a:latin typeface="Times New Roman" panose="02020603050405020304" pitchFamily="18" charset="0"/>
                <a:cs typeface="Times New Roman" panose="02020603050405020304" pitchFamily="18" charset="0"/>
              </a:rPr>
              <a:t>one computer to another.</a:t>
            </a:r>
          </a:p>
          <a:p>
            <a:pPr marL="257175" indent="-257175" algn="l">
              <a:buFont typeface="Wingdings" charset="2"/>
              <a:buChar char="Ø"/>
            </a:pPr>
            <a:r>
              <a:rPr lang="en-US" sz="2000" dirty="0">
                <a:solidFill>
                  <a:schemeClr val="tx1"/>
                </a:solidFill>
                <a:latin typeface="Times New Roman" panose="02020603050405020304" pitchFamily="18" charset="0"/>
                <a:cs typeface="Times New Roman" panose="02020603050405020304" pitchFamily="18" charset="0"/>
              </a:rPr>
              <a:t>Almost all Viruses are attached to an executable file.</a:t>
            </a:r>
          </a:p>
          <a:p>
            <a:pPr marL="257175" indent="-257175" algn="l">
              <a:buFont typeface="Wingdings" charset="2"/>
              <a:buChar char="Ø"/>
            </a:pPr>
            <a:r>
              <a:rPr lang="en-US" sz="2000" dirty="0">
                <a:solidFill>
                  <a:schemeClr val="tx1"/>
                </a:solidFill>
                <a:latin typeface="Times New Roman" panose="02020603050405020304" pitchFamily="18" charset="0"/>
                <a:cs typeface="Times New Roman" panose="02020603050405020304" pitchFamily="18" charset="0"/>
              </a:rPr>
              <a:t>It is important to note that a virus cannot be spread without a human action.</a:t>
            </a:r>
          </a:p>
          <a:p>
            <a:pPr algn="l"/>
            <a:endParaRPr lang="en-US" sz="2000" dirty="0">
              <a:solidFill>
                <a:schemeClr val="tx1"/>
              </a:solidFill>
              <a:latin typeface="Times New Roman" panose="02020603050405020304" pitchFamily="18" charset="0"/>
              <a:cs typeface="Times New Roman" panose="02020603050405020304" pitchFamily="18" charset="0"/>
            </a:endParaRPr>
          </a:p>
          <a:p>
            <a:pPr algn="l"/>
            <a:r>
              <a:rPr lang="en-US" sz="2000" dirty="0">
                <a:solidFill>
                  <a:schemeClr val="tx1"/>
                </a:solidFill>
                <a:latin typeface="Times New Roman" panose="02020603050405020304" pitchFamily="18" charset="0"/>
                <a:cs typeface="Times New Roman" panose="02020603050405020304" pitchFamily="18" charset="0"/>
              </a:rPr>
              <a:t>Worm :- </a:t>
            </a:r>
          </a:p>
          <a:p>
            <a:pPr algn="l"/>
            <a:r>
              <a:rPr lang="en-US" sz="2000" dirty="0">
                <a:solidFill>
                  <a:schemeClr val="tx1"/>
                </a:solidFill>
                <a:latin typeface="Times New Roman" panose="02020603050405020304" pitchFamily="18" charset="0"/>
                <a:cs typeface="Times New Roman" panose="02020603050405020304" pitchFamily="18" charset="0"/>
              </a:rPr>
              <a:t>A worm is similar to a Virus by design and is considered to be a sub-class of a virus.</a:t>
            </a:r>
          </a:p>
          <a:p>
            <a:pPr algn="l"/>
            <a:r>
              <a:rPr lang="en-US" sz="2000" dirty="0">
                <a:solidFill>
                  <a:schemeClr val="tx1"/>
                </a:solidFill>
                <a:latin typeface="Times New Roman" panose="02020603050405020304" pitchFamily="18" charset="0"/>
                <a:cs typeface="Times New Roman" panose="02020603050405020304" pitchFamily="18" charset="0"/>
              </a:rPr>
              <a:t>It has the </a:t>
            </a:r>
            <a:r>
              <a:rPr lang="en-US" sz="2000" dirty="0">
                <a:solidFill>
                  <a:srgbClr val="FF0000"/>
                </a:solidFill>
                <a:latin typeface="Times New Roman" panose="02020603050405020304" pitchFamily="18" charset="0"/>
                <a:cs typeface="Times New Roman" panose="02020603050405020304" pitchFamily="18" charset="0"/>
              </a:rPr>
              <a:t>capability to travel without any human action.</a:t>
            </a:r>
          </a:p>
          <a:p>
            <a:pPr algn="l"/>
            <a:endParaRPr lang="en-US" sz="2000" dirty="0">
              <a:latin typeface="Times New Roman" panose="02020603050405020304" pitchFamily="18" charset="0"/>
              <a:cs typeface="Times New Roman" panose="02020603050405020304" pitchFamily="18" charset="0"/>
            </a:endParaRPr>
          </a:p>
          <a:p>
            <a:pPr algn="l"/>
            <a:r>
              <a:rPr lang="en-US" sz="2000" dirty="0">
                <a:solidFill>
                  <a:schemeClr val="tx1"/>
                </a:solidFill>
                <a:latin typeface="Times New Roman" panose="02020603050405020304" pitchFamily="18" charset="0"/>
                <a:cs typeface="Times New Roman" panose="02020603050405020304" pitchFamily="18" charset="0"/>
              </a:rPr>
              <a:t>The main problem with a worm is its capability to replicate itself on your computer.</a:t>
            </a:r>
          </a:p>
          <a:p>
            <a:pPr algn="l"/>
            <a:endParaRPr lang="en-US"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38382" y="1447800"/>
            <a:ext cx="1605952" cy="1264722"/>
          </a:xfrm>
          <a:prstGeom prst="rect">
            <a:avLst/>
          </a:prstGeom>
        </p:spPr>
      </p:pic>
    </p:spTree>
    <p:extLst>
      <p:ext uri="{BB962C8B-B14F-4D97-AF65-F5344CB8AC3E}">
        <p14:creationId xmlns:p14="http://schemas.microsoft.com/office/powerpoint/2010/main" val="1681692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31570"/>
            <a:ext cx="8915400" cy="4800600"/>
          </a:xfrm>
        </p:spPr>
        <p:txBody>
          <a:bodyPr>
            <a:normAutofit/>
          </a:bodyPr>
          <a:lstStyle/>
          <a:p>
            <a:r>
              <a:rPr lang="en-US" dirty="0">
                <a:solidFill>
                  <a:srgbClr val="FF0000"/>
                </a:solidFill>
              </a:rPr>
              <a:t>Intruders ( Hacker or Cracker ) </a:t>
            </a:r>
          </a:p>
          <a:p>
            <a:pPr marL="0" indent="0">
              <a:buNone/>
            </a:pPr>
            <a:endParaRPr lang="en-US" dirty="0"/>
          </a:p>
          <a:p>
            <a:pPr>
              <a:buFont typeface="Wingdings" charset="2"/>
              <a:buChar char="Ø"/>
            </a:pPr>
            <a:r>
              <a:rPr lang="en-US" sz="3000" dirty="0"/>
              <a:t> </a:t>
            </a:r>
            <a:r>
              <a:rPr lang="en-US" sz="2800" dirty="0"/>
              <a:t>Masquerader ( Unauthorized User ) + ( Outsider ) </a:t>
            </a:r>
          </a:p>
          <a:p>
            <a:pPr marL="0" indent="0">
              <a:buNone/>
            </a:pPr>
            <a:endParaRPr lang="en-US" sz="2800" dirty="0"/>
          </a:p>
          <a:p>
            <a:pPr>
              <a:buFont typeface="Wingdings" charset="2"/>
              <a:buChar char="Ø"/>
            </a:pPr>
            <a:r>
              <a:rPr lang="en-US" sz="2800" dirty="0"/>
              <a:t> Misfeasor ( Authorized But misuse of access) + ( Insider )</a:t>
            </a:r>
          </a:p>
          <a:p>
            <a:pPr marL="0" indent="0">
              <a:buNone/>
            </a:pPr>
            <a:r>
              <a:rPr lang="en-US" sz="2800" dirty="0"/>
              <a:t> </a:t>
            </a:r>
          </a:p>
          <a:p>
            <a:pPr>
              <a:buFont typeface="Wingdings" charset="2"/>
              <a:buChar char="Ø"/>
            </a:pPr>
            <a:r>
              <a:rPr lang="en-US" sz="2800" dirty="0"/>
              <a:t> Clandestine User </a:t>
            </a:r>
          </a:p>
          <a:p>
            <a:pPr marL="0" indent="0">
              <a:buNone/>
            </a:pPr>
            <a:r>
              <a:rPr lang="en-US" sz="2800" dirty="0"/>
              <a:t>  (Supervisory Control ) + ( Outsider or Insider ) </a:t>
            </a:r>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89617" y="381000"/>
            <a:ext cx="2632612" cy="1701140"/>
          </a:xfrm>
          <a:prstGeom prst="rect">
            <a:avLst/>
          </a:prstGeom>
          <a:ln>
            <a:noFill/>
          </a:ln>
          <a:effectLst>
            <a:softEdge rad="112500"/>
          </a:effectLst>
        </p:spPr>
      </p:pic>
    </p:spTree>
    <p:extLst>
      <p:ext uri="{BB962C8B-B14F-4D97-AF65-F5344CB8AC3E}">
        <p14:creationId xmlns:p14="http://schemas.microsoft.com/office/powerpoint/2010/main" val="2044897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FAF40-B42F-FFED-D044-0D64316510AE}"/>
              </a:ext>
            </a:extLst>
          </p:cNvPr>
          <p:cNvSpPr>
            <a:spLocks noGrp="1"/>
          </p:cNvSpPr>
          <p:nvPr>
            <p:ph type="title"/>
          </p:nvPr>
        </p:nvSpPr>
        <p:spPr/>
        <p:txBody>
          <a:bodyPr>
            <a:normAutofit fontScale="90000"/>
          </a:bodyPr>
          <a:lstStyle/>
          <a:p>
            <a:r>
              <a:rPr lang="en-US" b="1" u="sng" dirty="0"/>
              <a:t>IDS (Intrusion Detection System)</a:t>
            </a:r>
            <a:br>
              <a:rPr lang="en-US" b="1" u="sng" dirty="0"/>
            </a:br>
            <a:endParaRPr lang="en-IN" dirty="0"/>
          </a:p>
        </p:txBody>
      </p:sp>
      <p:sp>
        <p:nvSpPr>
          <p:cNvPr id="3" name="Content Placeholder 2">
            <a:extLst>
              <a:ext uri="{FF2B5EF4-FFF2-40B4-BE49-F238E27FC236}">
                <a16:creationId xmlns:a16="http://schemas.microsoft.com/office/drawing/2014/main" id="{BC42BEB4-9425-4B77-C47A-12B4E40CF0CC}"/>
              </a:ext>
            </a:extLst>
          </p:cNvPr>
          <p:cNvSpPr>
            <a:spLocks noGrp="1"/>
          </p:cNvSpPr>
          <p:nvPr>
            <p:ph idx="1"/>
          </p:nvPr>
        </p:nvSpPr>
        <p:spPr>
          <a:xfrm>
            <a:off x="457200" y="914400"/>
            <a:ext cx="8229600" cy="5211763"/>
          </a:xfrm>
        </p:spPr>
        <p:txBody>
          <a:bodyPr>
            <a:normAutofit fontScale="92500" lnSpcReduction="10000"/>
          </a:bodyPr>
          <a:lstStyle/>
          <a:p>
            <a:pPr algn="just"/>
            <a:r>
              <a:rPr lang="en-US" sz="2000" dirty="0">
                <a:solidFill>
                  <a:srgbClr val="FF0000"/>
                </a:solidFill>
              </a:rPr>
              <a:t>An IDS is a device or software application that monitors network or system activities for malicious activities or policy violations and produces reports to a management station.</a:t>
            </a:r>
          </a:p>
          <a:p>
            <a:pPr algn="just">
              <a:lnSpc>
                <a:spcPct val="90000"/>
              </a:lnSpc>
            </a:pPr>
            <a:r>
              <a:rPr lang="en-US" sz="2000" u="sng" dirty="0">
                <a:cs typeface="Times New Roman" pitchFamily="18" charset="0"/>
              </a:rPr>
              <a:t>Intrusion</a:t>
            </a:r>
          </a:p>
          <a:p>
            <a:pPr lvl="1" algn="just">
              <a:lnSpc>
                <a:spcPct val="90000"/>
              </a:lnSpc>
            </a:pPr>
            <a:r>
              <a:rPr lang="en-US" sz="2000" dirty="0">
                <a:cs typeface="Times New Roman" pitchFamily="18" charset="0"/>
              </a:rPr>
              <a:t>A set of actions aimed to compromise the security goals, namely Integrity, confidentiality, or availability, of a computing resource.</a:t>
            </a:r>
          </a:p>
          <a:p>
            <a:pPr algn="just">
              <a:lnSpc>
                <a:spcPct val="90000"/>
              </a:lnSpc>
            </a:pPr>
            <a:r>
              <a:rPr lang="en-US" sz="2000" u="sng" dirty="0">
                <a:cs typeface="Times New Roman" pitchFamily="18" charset="0"/>
              </a:rPr>
              <a:t>Intrusion detection</a:t>
            </a:r>
          </a:p>
          <a:p>
            <a:pPr lvl="1" algn="just">
              <a:lnSpc>
                <a:spcPct val="90000"/>
              </a:lnSpc>
            </a:pPr>
            <a:r>
              <a:rPr lang="en-US" sz="2000" dirty="0">
                <a:cs typeface="Times New Roman" pitchFamily="18" charset="0"/>
              </a:rPr>
              <a:t>The process of identifying and responding to intrusion activities.</a:t>
            </a:r>
          </a:p>
          <a:p>
            <a:pPr lvl="1" algn="just">
              <a:lnSpc>
                <a:spcPct val="90000"/>
              </a:lnSpc>
              <a:buNone/>
            </a:pPr>
            <a:endParaRPr lang="en-US" sz="2000" dirty="0"/>
          </a:p>
          <a:p>
            <a:pPr algn="just"/>
            <a:r>
              <a:rPr lang="en-US" sz="2000" dirty="0"/>
              <a:t>Functions of IDS:</a:t>
            </a:r>
          </a:p>
          <a:p>
            <a:pPr marL="457200" indent="-457200">
              <a:buFont typeface="+mj-lt"/>
              <a:buAutoNum type="arabicPeriod"/>
            </a:pPr>
            <a:r>
              <a:rPr lang="en-US" sz="2000" dirty="0"/>
              <a:t>Monitoring and analyzing both user and system activities.</a:t>
            </a:r>
          </a:p>
          <a:p>
            <a:pPr marL="457200" indent="-457200">
              <a:buFont typeface="+mj-lt"/>
              <a:buAutoNum type="arabicPeriod"/>
            </a:pPr>
            <a:r>
              <a:rPr lang="en-US" sz="2000" dirty="0"/>
              <a:t>Analyzing system configuration and vulnerabilities.</a:t>
            </a:r>
          </a:p>
          <a:p>
            <a:pPr marL="457200" indent="-457200">
              <a:buFont typeface="+mj-lt"/>
              <a:buAutoNum type="arabicPeriod"/>
            </a:pPr>
            <a:r>
              <a:rPr lang="en-US" sz="2000" dirty="0"/>
              <a:t>Assessing system and file integrity.</a:t>
            </a:r>
          </a:p>
          <a:p>
            <a:pPr marL="457200" indent="-457200">
              <a:buFont typeface="+mj-lt"/>
              <a:buAutoNum type="arabicPeriod"/>
            </a:pPr>
            <a:r>
              <a:rPr lang="en-US" sz="2000" dirty="0"/>
              <a:t>Ability to recognize patterns of attacks.</a:t>
            </a:r>
          </a:p>
          <a:p>
            <a:pPr marL="457200" indent="-457200">
              <a:buFont typeface="+mj-lt"/>
              <a:buAutoNum type="arabicPeriod"/>
            </a:pPr>
            <a:r>
              <a:rPr lang="en-US" sz="2000" dirty="0"/>
              <a:t>Analysis of abnormal activity patterns.</a:t>
            </a:r>
          </a:p>
          <a:p>
            <a:pPr marL="457200" indent="-457200">
              <a:buFont typeface="+mj-lt"/>
              <a:buAutoNum type="arabicPeriod"/>
            </a:pPr>
            <a:r>
              <a:rPr lang="en-US" sz="2000" dirty="0"/>
              <a:t>Tracking user policy violations.</a:t>
            </a:r>
          </a:p>
          <a:p>
            <a:endParaRPr lang="en-IN" dirty="0"/>
          </a:p>
        </p:txBody>
      </p:sp>
      <p:sp>
        <p:nvSpPr>
          <p:cNvPr id="4" name="Slide Number Placeholder 3">
            <a:extLst>
              <a:ext uri="{FF2B5EF4-FFF2-40B4-BE49-F238E27FC236}">
                <a16:creationId xmlns:a16="http://schemas.microsoft.com/office/drawing/2014/main" id="{3E0AF855-DDA8-B4CB-AB72-429CB29A661D}"/>
              </a:ext>
            </a:extLst>
          </p:cNvPr>
          <p:cNvSpPr>
            <a:spLocks noGrp="1"/>
          </p:cNvSpPr>
          <p:nvPr>
            <p:ph type="sldNum" sz="quarter" idx="12"/>
          </p:nvPr>
        </p:nvSpPr>
        <p:spPr/>
        <p:txBody>
          <a:bodyPr/>
          <a:lstStyle/>
          <a:p>
            <a:fld id="{B6F15528-21DE-4FAA-801E-634DDDAF4B2B}" type="slidenum">
              <a:rPr lang="en-US" smtClean="0"/>
              <a:pPr/>
              <a:t>5</a:t>
            </a:fld>
            <a:endParaRPr lang="en-US" dirty="0"/>
          </a:p>
        </p:txBody>
      </p:sp>
    </p:spTree>
    <p:extLst>
      <p:ext uri="{BB962C8B-B14F-4D97-AF65-F5344CB8AC3E}">
        <p14:creationId xmlns:p14="http://schemas.microsoft.com/office/powerpoint/2010/main" val="1393303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534400" cy="1143000"/>
          </a:xfrm>
        </p:spPr>
        <p:txBody>
          <a:bodyPr>
            <a:normAutofit fontScale="90000"/>
          </a:bodyPr>
          <a:lstStyle/>
          <a:p>
            <a:r>
              <a:rPr lang="sv-SE" sz="4900" b="1" u="sng" dirty="0">
                <a:solidFill>
                  <a:srgbClr val="FF0000"/>
                </a:solidFill>
                <a:latin typeface="+mn-lt"/>
                <a:cs typeface="Times New Roman" pitchFamily="18" charset="0"/>
              </a:rPr>
              <a:t>Firewalls</a:t>
            </a:r>
            <a:br>
              <a:rPr lang="en-US" b="1" dirty="0">
                <a:latin typeface="Comic Sans MS" pitchFamily="66" charset="0"/>
              </a:rPr>
            </a:br>
            <a:endParaRPr lang="en-US" dirty="0"/>
          </a:p>
        </p:txBody>
      </p:sp>
      <p:sp>
        <p:nvSpPr>
          <p:cNvPr id="3" name="Content Placeholder 2"/>
          <p:cNvSpPr>
            <a:spLocks noGrp="1"/>
          </p:cNvSpPr>
          <p:nvPr>
            <p:ph idx="1"/>
          </p:nvPr>
        </p:nvSpPr>
        <p:spPr>
          <a:xfrm>
            <a:off x="304800" y="990600"/>
            <a:ext cx="8534400" cy="5135563"/>
          </a:xfrm>
        </p:spPr>
        <p:txBody>
          <a:bodyPr>
            <a:normAutofit/>
          </a:bodyPr>
          <a:lstStyle/>
          <a:p>
            <a:pPr algn="just"/>
            <a:r>
              <a:rPr lang="en-US" sz="2000" dirty="0"/>
              <a:t>A firewall is a system designed to prevent unauthorized access to or from a private network which is connected to the internet.</a:t>
            </a:r>
          </a:p>
          <a:p>
            <a:pPr algn="just"/>
            <a:r>
              <a:rPr lang="en-US" sz="2000" dirty="0"/>
              <a:t>A firewall can be implemented in both hardware and software or combination of both.</a:t>
            </a:r>
          </a:p>
          <a:p>
            <a:pPr algn="just"/>
            <a:r>
              <a:rPr lang="en-US" sz="2000" dirty="0"/>
              <a:t>It is generally located between internal and external networks.</a:t>
            </a:r>
          </a:p>
          <a:p>
            <a:pPr algn="just"/>
            <a:r>
              <a:rPr lang="en-US" sz="2000" dirty="0"/>
              <a:t>All messages entering or leaving the internet pass through the firewall, Which examines each message and blocks those that do not meet the specified security criteria.</a:t>
            </a:r>
          </a:p>
        </p:txBody>
      </p:sp>
      <p:pic>
        <p:nvPicPr>
          <p:cNvPr id="76801" name="Picture 1"/>
          <p:cNvPicPr>
            <a:picLocks noChangeAspect="1" noChangeArrowheads="1"/>
          </p:cNvPicPr>
          <p:nvPr/>
        </p:nvPicPr>
        <p:blipFill>
          <a:blip r:embed="rId2"/>
          <a:srcRect/>
          <a:stretch>
            <a:fillRect/>
          </a:stretch>
        </p:blipFill>
        <p:spPr bwMode="auto">
          <a:xfrm>
            <a:off x="990600" y="3886200"/>
            <a:ext cx="7010400" cy="27432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a:xfrm>
            <a:off x="304800" y="609600"/>
            <a:ext cx="8534400" cy="5821363"/>
          </a:xfrm>
          <a:prstGeom prst="rect">
            <a:avLst/>
          </a:prstGeom>
        </p:spPr>
        <p:txBody>
          <a:bodyPr>
            <a:normAutofit/>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lang="en-US" sz="2200" dirty="0"/>
              <a:t>Some of the limitations of the firewall are listed below;</a:t>
            </a:r>
          </a:p>
          <a:p>
            <a:pPr marL="1371600" lvl="2" indent="-457200" algn="just">
              <a:spcBef>
                <a:spcPct val="20000"/>
              </a:spcBef>
              <a:buFont typeface="+mj-lt"/>
              <a:buAutoNum type="arabicPeriod"/>
            </a:pPr>
            <a:r>
              <a:rPr lang="en-US" sz="2000" dirty="0"/>
              <a:t>The firewall cannot protect against attacks that bypass the firewall.</a:t>
            </a:r>
          </a:p>
          <a:p>
            <a:pPr marL="1371600" lvl="2" indent="-457200" algn="just">
              <a:spcBef>
                <a:spcPct val="20000"/>
              </a:spcBef>
              <a:buFont typeface="+mj-lt"/>
              <a:buAutoNum type="arabicPeriod"/>
            </a:pPr>
            <a:r>
              <a:rPr lang="en-US" sz="2000" dirty="0"/>
              <a:t>The firewall does not protect against internal threats.</a:t>
            </a:r>
          </a:p>
          <a:p>
            <a:pPr marL="1371600" lvl="2" indent="-457200" algn="just">
              <a:spcBef>
                <a:spcPct val="20000"/>
              </a:spcBef>
              <a:buFont typeface="+mj-lt"/>
              <a:buAutoNum type="arabicPeriod"/>
            </a:pPr>
            <a:r>
              <a:rPr lang="en-US" sz="2000" dirty="0"/>
              <a:t>The firewall cannot protect against the transfer of virus-infected programs or files.</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71682" name="Picture 2" descr="http://www.gohacking.com/wp-content/uploads/2010/11/How-Firewalls-Work.gif"/>
          <p:cNvPicPr>
            <a:picLocks noChangeAspect="1" noChangeArrowheads="1"/>
          </p:cNvPicPr>
          <p:nvPr/>
        </p:nvPicPr>
        <p:blipFill>
          <a:blip r:embed="rId2"/>
          <a:srcRect/>
          <a:stretch>
            <a:fillRect/>
          </a:stretch>
        </p:blipFill>
        <p:spPr bwMode="auto">
          <a:xfrm>
            <a:off x="1219200" y="2895600"/>
            <a:ext cx="6858000" cy="35814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0"/>
            <a:ext cx="8229600" cy="715962"/>
          </a:xfrm>
        </p:spPr>
        <p:txBody>
          <a:bodyPr>
            <a:normAutofit fontScale="90000"/>
          </a:bodyPr>
          <a:lstStyle/>
          <a:p>
            <a:pPr algn="l"/>
            <a:r>
              <a:rPr lang="sv-SE" sz="4900" b="1" dirty="0">
                <a:cs typeface="Times New Roman" pitchFamily="18" charset="0"/>
              </a:rPr>
              <a:t>Access Control of Firewall (</a:t>
            </a:r>
            <a:r>
              <a:rPr lang="sv-SE" sz="4900" b="1" dirty="0">
                <a:solidFill>
                  <a:srgbClr val="FF0000"/>
                </a:solidFill>
                <a:cs typeface="Times New Roman" pitchFamily="18" charset="0"/>
              </a:rPr>
              <a:t>Characteristics</a:t>
            </a:r>
            <a:r>
              <a:rPr lang="sv-SE" sz="4900" b="1" dirty="0">
                <a:cs typeface="Times New Roman" pitchFamily="18" charset="0"/>
              </a:rPr>
              <a:t>)</a:t>
            </a:r>
            <a:br>
              <a:rPr lang="en-US" b="1"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304800" y="1600200"/>
            <a:ext cx="8534400" cy="5029200"/>
          </a:xfrm>
        </p:spPr>
        <p:txBody>
          <a:bodyPr>
            <a:normAutofit/>
          </a:bodyPr>
          <a:lstStyle/>
          <a:p>
            <a:pPr>
              <a:lnSpc>
                <a:spcPct val="90000"/>
              </a:lnSpc>
            </a:pPr>
            <a:r>
              <a:rPr lang="en-US" sz="2000" u="sng" dirty="0">
                <a:cs typeface="Times New Roman" pitchFamily="18" charset="0"/>
              </a:rPr>
              <a:t>Service control</a:t>
            </a:r>
          </a:p>
          <a:p>
            <a:pPr lvl="1">
              <a:lnSpc>
                <a:spcPct val="90000"/>
              </a:lnSpc>
              <a:buFont typeface="Wingdings" pitchFamily="2" charset="2"/>
              <a:buChar char="§"/>
            </a:pPr>
            <a:r>
              <a:rPr lang="en-US" sz="2000" dirty="0">
                <a:cs typeface="Times New Roman" pitchFamily="18" charset="0"/>
              </a:rPr>
              <a:t>Determines the types of Internet services that can be accessed, inbound or outbound</a:t>
            </a:r>
          </a:p>
          <a:p>
            <a:pPr>
              <a:lnSpc>
                <a:spcPct val="90000"/>
              </a:lnSpc>
            </a:pPr>
            <a:r>
              <a:rPr lang="en-US" sz="2000" u="sng" dirty="0">
                <a:cs typeface="Times New Roman" pitchFamily="18" charset="0"/>
              </a:rPr>
              <a:t>Direction control</a:t>
            </a:r>
          </a:p>
          <a:p>
            <a:pPr lvl="1">
              <a:lnSpc>
                <a:spcPct val="90000"/>
              </a:lnSpc>
              <a:buFont typeface="Wingdings" pitchFamily="2" charset="2"/>
              <a:buChar char="§"/>
            </a:pPr>
            <a:r>
              <a:rPr lang="en-US" sz="2000" dirty="0">
                <a:cs typeface="Times New Roman" pitchFamily="18" charset="0"/>
              </a:rPr>
              <a:t>Determines the direction in which particular service requests are allowed to flow </a:t>
            </a:r>
            <a:r>
              <a:rPr lang="en-US" sz="2000" dirty="0"/>
              <a:t>through the firewall.</a:t>
            </a:r>
            <a:endParaRPr lang="en-US" sz="2000" dirty="0">
              <a:cs typeface="Times New Roman" pitchFamily="18" charset="0"/>
            </a:endParaRPr>
          </a:p>
          <a:p>
            <a:r>
              <a:rPr lang="en-US" sz="2000" u="sng" dirty="0">
                <a:cs typeface="Times New Roman" pitchFamily="18" charset="0"/>
              </a:rPr>
              <a:t>User control</a:t>
            </a:r>
          </a:p>
          <a:p>
            <a:pPr lvl="1">
              <a:buFont typeface="Wingdings" pitchFamily="2" charset="2"/>
              <a:buChar char="§"/>
            </a:pPr>
            <a:r>
              <a:rPr lang="en-US" sz="2000" dirty="0">
                <a:cs typeface="Times New Roman" pitchFamily="18" charset="0"/>
              </a:rPr>
              <a:t>Controls access to a service according to which user is attempting to access it</a:t>
            </a:r>
          </a:p>
          <a:p>
            <a:r>
              <a:rPr lang="en-US" sz="2000" u="sng" dirty="0">
                <a:cs typeface="Times New Roman" pitchFamily="18" charset="0"/>
              </a:rPr>
              <a:t>Behavior control</a:t>
            </a:r>
          </a:p>
          <a:p>
            <a:pPr lvl="1">
              <a:buFont typeface="Wingdings" pitchFamily="2" charset="2"/>
              <a:buChar char="§"/>
            </a:pPr>
            <a:r>
              <a:rPr lang="en-US" sz="2000" dirty="0">
                <a:cs typeface="Times New Roman" pitchFamily="18" charset="0"/>
              </a:rPr>
              <a:t>Controls how particular services are used.</a:t>
            </a:r>
          </a:p>
          <a:p>
            <a:pPr lvl="1">
              <a:buFont typeface="Wingdings" pitchFamily="2" charset="2"/>
              <a:buChar char="§"/>
            </a:pPr>
            <a:r>
              <a:rPr lang="en-US" sz="2000" dirty="0"/>
              <a:t>For example, the firewall may filter e-mail to eliminate spam.</a:t>
            </a:r>
            <a:endParaRPr lang="en-US" dirty="0">
              <a:latin typeface="Comic Sans MS" pitchFamily="66" charset="0"/>
            </a:endParaRP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999CD-C3D2-6DC4-73B2-25B8EDD3C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C4430-54AC-AA09-6642-69D0C8927098}"/>
              </a:ext>
            </a:extLst>
          </p:cNvPr>
          <p:cNvSpPr>
            <a:spLocks noGrp="1"/>
          </p:cNvSpPr>
          <p:nvPr>
            <p:ph type="title"/>
          </p:nvPr>
        </p:nvSpPr>
        <p:spPr>
          <a:xfrm>
            <a:off x="304800" y="228600"/>
            <a:ext cx="8534400" cy="1143000"/>
          </a:xfrm>
        </p:spPr>
        <p:txBody>
          <a:bodyPr>
            <a:normAutofit fontScale="90000"/>
          </a:bodyPr>
          <a:lstStyle/>
          <a:p>
            <a:r>
              <a:rPr lang="sv-SE" sz="4900" b="1" u="sng" dirty="0">
                <a:latin typeface="+mn-lt"/>
                <a:cs typeface="Times New Roman" pitchFamily="18" charset="0"/>
              </a:rPr>
              <a:t>How Do Firewalls Work ?</a:t>
            </a:r>
            <a:br>
              <a:rPr lang="en-US" b="1" dirty="0">
                <a:latin typeface="Comic Sans MS" pitchFamily="66" charset="0"/>
              </a:rPr>
            </a:br>
            <a:endParaRPr lang="en-US" dirty="0"/>
          </a:p>
        </p:txBody>
      </p:sp>
      <p:sp>
        <p:nvSpPr>
          <p:cNvPr id="3" name="Content Placeholder 2">
            <a:extLst>
              <a:ext uri="{FF2B5EF4-FFF2-40B4-BE49-F238E27FC236}">
                <a16:creationId xmlns:a16="http://schemas.microsoft.com/office/drawing/2014/main" id="{0FED87EB-EEFC-F2CB-2123-B8397AE38D71}"/>
              </a:ext>
            </a:extLst>
          </p:cNvPr>
          <p:cNvSpPr>
            <a:spLocks noGrp="1"/>
          </p:cNvSpPr>
          <p:nvPr>
            <p:ph idx="1"/>
          </p:nvPr>
        </p:nvSpPr>
        <p:spPr>
          <a:xfrm>
            <a:off x="304800" y="1219200"/>
            <a:ext cx="8534400" cy="5135563"/>
          </a:xfrm>
        </p:spPr>
        <p:txBody>
          <a:bodyPr>
            <a:normAutofit/>
          </a:bodyPr>
          <a:lstStyle/>
          <a:p>
            <a:pPr algn="just"/>
            <a:r>
              <a:rPr lang="en-US" sz="2400" dirty="0"/>
              <a:t>Network Address Translation (NAT )</a:t>
            </a:r>
          </a:p>
          <a:p>
            <a:pPr algn="just"/>
            <a:r>
              <a:rPr lang="en-US" sz="2400" dirty="0"/>
              <a:t>Basic Packet Filtering </a:t>
            </a:r>
          </a:p>
          <a:p>
            <a:pPr algn="just"/>
            <a:r>
              <a:rPr lang="en-US" sz="2400" dirty="0"/>
              <a:t>Stateful Packet Filtering </a:t>
            </a:r>
          </a:p>
          <a:p>
            <a:pPr algn="just"/>
            <a:r>
              <a:rPr lang="en-US" sz="2400" dirty="0"/>
              <a:t>Access Control Lists ( ACLs)</a:t>
            </a:r>
          </a:p>
          <a:p>
            <a:pPr algn="just"/>
            <a:r>
              <a:rPr lang="en-US" sz="2400" dirty="0"/>
              <a:t>Application layer proxies. </a:t>
            </a:r>
          </a:p>
        </p:txBody>
      </p:sp>
    </p:spTree>
    <p:extLst>
      <p:ext uri="{BB962C8B-B14F-4D97-AF65-F5344CB8AC3E}">
        <p14:creationId xmlns:p14="http://schemas.microsoft.com/office/powerpoint/2010/main" val="2448538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5BCF90-C14B-FC00-51CA-1CF53C2B13F0}"/>
              </a:ext>
            </a:extLst>
          </p:cNvPr>
          <p:cNvSpPr>
            <a:spLocks noGrp="1"/>
          </p:cNvSpPr>
          <p:nvPr>
            <p:ph idx="1"/>
          </p:nvPr>
        </p:nvSpPr>
        <p:spPr>
          <a:xfrm>
            <a:off x="457200" y="228600"/>
            <a:ext cx="8229600" cy="6781800"/>
          </a:xfrm>
        </p:spPr>
        <p:txBody>
          <a:bodyPr>
            <a:normAutofit fontScale="70000" lnSpcReduction="20000"/>
          </a:bodyPr>
          <a:lstStyle/>
          <a:p>
            <a:pPr marL="0" indent="0">
              <a:buNone/>
            </a:pPr>
            <a:r>
              <a:rPr lang="en-US" dirty="0">
                <a:solidFill>
                  <a:srgbClr val="FF0000"/>
                </a:solidFill>
              </a:rPr>
              <a:t>Network Address Translation (NAT) </a:t>
            </a:r>
          </a:p>
          <a:p>
            <a:pPr marL="0" indent="0">
              <a:buNone/>
            </a:pPr>
            <a:r>
              <a:rPr lang="en-US" b="0" i="0" dirty="0">
                <a:solidFill>
                  <a:srgbClr val="1F1F1F"/>
                </a:solidFill>
                <a:effectLst/>
                <a:latin typeface="Google Sans"/>
              </a:rPr>
              <a:t> </a:t>
            </a:r>
            <a:r>
              <a:rPr lang="en-US" dirty="0">
                <a:solidFill>
                  <a:srgbClr val="040C28"/>
                </a:solidFill>
                <a:latin typeface="Google Sans"/>
              </a:rPr>
              <a:t>T</a:t>
            </a:r>
            <a:r>
              <a:rPr lang="en-US" b="0" i="0" dirty="0">
                <a:solidFill>
                  <a:srgbClr val="040C28"/>
                </a:solidFill>
                <a:effectLst/>
                <a:latin typeface="Google Sans"/>
              </a:rPr>
              <a:t>ranslates between external and internal IP addresses</a:t>
            </a:r>
            <a:r>
              <a:rPr lang="en-US" b="0" i="0" dirty="0">
                <a:solidFill>
                  <a:srgbClr val="1F1F1F"/>
                </a:solidFill>
                <a:effectLst/>
                <a:latin typeface="Google Sans"/>
              </a:rPr>
              <a:t>. With NAT, a private network can use internal, non-routable IP addresses that map to one or more external IP addresses.</a:t>
            </a:r>
            <a:endParaRPr lang="en-US" dirty="0"/>
          </a:p>
          <a:p>
            <a:pPr marL="0" indent="0">
              <a:buNone/>
            </a:pPr>
            <a:r>
              <a:rPr lang="en-US" dirty="0">
                <a:solidFill>
                  <a:srgbClr val="FF0000"/>
                </a:solidFill>
              </a:rPr>
              <a:t>Basic packet filtering </a:t>
            </a:r>
          </a:p>
          <a:p>
            <a:pPr marL="0" indent="0">
              <a:buNone/>
            </a:pPr>
            <a:r>
              <a:rPr lang="en-US" dirty="0"/>
              <a:t> Basic packet filtering looks at </a:t>
            </a:r>
            <a:r>
              <a:rPr lang="en-US" dirty="0">
                <a:solidFill>
                  <a:schemeClr val="accent1"/>
                </a:solidFill>
              </a:rPr>
              <a:t>each packet entering or leaving the network</a:t>
            </a:r>
            <a:r>
              <a:rPr lang="en-US" dirty="0"/>
              <a:t> and then either accepts the packet or rejects the packet based on user-defined rules. Each packet is examined separately.</a:t>
            </a:r>
          </a:p>
          <a:p>
            <a:pPr marL="0" indent="0">
              <a:buNone/>
            </a:pPr>
            <a:r>
              <a:rPr lang="en-US" dirty="0"/>
              <a:t> </a:t>
            </a:r>
            <a:r>
              <a:rPr lang="en-US" dirty="0">
                <a:solidFill>
                  <a:srgbClr val="FF0000"/>
                </a:solidFill>
              </a:rPr>
              <a:t>Stateful packet filtering</a:t>
            </a:r>
          </a:p>
          <a:p>
            <a:pPr marL="0" indent="0">
              <a:buNone/>
            </a:pPr>
            <a:r>
              <a:rPr lang="en-US" dirty="0"/>
              <a:t> Stateful packet filtering also looks at each packet, </a:t>
            </a:r>
            <a:r>
              <a:rPr lang="en-US" dirty="0">
                <a:solidFill>
                  <a:schemeClr val="accent1"/>
                </a:solidFill>
              </a:rPr>
              <a:t>but it can examine the packet in its relation to other packets</a:t>
            </a:r>
            <a:r>
              <a:rPr lang="en-US" dirty="0"/>
              <a:t>. Stateful firewalls keep track of network connections and can apply slightly different rule sets based on whether the packet is part of an established session or not.</a:t>
            </a:r>
          </a:p>
          <a:p>
            <a:pPr marL="0" indent="0">
              <a:buNone/>
            </a:pPr>
            <a:r>
              <a:rPr lang="en-US" dirty="0">
                <a:solidFill>
                  <a:srgbClr val="FF0000"/>
                </a:solidFill>
              </a:rPr>
              <a:t>Access control lists (ACLs) </a:t>
            </a:r>
          </a:p>
          <a:p>
            <a:pPr marL="0" indent="0">
              <a:buNone/>
            </a:pPr>
            <a:r>
              <a:rPr lang="en-US" dirty="0"/>
              <a:t>ACLs are simple rule sets that are applied to port numbers and IP addresses. They can be configured for inbound and outbound traffic and are most commonly used on routers and switches.</a:t>
            </a:r>
          </a:p>
          <a:p>
            <a:pPr marL="0" indent="0">
              <a:buNone/>
            </a:pPr>
            <a:r>
              <a:rPr lang="en-US" dirty="0"/>
              <a:t> </a:t>
            </a:r>
            <a:r>
              <a:rPr lang="en-US" dirty="0">
                <a:solidFill>
                  <a:srgbClr val="FF0000"/>
                </a:solidFill>
              </a:rPr>
              <a:t>Application layer proxies </a:t>
            </a:r>
          </a:p>
          <a:p>
            <a:pPr marL="0" indent="0">
              <a:buNone/>
            </a:pPr>
            <a:r>
              <a:rPr lang="en-US" dirty="0"/>
              <a:t>An application layer proxy can examine the content of the traffic as well as the ports and IP addresses. </a:t>
            </a:r>
            <a:endParaRPr lang="en-IN" dirty="0"/>
          </a:p>
        </p:txBody>
      </p:sp>
      <p:sp>
        <p:nvSpPr>
          <p:cNvPr id="4" name="Slide Number Placeholder 3">
            <a:extLst>
              <a:ext uri="{FF2B5EF4-FFF2-40B4-BE49-F238E27FC236}">
                <a16:creationId xmlns:a16="http://schemas.microsoft.com/office/drawing/2014/main" id="{EC67661B-7F7D-8670-6666-9584A27FA02D}"/>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Tree>
    <p:extLst>
      <p:ext uri="{BB962C8B-B14F-4D97-AF65-F5344CB8AC3E}">
        <p14:creationId xmlns:p14="http://schemas.microsoft.com/office/powerpoint/2010/main" val="4159359103"/>
      </p:ext>
    </p:extLst>
  </p:cSld>
  <p:clrMapOvr>
    <a:masterClrMapping/>
  </p:clrMapOvr>
</p:sld>
</file>

<file path=ppt/theme/theme1.xml><?xml version="1.0" encoding="utf-8"?>
<a:theme xmlns:a="http://schemas.openxmlformats.org/drawingml/2006/main" name="Office Them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31791427</TotalTime>
  <Words>769</Words>
  <Application>Microsoft Office PowerPoint</Application>
  <PresentationFormat>On-screen Show (4:3)</PresentationFormat>
  <Paragraphs>87</Paragraphs>
  <Slides>10</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Arial</vt:lpstr>
      <vt:lpstr>Baskerville Old Face</vt:lpstr>
      <vt:lpstr>Brush Script MT</vt:lpstr>
      <vt:lpstr>Calibri</vt:lpstr>
      <vt:lpstr>Calisto MT</vt:lpstr>
      <vt:lpstr>Comic Sans MS</vt:lpstr>
      <vt:lpstr>Copperplate Gothic Light</vt:lpstr>
      <vt:lpstr>Google Sans</vt:lpstr>
      <vt:lpstr>Times New Roman</vt:lpstr>
      <vt:lpstr>Wingdings</vt:lpstr>
      <vt:lpstr>Office Theme</vt:lpstr>
      <vt:lpstr>Unit : 5  Network Security Aspects </vt:lpstr>
      <vt:lpstr>The CIA of Security </vt:lpstr>
      <vt:lpstr>Introduction and Security Threats </vt:lpstr>
      <vt:lpstr>PowerPoint Presentation</vt:lpstr>
      <vt:lpstr>IDS (Intrusion Detection System) </vt:lpstr>
      <vt:lpstr>Firewalls </vt:lpstr>
      <vt:lpstr>PowerPoint Presentation</vt:lpstr>
      <vt:lpstr>Access Control of Firewall (Characteristics) </vt:lpstr>
      <vt:lpstr>How Do Firewalls Work ?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Bubble Sort</dc:title>
  <dc:creator>Ak..!</dc:creator>
  <cp:lastModifiedBy>sadvi priya</cp:lastModifiedBy>
  <cp:revision>3598</cp:revision>
  <dcterms:created xsi:type="dcterms:W3CDTF">2006-08-16T00:00:00Z</dcterms:created>
  <dcterms:modified xsi:type="dcterms:W3CDTF">2025-02-25T09:55:13Z</dcterms:modified>
</cp:coreProperties>
</file>